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1efab3c-9079-77d4-f424-b92917399cd1}">
          <p14:sldIdLst>
            <p14:sldId id="256"/>
            <p14:sldId id="257"/>
            <p14:sldId id="258"/>
          </p14:sldIdLst>
        </p14:section>
        <p14:section name="Database design" id="{72835acd-e2c1-cfb4-204d-72c5bb684d7e}">
          <p14:sldIdLst>
            <p14:sldId id="259"/>
            <p14:sldId id="260"/>
            <p14:sldId id="261"/>
            <p14:sldId id="262"/>
            <p14:sldId id="263"/>
          </p14:sldIdLst>
        </p14:section>
        <p14:section name="SQL" id="{7c6f761f-4384-8961-696f-e36cdc11d8a8}">
          <p14:sldIdLst>
            <p14:sldId id="264"/>
            <p14:sldId id="265"/>
            <p14:sldId id="266"/>
            <p14:sldId id="267"/>
            <p14:sldId id="268"/>
            <p14:sldId id="269"/>
          </p14:sldIdLst>
        </p14:section>
        <p14:section name="NoSQL" id="{c1163e4d-3799-c7b9-b08a-5d6bc39bfb55}">
          <p14:sldIdLst>
            <p14:sldId id="270"/>
          </p14:sldIdLst>
        </p14:section>
        <p14:section name="Results" id="{2ca78b0f-a93e-823a-04a1-ea8f4c5010ea}">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C49"/>
                </a:solidFill>
                <a:latin typeface="+mn-lt"/>
              </a:defRPr>
            </a:pPr>
            <a:r>
              <a:rPr sz="1300" b="0" i="0" u="none" strike="noStrike">
                <a:solidFill>
                  <a:srgbClr val="0B3C49"/>
                </a:solidFill>
                <a:latin typeface="+mn-lt"/>
              </a:rPr>
              <a:t>Maintenance by month (Rs.)</a:t>
            </a:r>
          </a:p>
        </c:rich>
      </c:tx>
      <c:layout/>
      <c:overlay val="0"/>
    </c:title>
    <c:autoTitleDeleted val="0"/>
    <c:plotArea>
      <c:layout/>
      <c:barChart>
        <c:barDir val="col"/>
        <c:grouping val="clustered"/>
        <c:varyColors val="0"/>
        <c:ser>
          <c:idx val="0"/>
          <c:order val="0"/>
          <c:tx>
            <c:strRef>
              <c:f>Sheet1!$B$1</c:f>
              <c:strCache>
                <c:ptCount val="1"/>
                <c:pt idx="0">
                  <c:v>Collected</c:v>
                </c:pt>
              </c:strCache>
            </c:strRef>
          </c:tx>
          <c:spPr>
            <a:solidFill>
              <a:srgbClr val="0B7A75"/>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Sheet1!$A$2:$A$3</c:f>
              <c:multiLvlStrCache>
                <c:ptCount val="2"/>
                <c:lvl>
                  <c:pt idx="0">
                    <c:v>2026-09</c:v>
                  </c:pt>
                  <c:pt idx="1">
                    <c:v>2026-10</c:v>
                  </c:pt>
                </c:lvl>
              </c:multiLvlStrCache>
            </c:multiLvlStrRef>
          </c:cat>
          <c:val>
            <c:numRef>
              <c:f>Sheet1!$B$2:$B$3</c:f>
              <c:numCache>
                <c:formatCode>General</c:formatCode>
                <c:ptCount val="2"/>
                <c:pt idx="0">
                  <c:v>18500</c:v>
                </c:pt>
                <c:pt idx="1">
                  <c:v>26500</c:v>
                </c:pt>
              </c:numCache>
            </c:numRef>
          </c:val>
        </c:ser>
        <c:ser>
          <c:idx val="1"/>
          <c:order val="1"/>
          <c:tx>
            <c:strRef>
              <c:f>Sheet1!$C$1</c:f>
              <c:strCache>
                <c:ptCount val="1"/>
                <c:pt idx="0">
                  <c:v>Pending</c:v>
                </c:pt>
              </c:strCache>
            </c:strRef>
          </c:tx>
          <c:spPr>
            <a:solidFill>
              <a:srgbClr val="E8963C"/>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Sheet1!$A$2:$A$3</c:f>
              <c:multiLvlStrCache>
                <c:ptCount val="2"/>
                <c:lvl>
                  <c:pt idx="0">
                    <c:v>2026-09</c:v>
                  </c:pt>
                  <c:pt idx="1">
                    <c:v>2026-10</c:v>
                  </c:pt>
                </c:lvl>
              </c:multiLvlStrCache>
            </c:multiLvlStrRef>
          </c:cat>
          <c:val>
            <c:numRef>
              <c:f>Sheet1!$C$2:$C$3</c:f>
              <c:numCache>
                <c:formatCode>General</c:formatCode>
                <c:ptCount val="2"/>
                <c:pt idx="0">
                  <c:v>0</c:v>
                </c:pt>
                <c:pt idx="1">
                  <c:v>11000</c:v>
                </c:pt>
              </c:numCache>
            </c:numRef>
          </c:val>
        </c:ser>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8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database for running an apartment society. The focus of this talk is the database design: the ER model, the relational schema and its constraints, normalization, SQL, transactions, and how a document database complements MySQL. The web app is just the interface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real-world things the system tracks. The core data (flats, people, bills, parking, complaints) needs strict relationships, so it goes in MySQL. Visitor logs, notices, feedback and complaint history are event-like and grow fast, so they go in MongoDB. Five roles use it: admin, owner, tenant, maintenance staff and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only ever talks to the application server, which is the single place where queries are built. Relational, integrity-critical data lives in MySQL with InnoDB, which gives us foreign keys and ACID transactions. Event-style data lives in MongoDB. The two are linked only by MySQL integer ids, so there is no duplicated data to keep in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ER model. Apartment is the hub: a flat has many residents, many monthly bills and possibly some parking slots. A resident row is one person in one flat, and a login account can be linked to several resident rows, which is how one person owning two flats is modelled. A resident owns vehicles and raises complaints; a complaint is optionally assigned to a staff member. Each parking slot holds at most one vehicle. AccountRequest stores public sign-up requests, and LoginAttempt is a standalone throttle table. The dashed box shows what MongoDB references by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relationship and how it becomes a constraint. Total participation becomes NOT NULL on the foreign key; partial participation allows NULL. The one-to-one between parking slot and vehicle is enforced with a UNIQUE index on Vehicle.parking_id. The interesting one is the last-but-one: an account to many residencies, with a composite unique key so one login cannot appear twice in the same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 diagram mapped to relations. Every table uses a surrogate integer primary key with AUTO_INCREMENT; natural keys such as (block, flat_no) are kept as unique constraints instead. The lab baseline had seven tables; we added UserAccount, AccountRequest and LoginAttempt for real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kinds of constraint. Surrogate primary keys everywhere. Business uniqueness as UNIQUE indexes, including composite ones: the duplicate-bill rule is enforced by the database itself, not just the app. Ten foreign keys with deliberate referential actions: RESTRICT where history matters, SET NULL where the child can live without the parent. Domain constraints through ENUM, DECIMAL and NOT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relations are in BCNF: every determinant is a candidate key. We are honest about two places that are not fully normalized. Resident repeats a person's contact details across their flats, which risks an update anomaly; the textbook fix is a separate Person table, which is listed as future work. ParkingSpace.status is technically derivable from Vehicle; we keep it for query speed and protect it with transactions plus a consistency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from the real database. MaintenancePayment shows the composite unique key that blocks a second bill for the same flat and month, DECIMAL for money, and RESTRICT so a flat with bills cannot be deleted. Vehicle shows a nullable foreign key that is also UNIQUE, which is how a one-to-one optional relationship is implemented, plus two different referential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reporting queries with their real output. The first is a three-way join with extra conditions inside the join so that only the active owner is returned; an earlier version without the OWNER condition returned the tenant too, which is a good example of why join conditions matter. The second uses GROUP BY with HAVING to find people who own or rent more than one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aggregation with SUM over CASE gives collected and pending side by side; the chart is that exact result. The second query is an anti-join: a LEFT JOIN where the right side is NULL. It looks for slots marked ALLOCATED that have no vehicle, which would mean the redundant status column has drifted. It returns zero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lost-update race. Both transactions issue an UPDATE guarded by status = 'AVAILABLE'. InnoDB takes a row lock, so B's UPDATE waits until A commits, then re-reads the row, sees ALLOCATED, and matches zero rows. The application checks the affected-row count and rolls back, returning 409. Even if that check were missing, the UNIQUE index on Vehicle.parking_id would stop two cars sharing a slot. Our integration test fires both requests at once and asserts exactly one succeeds. The same pattern guards complaint status changes and account-request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index exists for a query or a rule. The composite unique indexes double as integrity constraints and as lookup paths; for example (apartment_id, payment_month) answers 'bills for this flat' using its left prefix. Foreign-key columns are indexed so joins and RESTRICT checks are fast. Status columns are indexed for the dashboard counts. In MongoDB the compound index matches the query shape exactly: filter by flat, sort by entry time descending.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is versioned: five ordered migration files, applied the same way on every machine and in CI. The last one changed a one-to-one relationship into one-to-many on a database that already had data. The tool's generated script would have dropped UserAccount.resident_id before copying, losing every account link, so we rewrote it to add the new column, copy with an UPDATE-JOIN, then drop. All five migrations were re-run on an empty database to prove they apply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holds data that is event-like: it is mostly appended, its shape varies, and it never needs joins with itself. Documents reference MySQL rows by integer id, as the comments show. The honest limitation is that there is no distributed transaction across the two systems, so we report partial failure explicitly. A future improvement would be the outbox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as it touches the database. Passwords are stored only as bcrypt hashes; the example is a made-up password's hash: algorithm, cost 12, then a 22-character salt and the 31-character hash. Hashing takes about 0.3 seconds, which makes brute force against a stolen table impractical. All queries are parameterized, so input can never change the SQL. Access control is applied inside the WHERE clause of every query. Session revocation is a single timestamp column checked on every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show the interface. The admin dashboard numbers are aggregate queries, and the chart is the collected-versus-pending query. The second screen is the multi-flat owner from the queries slide: his bills come from a query scoped to the apartments he owns, so he sees A-101 and A-201 and nothing else. If there is time, do a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run against real databases, not mocks, and clean up after themselves. They cover the constraints, the concurrency case and the cascading updates. Continuous integration runs everything on every push, including migrating a fresh MySQL and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would do next, all database-side. Normalize Resident into Person and Residency to remove the update anomaly. Move business rules that are currently enforced by the application into the database: MySQL 8 supports CHECK constraints, and triggers could enforce complaint status transitions. Define views for the standard reports. And use an outbox table to make the MySQL-to-MongoDB write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an ER model mapped to ten relations, constraints enforced in the schema, most relations in BCNF with two documented trade-offs, transactions for concurrency, indexes tied to queries, versioned migrations, and MongoDB for event data.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Apartment Society Management  ·  DBMS project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200" b="1" dirty="0">
                <a:solidFill>
                  <a:schemeClr val="bg1"/>
                </a:solidFill>
              </a:rPr>
              <a:t>Apartment Society Management System</a:t>
            </a:r>
            <a:endParaRPr lang="en-US" sz="4200" dirty="0"/>
          </a:p>
        </p:txBody>
      </p:sp>
      <p:sp>
        <p:nvSpPr>
          <p:cNvPr id="3" name="Text 0"/>
          <p:cNvSpPr/>
          <p:nvPr>
            <p:ph idx="101" type="body" hasCustomPrompt="1"/>
          </p:nvPr>
        </p:nvSpPr>
        <p:spPr>
          <a:xfrm>
            <a:off x="731520" y="3657600"/>
            <a:ext cx="10698480" cy="1280160"/>
          </a:xfrm>
          <a:prstGeom prst="rect">
            <a:avLst/>
          </a:prstGeom>
          <a:noFill/>
          <a:ln/>
        </p:spPr>
        <p:txBody>
          <a:bodyPr wrap="square" lIns="0" tIns="0" rIns="0" bIns="0" rtlCol="0" anchor="t"/>
          <a:lstStyle/>
          <a:p>
            <a:pPr algn="l" indent="0" marL="0">
              <a:buNone/>
            </a:pPr>
            <a:r>
              <a:rPr lang="en-US" sz="2000" dirty="0">
                <a:solidFill>
                  <a:schemeClr val="bg2"/>
                </a:solidFill>
              </a:rPr>
              <a:t>Designing a relational + document database for a housing society</a:t>
            </a:r>
            <a:endParaRPr lang="en-US" sz="2000" dirty="0"/>
          </a:p>
          <a:p>
            <a:pPr algn="l" indent="0" marL="0">
              <a:buNone/>
            </a:pPr>
            <a:r>
              <a:rPr lang="en-US" sz="1600" dirty="0">
                <a:solidFill>
                  <a:schemeClr val="accent2"/>
                </a:solidFill>
              </a:rPr>
              <a:t>DBMS project  ·  MySQL 8  ·  MongoDB  ·  31 October 2026</a:t>
            </a:r>
            <a:endParaRPr lang="en-US" sz="2000" dirty="0"/>
          </a:p>
        </p:txBody>
      </p:sp>
      <p:pic>
        <p:nvPicPr>
          <p:cNvPr id="4" name="Database icon" descr="preencoded.png">    </p:cNvPr>
          <p:cNvPicPr>
            <a:picLocks noChangeAspect="1"/>
          </p:cNvPicPr>
          <p:nvPr/>
        </p:nvPicPr>
        <p:blipFill>
          <a:blip r:embed="rId1"/>
          <a:stretch>
            <a:fillRect/>
          </a:stretch>
        </p:blipFill>
        <p:spPr>
          <a:xfrm>
            <a:off x="731520" y="914400"/>
            <a:ext cx="685800" cy="685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What the database has to manage</a:t>
            </a:r>
            <a:endParaRPr lang="en-US" sz="3200" dirty="0"/>
          </a:p>
        </p:txBody>
      </p:sp>
      <p:sp>
        <p:nvSpPr>
          <p:cNvPr id="3" name="Flats card"/>
          <p:cNvSpPr/>
          <p:nvPr/>
        </p:nvSpPr>
        <p:spPr>
          <a:xfrm>
            <a:off x="548640" y="1325880"/>
            <a:ext cx="3474720" cy="1645920"/>
          </a:xfrm>
          <a:prstGeom prst="roundRect">
            <a:avLst>
              <a:gd name="adj" fmla="val 4444"/>
            </a:avLst>
          </a:prstGeom>
          <a:solidFill>
            <a:schemeClr val="bg2"/>
          </a:solidFill>
          <a:ln w="12700">
            <a:solidFill>
              <a:schemeClr val="bg2"/>
            </a:solidFill>
            <a:prstDash val="solid"/>
          </a:ln>
        </p:spPr>
      </p:sp>
      <p:sp>
        <p:nvSpPr>
          <p:cNvPr id="4" name="Flats circle"/>
          <p:cNvSpPr/>
          <p:nvPr/>
        </p:nvSpPr>
        <p:spPr>
          <a:xfrm>
            <a:off x="822960" y="1600200"/>
            <a:ext cx="548640" cy="548640"/>
          </a:xfrm>
          <a:prstGeom prst="ellipse">
            <a:avLst/>
          </a:prstGeom>
          <a:solidFill>
            <a:schemeClr val="accent1"/>
          </a:solidFill>
          <a:ln w="12700">
            <a:solidFill>
              <a:schemeClr val="accent1"/>
            </a:solidFill>
            <a:prstDash val="solid"/>
          </a:ln>
        </p:spPr>
      </p:sp>
      <p:pic>
        <p:nvPicPr>
          <p:cNvPr id="5" name="Flats" descr="preencoded.png">    </p:cNvPr>
          <p:cNvPicPr>
            <a:picLocks noChangeAspect="1"/>
          </p:cNvPicPr>
          <p:nvPr/>
        </p:nvPicPr>
        <p:blipFill>
          <a:blip r:embed="rId1"/>
          <a:stretch>
            <a:fillRect/>
          </a:stretch>
        </p:blipFill>
        <p:spPr>
          <a:xfrm>
            <a:off x="954634" y="1731874"/>
            <a:ext cx="285293" cy="285293"/>
          </a:xfrm>
          <a:prstGeom prst="rect">
            <a:avLst/>
          </a:prstGeom>
        </p:spPr>
      </p:pic>
      <p:sp>
        <p:nvSpPr>
          <p:cNvPr id="6" name="Text 3"/>
          <p:cNvSpPr txBox="1"/>
          <p:nvPr/>
        </p:nvSpPr>
        <p:spPr>
          <a:xfrm>
            <a:off x="1554480" y="160020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Flats</a:t>
            </a:r>
            <a:endParaRPr lang="en-US" sz="1800" dirty="0"/>
          </a:p>
        </p:txBody>
      </p:sp>
      <p:sp>
        <p:nvSpPr>
          <p:cNvPr id="7" name="Text 4"/>
          <p:cNvSpPr txBox="1"/>
          <p:nvPr/>
        </p:nvSpPr>
        <p:spPr>
          <a:xfrm>
            <a:off x="822960" y="2240280"/>
            <a:ext cx="3017520" cy="640080"/>
          </a:xfrm>
          <a:prstGeom prst="rect">
            <a:avLst/>
          </a:prstGeom>
          <a:noFill/>
          <a:ln/>
        </p:spPr>
        <p:txBody>
          <a:bodyPr wrap="square" lIns="0" tIns="0" rIns="0" bIns="0" rtlCol="0" anchor="t"/>
          <a:lstStyle/>
          <a:p>
            <a:pPr indent="0" marL="0">
              <a:buNone/>
            </a:pPr>
            <a:r>
              <a:rPr lang="en-US" sz="1400" dirty="0">
                <a:solidFill>
                  <a:schemeClr val="tx1"/>
                </a:solidFill>
              </a:rPr>
              <a:t>Blocks, floors, flat numbers, size</a:t>
            </a:r>
            <a:endParaRPr lang="en-US" sz="1400" dirty="0"/>
          </a:p>
        </p:txBody>
      </p:sp>
      <p:sp>
        <p:nvSpPr>
          <p:cNvPr id="8" name="Residents card"/>
          <p:cNvSpPr/>
          <p:nvPr/>
        </p:nvSpPr>
        <p:spPr>
          <a:xfrm>
            <a:off x="4297680" y="1325880"/>
            <a:ext cx="3474720" cy="1645920"/>
          </a:xfrm>
          <a:prstGeom prst="roundRect">
            <a:avLst>
              <a:gd name="adj" fmla="val 4444"/>
            </a:avLst>
          </a:prstGeom>
          <a:solidFill>
            <a:schemeClr val="bg2"/>
          </a:solidFill>
          <a:ln w="12700">
            <a:solidFill>
              <a:schemeClr val="bg2"/>
            </a:solidFill>
            <a:prstDash val="solid"/>
          </a:ln>
        </p:spPr>
      </p:sp>
      <p:sp>
        <p:nvSpPr>
          <p:cNvPr id="9" name="Residents circle"/>
          <p:cNvSpPr/>
          <p:nvPr/>
        </p:nvSpPr>
        <p:spPr>
          <a:xfrm>
            <a:off x="4572000" y="1600200"/>
            <a:ext cx="548640" cy="548640"/>
          </a:xfrm>
          <a:prstGeom prst="ellipse">
            <a:avLst/>
          </a:prstGeom>
          <a:solidFill>
            <a:schemeClr val="accent1"/>
          </a:solidFill>
          <a:ln w="12700">
            <a:solidFill>
              <a:schemeClr val="accent1"/>
            </a:solidFill>
            <a:prstDash val="solid"/>
          </a:ln>
        </p:spPr>
      </p:sp>
      <p:pic>
        <p:nvPicPr>
          <p:cNvPr id="10" name="Residents" descr="preencoded.png">    </p:cNvPr>
          <p:cNvPicPr>
            <a:picLocks noChangeAspect="1"/>
          </p:cNvPicPr>
          <p:nvPr/>
        </p:nvPicPr>
        <p:blipFill>
          <a:blip r:embed="rId2"/>
          <a:stretch>
            <a:fillRect/>
          </a:stretch>
        </p:blipFill>
        <p:spPr>
          <a:xfrm>
            <a:off x="4703674" y="1731874"/>
            <a:ext cx="285293" cy="285293"/>
          </a:xfrm>
          <a:prstGeom prst="rect">
            <a:avLst/>
          </a:prstGeom>
        </p:spPr>
      </p:pic>
      <p:sp>
        <p:nvSpPr>
          <p:cNvPr id="11" name="Text 7"/>
          <p:cNvSpPr txBox="1"/>
          <p:nvPr/>
        </p:nvSpPr>
        <p:spPr>
          <a:xfrm>
            <a:off x="5303520" y="160020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Residents</a:t>
            </a:r>
            <a:endParaRPr lang="en-US" sz="1800" dirty="0"/>
          </a:p>
        </p:txBody>
      </p:sp>
      <p:sp>
        <p:nvSpPr>
          <p:cNvPr id="12" name="Text 8"/>
          <p:cNvSpPr txBox="1"/>
          <p:nvPr/>
        </p:nvSpPr>
        <p:spPr>
          <a:xfrm>
            <a:off x="4572000" y="2240280"/>
            <a:ext cx="3017520" cy="640080"/>
          </a:xfrm>
          <a:prstGeom prst="rect">
            <a:avLst/>
          </a:prstGeom>
          <a:noFill/>
          <a:ln/>
        </p:spPr>
        <p:txBody>
          <a:bodyPr wrap="square" lIns="0" tIns="0" rIns="0" bIns="0" rtlCol="0" anchor="t"/>
          <a:lstStyle/>
          <a:p>
            <a:pPr indent="0" marL="0">
              <a:buNone/>
            </a:pPr>
            <a:r>
              <a:rPr lang="en-US" sz="1400" dirty="0">
                <a:solidFill>
                  <a:schemeClr val="tx1"/>
                </a:solidFill>
              </a:rPr>
              <a:t>Owners and tenants; one person can have several flats</a:t>
            </a:r>
            <a:endParaRPr lang="en-US" sz="1400" dirty="0"/>
          </a:p>
        </p:txBody>
      </p:sp>
      <p:sp>
        <p:nvSpPr>
          <p:cNvPr id="13" name="Maintenance bills card"/>
          <p:cNvSpPr/>
          <p:nvPr/>
        </p:nvSpPr>
        <p:spPr>
          <a:xfrm>
            <a:off x="8046720" y="1325880"/>
            <a:ext cx="3474720" cy="1645920"/>
          </a:xfrm>
          <a:prstGeom prst="roundRect">
            <a:avLst>
              <a:gd name="adj" fmla="val 4444"/>
            </a:avLst>
          </a:prstGeom>
          <a:solidFill>
            <a:schemeClr val="bg2"/>
          </a:solidFill>
          <a:ln w="12700">
            <a:solidFill>
              <a:schemeClr val="bg2"/>
            </a:solidFill>
            <a:prstDash val="solid"/>
          </a:ln>
        </p:spPr>
      </p:sp>
      <p:sp>
        <p:nvSpPr>
          <p:cNvPr id="14" name="Maintenance bills circle"/>
          <p:cNvSpPr/>
          <p:nvPr/>
        </p:nvSpPr>
        <p:spPr>
          <a:xfrm>
            <a:off x="8321040" y="1600200"/>
            <a:ext cx="548640" cy="548640"/>
          </a:xfrm>
          <a:prstGeom prst="ellipse">
            <a:avLst/>
          </a:prstGeom>
          <a:solidFill>
            <a:schemeClr val="accent1"/>
          </a:solidFill>
          <a:ln w="12700">
            <a:solidFill>
              <a:schemeClr val="accent1"/>
            </a:solidFill>
            <a:prstDash val="solid"/>
          </a:ln>
        </p:spPr>
      </p:sp>
      <p:pic>
        <p:nvPicPr>
          <p:cNvPr id="15" name="Maintenance bills" descr="preencoded.png">    </p:cNvPr>
          <p:cNvPicPr>
            <a:picLocks noChangeAspect="1"/>
          </p:cNvPicPr>
          <p:nvPr/>
        </p:nvPicPr>
        <p:blipFill>
          <a:blip r:embed="rId3"/>
          <a:stretch>
            <a:fillRect/>
          </a:stretch>
        </p:blipFill>
        <p:spPr>
          <a:xfrm>
            <a:off x="8452714" y="1731874"/>
            <a:ext cx="285293" cy="285293"/>
          </a:xfrm>
          <a:prstGeom prst="rect">
            <a:avLst/>
          </a:prstGeom>
        </p:spPr>
      </p:pic>
      <p:sp>
        <p:nvSpPr>
          <p:cNvPr id="16" name="Text 11"/>
          <p:cNvSpPr txBox="1"/>
          <p:nvPr/>
        </p:nvSpPr>
        <p:spPr>
          <a:xfrm>
            <a:off x="9052560" y="160020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Maintenance bills</a:t>
            </a:r>
            <a:endParaRPr lang="en-US" sz="1800" dirty="0"/>
          </a:p>
        </p:txBody>
      </p:sp>
      <p:sp>
        <p:nvSpPr>
          <p:cNvPr id="17" name="Text 12"/>
          <p:cNvSpPr txBox="1"/>
          <p:nvPr/>
        </p:nvSpPr>
        <p:spPr>
          <a:xfrm>
            <a:off x="8321040" y="2240280"/>
            <a:ext cx="3017520" cy="640080"/>
          </a:xfrm>
          <a:prstGeom prst="rect">
            <a:avLst/>
          </a:prstGeom>
          <a:noFill/>
          <a:ln/>
        </p:spPr>
        <p:txBody>
          <a:bodyPr wrap="square" lIns="0" tIns="0" rIns="0" bIns="0" rtlCol="0" anchor="t"/>
          <a:lstStyle/>
          <a:p>
            <a:pPr indent="0" marL="0">
              <a:buNone/>
            </a:pPr>
            <a:r>
              <a:rPr lang="en-US" sz="1400" dirty="0">
                <a:solidFill>
                  <a:schemeClr val="tx1"/>
                </a:solidFill>
              </a:rPr>
              <a:t>One bill per flat per month, paid or pending</a:t>
            </a:r>
            <a:endParaRPr lang="en-US" sz="1400" dirty="0"/>
          </a:p>
        </p:txBody>
      </p:sp>
      <p:sp>
        <p:nvSpPr>
          <p:cNvPr id="18" name="Parking &amp; vehicles card"/>
          <p:cNvSpPr/>
          <p:nvPr/>
        </p:nvSpPr>
        <p:spPr>
          <a:xfrm>
            <a:off x="548640" y="3200400"/>
            <a:ext cx="3474720" cy="1645920"/>
          </a:xfrm>
          <a:prstGeom prst="roundRect">
            <a:avLst>
              <a:gd name="adj" fmla="val 4444"/>
            </a:avLst>
          </a:prstGeom>
          <a:solidFill>
            <a:schemeClr val="bg2"/>
          </a:solidFill>
          <a:ln w="12700">
            <a:solidFill>
              <a:schemeClr val="bg2"/>
            </a:solidFill>
            <a:prstDash val="solid"/>
          </a:ln>
        </p:spPr>
      </p:sp>
      <p:sp>
        <p:nvSpPr>
          <p:cNvPr id="19" name="Parking &amp; vehicles circle"/>
          <p:cNvSpPr/>
          <p:nvPr/>
        </p:nvSpPr>
        <p:spPr>
          <a:xfrm>
            <a:off x="822960" y="3474720"/>
            <a:ext cx="548640" cy="548640"/>
          </a:xfrm>
          <a:prstGeom prst="ellipse">
            <a:avLst/>
          </a:prstGeom>
          <a:solidFill>
            <a:schemeClr val="accent1"/>
          </a:solidFill>
          <a:ln w="12700">
            <a:solidFill>
              <a:schemeClr val="accent1"/>
            </a:solidFill>
            <a:prstDash val="solid"/>
          </a:ln>
        </p:spPr>
      </p:sp>
      <p:pic>
        <p:nvPicPr>
          <p:cNvPr id="20" name="Parking &amp; vehicles" descr="preencoded.png">    </p:cNvPr>
          <p:cNvPicPr>
            <a:picLocks noChangeAspect="1"/>
          </p:cNvPicPr>
          <p:nvPr/>
        </p:nvPicPr>
        <p:blipFill>
          <a:blip r:embed="rId4"/>
          <a:stretch>
            <a:fillRect/>
          </a:stretch>
        </p:blipFill>
        <p:spPr>
          <a:xfrm>
            <a:off x="954634" y="3606394"/>
            <a:ext cx="285293" cy="285293"/>
          </a:xfrm>
          <a:prstGeom prst="rect">
            <a:avLst/>
          </a:prstGeom>
        </p:spPr>
      </p:pic>
      <p:sp>
        <p:nvSpPr>
          <p:cNvPr id="21" name="Text 15"/>
          <p:cNvSpPr txBox="1"/>
          <p:nvPr/>
        </p:nvSpPr>
        <p:spPr>
          <a:xfrm>
            <a:off x="1554480" y="347472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Parking &amp; vehicles</a:t>
            </a:r>
            <a:endParaRPr lang="en-US" sz="1800" dirty="0"/>
          </a:p>
        </p:txBody>
      </p:sp>
      <p:sp>
        <p:nvSpPr>
          <p:cNvPr id="22" name="Text 16"/>
          <p:cNvSpPr txBox="1"/>
          <p:nvPr/>
        </p:nvSpPr>
        <p:spPr>
          <a:xfrm>
            <a:off x="822960" y="4114800"/>
            <a:ext cx="3017520" cy="640080"/>
          </a:xfrm>
          <a:prstGeom prst="rect">
            <a:avLst/>
          </a:prstGeom>
          <a:noFill/>
          <a:ln/>
        </p:spPr>
        <p:txBody>
          <a:bodyPr wrap="square" lIns="0" tIns="0" rIns="0" bIns="0" rtlCol="0" anchor="t"/>
          <a:lstStyle/>
          <a:p>
            <a:pPr indent="0" marL="0">
              <a:buNone/>
            </a:pPr>
            <a:r>
              <a:rPr lang="en-US" sz="1400" dirty="0">
                <a:solidFill>
                  <a:schemeClr val="tx1"/>
                </a:solidFill>
              </a:rPr>
              <a:t>Car and bike slots; one vehicle per slot</a:t>
            </a:r>
            <a:endParaRPr lang="en-US" sz="1400" dirty="0"/>
          </a:p>
        </p:txBody>
      </p:sp>
      <p:sp>
        <p:nvSpPr>
          <p:cNvPr id="23" name="Complaints &amp; staff card"/>
          <p:cNvSpPr/>
          <p:nvPr/>
        </p:nvSpPr>
        <p:spPr>
          <a:xfrm>
            <a:off x="4297680" y="3200400"/>
            <a:ext cx="3474720" cy="1645920"/>
          </a:xfrm>
          <a:prstGeom prst="roundRect">
            <a:avLst>
              <a:gd name="adj" fmla="val 4444"/>
            </a:avLst>
          </a:prstGeom>
          <a:solidFill>
            <a:schemeClr val="bg2"/>
          </a:solidFill>
          <a:ln w="12700">
            <a:solidFill>
              <a:schemeClr val="bg2"/>
            </a:solidFill>
            <a:prstDash val="solid"/>
          </a:ln>
        </p:spPr>
      </p:sp>
      <p:sp>
        <p:nvSpPr>
          <p:cNvPr id="24" name="Complaints &amp; staff circle"/>
          <p:cNvSpPr/>
          <p:nvPr/>
        </p:nvSpPr>
        <p:spPr>
          <a:xfrm>
            <a:off x="4572000" y="3474720"/>
            <a:ext cx="548640" cy="548640"/>
          </a:xfrm>
          <a:prstGeom prst="ellipse">
            <a:avLst/>
          </a:prstGeom>
          <a:solidFill>
            <a:schemeClr val="accent1"/>
          </a:solidFill>
          <a:ln w="12700">
            <a:solidFill>
              <a:schemeClr val="accent1"/>
            </a:solidFill>
            <a:prstDash val="solid"/>
          </a:ln>
        </p:spPr>
      </p:sp>
      <p:pic>
        <p:nvPicPr>
          <p:cNvPr id="25" name="Complaints &amp; staff" descr="preencoded.png">    </p:cNvPr>
          <p:cNvPicPr>
            <a:picLocks noChangeAspect="1"/>
          </p:cNvPicPr>
          <p:nvPr/>
        </p:nvPicPr>
        <p:blipFill>
          <a:blip r:embed="rId5"/>
          <a:stretch>
            <a:fillRect/>
          </a:stretch>
        </p:blipFill>
        <p:spPr>
          <a:xfrm>
            <a:off x="4703674" y="3606394"/>
            <a:ext cx="285293" cy="285293"/>
          </a:xfrm>
          <a:prstGeom prst="rect">
            <a:avLst/>
          </a:prstGeom>
        </p:spPr>
      </p:pic>
      <p:sp>
        <p:nvSpPr>
          <p:cNvPr id="26" name="Text 19"/>
          <p:cNvSpPr txBox="1"/>
          <p:nvPr/>
        </p:nvSpPr>
        <p:spPr>
          <a:xfrm>
            <a:off x="5303520" y="347472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Complaints &amp; staff</a:t>
            </a:r>
            <a:endParaRPr lang="en-US" sz="1800" dirty="0"/>
          </a:p>
        </p:txBody>
      </p:sp>
      <p:sp>
        <p:nvSpPr>
          <p:cNvPr id="27" name="Text 20"/>
          <p:cNvSpPr txBox="1"/>
          <p:nvPr/>
        </p:nvSpPr>
        <p:spPr>
          <a:xfrm>
            <a:off x="4572000" y="4114800"/>
            <a:ext cx="3017520" cy="640080"/>
          </a:xfrm>
          <a:prstGeom prst="rect">
            <a:avLst/>
          </a:prstGeom>
          <a:noFill/>
          <a:ln/>
        </p:spPr>
        <p:txBody>
          <a:bodyPr wrap="square" lIns="0" tIns="0" rIns="0" bIns="0" rtlCol="0" anchor="t"/>
          <a:lstStyle/>
          <a:p>
            <a:pPr indent="0" marL="0">
              <a:buNone/>
            </a:pPr>
            <a:r>
              <a:rPr lang="en-US" sz="1400" dirty="0">
                <a:solidFill>
                  <a:schemeClr val="tx1"/>
                </a:solidFill>
              </a:rPr>
              <a:t>Raised by residents, assigned to staff, tracked to resolution</a:t>
            </a:r>
            <a:endParaRPr lang="en-US" sz="1400" dirty="0"/>
          </a:p>
        </p:txBody>
      </p:sp>
      <p:sp>
        <p:nvSpPr>
          <p:cNvPr id="28" name="Visitors &amp; notices card"/>
          <p:cNvSpPr/>
          <p:nvPr/>
        </p:nvSpPr>
        <p:spPr>
          <a:xfrm>
            <a:off x="8046720" y="3200400"/>
            <a:ext cx="3474720" cy="1645920"/>
          </a:xfrm>
          <a:prstGeom prst="roundRect">
            <a:avLst>
              <a:gd name="adj" fmla="val 4444"/>
            </a:avLst>
          </a:prstGeom>
          <a:solidFill>
            <a:schemeClr val="bg2"/>
          </a:solidFill>
          <a:ln w="12700">
            <a:solidFill>
              <a:schemeClr val="bg2"/>
            </a:solidFill>
            <a:prstDash val="solid"/>
          </a:ln>
        </p:spPr>
      </p:sp>
      <p:sp>
        <p:nvSpPr>
          <p:cNvPr id="29" name="Visitors &amp; notices circle"/>
          <p:cNvSpPr/>
          <p:nvPr/>
        </p:nvSpPr>
        <p:spPr>
          <a:xfrm>
            <a:off x="8321040" y="3474720"/>
            <a:ext cx="548640" cy="548640"/>
          </a:xfrm>
          <a:prstGeom prst="ellipse">
            <a:avLst/>
          </a:prstGeom>
          <a:solidFill>
            <a:schemeClr val="accent1"/>
          </a:solidFill>
          <a:ln w="12700">
            <a:solidFill>
              <a:schemeClr val="accent1"/>
            </a:solidFill>
            <a:prstDash val="solid"/>
          </a:ln>
        </p:spPr>
      </p:sp>
      <p:pic>
        <p:nvPicPr>
          <p:cNvPr id="30" name="Visitors &amp; notices" descr="preencoded.png">    </p:cNvPr>
          <p:cNvPicPr>
            <a:picLocks noChangeAspect="1"/>
          </p:cNvPicPr>
          <p:nvPr/>
        </p:nvPicPr>
        <p:blipFill>
          <a:blip r:embed="rId6"/>
          <a:stretch>
            <a:fillRect/>
          </a:stretch>
        </p:blipFill>
        <p:spPr>
          <a:xfrm>
            <a:off x="8452714" y="3606394"/>
            <a:ext cx="285293" cy="285293"/>
          </a:xfrm>
          <a:prstGeom prst="rect">
            <a:avLst/>
          </a:prstGeom>
        </p:spPr>
      </p:pic>
      <p:sp>
        <p:nvSpPr>
          <p:cNvPr id="31" name="Text 23"/>
          <p:cNvSpPr txBox="1"/>
          <p:nvPr/>
        </p:nvSpPr>
        <p:spPr>
          <a:xfrm>
            <a:off x="9052560" y="347472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Visitors &amp; notices</a:t>
            </a:r>
            <a:endParaRPr lang="en-US" sz="1800" dirty="0"/>
          </a:p>
        </p:txBody>
      </p:sp>
      <p:sp>
        <p:nvSpPr>
          <p:cNvPr id="32" name="Text 24"/>
          <p:cNvSpPr txBox="1"/>
          <p:nvPr/>
        </p:nvSpPr>
        <p:spPr>
          <a:xfrm>
            <a:off x="8321040" y="4114800"/>
            <a:ext cx="3017520" cy="640080"/>
          </a:xfrm>
          <a:prstGeom prst="rect">
            <a:avLst/>
          </a:prstGeom>
          <a:noFill/>
          <a:ln/>
        </p:spPr>
        <p:txBody>
          <a:bodyPr wrap="square" lIns="0" tIns="0" rIns="0" bIns="0" rtlCol="0" anchor="t"/>
          <a:lstStyle/>
          <a:p>
            <a:pPr indent="0" marL="0">
              <a:buNone/>
            </a:pPr>
            <a:r>
              <a:rPr lang="en-US" sz="1400" dirty="0">
                <a:solidFill>
                  <a:schemeClr val="tx1"/>
                </a:solidFill>
              </a:rPr>
              <a:t>High-volume logs and announcements</a:t>
            </a:r>
            <a:endParaRPr lang="en-US" sz="1400" dirty="0"/>
          </a:p>
        </p:txBody>
      </p:sp>
      <p:sp>
        <p:nvSpPr>
          <p:cNvPr id="33" name="Scope summary"/>
          <p:cNvSpPr txBox="1"/>
          <p:nvPr/>
        </p:nvSpPr>
        <p:spPr>
          <a:xfrm>
            <a:off x="548640" y="5257800"/>
            <a:ext cx="11064240" cy="457200"/>
          </a:xfrm>
          <a:prstGeom prst="rect">
            <a:avLst/>
          </a:prstGeom>
          <a:noFill/>
          <a:ln/>
        </p:spPr>
        <p:txBody>
          <a:bodyPr wrap="square" lIns="0" tIns="0" rIns="0" bIns="0" rtlCol="0" anchor="ctr"/>
          <a:lstStyle/>
          <a:p>
            <a:pPr indent="0" marL="0">
              <a:buNone/>
            </a:pPr>
            <a:r>
              <a:rPr lang="en-US" sz="1800" b="1" dirty="0">
                <a:solidFill>
                  <a:schemeClr val="accent1"/>
                </a:solidFill>
              </a:rPr>
              <a:t>10 </a:t>
            </a:r>
            <a:pPr indent="0" marL="0">
              <a:buNone/>
            </a:pPr>
            <a:r>
              <a:rPr lang="en-US" sz="1800" dirty="0">
                <a:solidFill>
                  <a:schemeClr val="tx1"/>
                </a:solidFill>
              </a:rPr>
              <a:t>relational tables in MySQL     </a:t>
            </a:r>
            <a:pPr indent="0" marL="0">
              <a:buNone/>
            </a:pPr>
            <a:r>
              <a:rPr lang="en-US" sz="1800" b="1" dirty="0">
                <a:solidFill>
                  <a:schemeClr val="accent2"/>
                </a:solidFill>
              </a:rPr>
              <a:t>4 </a:t>
            </a:r>
            <a:pPr indent="0" marL="0">
              <a:buNone/>
            </a:pPr>
            <a:r>
              <a:rPr lang="en-US" sz="1800" dirty="0">
                <a:solidFill>
                  <a:schemeClr val="tx1"/>
                </a:solidFill>
              </a:rPr>
              <a:t>document collections in MongoDB     </a:t>
            </a:r>
            <a:pPr indent="0" marL="0">
              <a:buNone/>
            </a:pPr>
            <a:r>
              <a:rPr lang="en-US" sz="1800" b="1" dirty="0">
                <a:solidFill>
                  <a:schemeClr val="accent5"/>
                </a:solidFill>
              </a:rPr>
              <a:t>5 </a:t>
            </a:r>
            <a:pPr indent="0" marL="0">
              <a:buNone/>
            </a:pPr>
            <a:r>
              <a:rPr lang="en-US" sz="1800" dirty="0">
                <a:solidFill>
                  <a:schemeClr val="tx1"/>
                </a:solidFill>
              </a:rPr>
              <a:t>user roles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Two databases, one application</a:t>
            </a:r>
            <a:endParaRPr lang="en-US" sz="3200" dirty="0"/>
          </a:p>
        </p:txBody>
      </p:sp>
      <p:sp>
        <p:nvSpPr>
          <p:cNvPr id="3" name="Browser"/>
          <p:cNvSpPr/>
          <p:nvPr/>
        </p:nvSpPr>
        <p:spPr>
          <a:xfrm>
            <a:off x="548640" y="2011680"/>
            <a:ext cx="2377440" cy="1828800"/>
          </a:xfrm>
          <a:prstGeom prst="roundRect">
            <a:avLst>
              <a:gd name="adj" fmla="val 4000"/>
            </a:avLst>
          </a:prstGeom>
          <a:solidFill>
            <a:schemeClr val="bg2"/>
          </a:solidFill>
          <a:ln w="12700">
            <a:solidFill>
              <a:schemeClr val="bg2"/>
            </a:solidFill>
            <a:prstDash val="solid"/>
          </a:ln>
        </p:spPr>
      </p:sp>
      <p:sp>
        <p:nvSpPr>
          <p:cNvPr id="4" name="Text 2"/>
          <p:cNvSpPr txBox="1"/>
          <p:nvPr/>
        </p:nvSpPr>
        <p:spPr>
          <a:xfrm>
            <a:off x="731520" y="2194560"/>
            <a:ext cx="2011680" cy="457200"/>
          </a:xfrm>
          <a:prstGeom prst="rect">
            <a:avLst/>
          </a:prstGeom>
          <a:noFill/>
          <a:ln/>
        </p:spPr>
        <p:txBody>
          <a:bodyPr wrap="square" lIns="0" tIns="0" rIns="0" bIns="0" rtlCol="0" anchor="ctr"/>
          <a:lstStyle/>
          <a:p>
            <a:pPr indent="0" marL="0">
              <a:buNone/>
            </a:pPr>
            <a:r>
              <a:rPr lang="en-US" sz="1800" b="1" dirty="0">
                <a:solidFill>
                  <a:schemeClr val="tx2"/>
                </a:solidFill>
              </a:rPr>
              <a:t>Browser</a:t>
            </a:r>
            <a:endParaRPr lang="en-US" sz="1800" dirty="0"/>
          </a:p>
        </p:txBody>
      </p:sp>
      <p:sp>
        <p:nvSpPr>
          <p:cNvPr id="5" name="Text 3"/>
          <p:cNvSpPr txBox="1"/>
          <p:nvPr/>
        </p:nvSpPr>
        <p:spPr>
          <a:xfrm>
            <a:off x="731520" y="2697480"/>
            <a:ext cx="2011680" cy="1005840"/>
          </a:xfrm>
          <a:prstGeom prst="rect">
            <a:avLst/>
          </a:prstGeom>
          <a:noFill/>
          <a:ln/>
        </p:spPr>
        <p:txBody>
          <a:bodyPr wrap="square" lIns="0" tIns="0" rIns="0" bIns="0" rtlCol="0" anchor="t"/>
          <a:lstStyle/>
          <a:p>
            <a:pPr indent="0" marL="0">
              <a:buNone/>
            </a:pPr>
            <a:r>
              <a:rPr lang="en-US" sz="1400" dirty="0">
                <a:solidFill>
                  <a:schemeClr val="tx1"/>
                </a:solidFill>
              </a:rPr>
              <a:t>Pages for each role</a:t>
            </a:r>
            <a:endParaRPr lang="en-US" sz="1400" dirty="0"/>
          </a:p>
          <a:p>
            <a:pPr indent="0" marL="0">
              <a:buNone/>
            </a:pPr>
            <a:r>
              <a:rPr lang="en-US" sz="1400" dirty="0">
                <a:solidFill>
                  <a:schemeClr val="tx1"/>
                </a:solidFill>
              </a:rPr>
              <a:t>Never touches a database</a:t>
            </a:r>
            <a:endParaRPr lang="en-US" sz="1400" dirty="0"/>
          </a:p>
        </p:txBody>
      </p:sp>
      <p:sp>
        <p:nvSpPr>
          <p:cNvPr id="6" name="Application server"/>
          <p:cNvSpPr/>
          <p:nvPr/>
        </p:nvSpPr>
        <p:spPr>
          <a:xfrm>
            <a:off x="3931920" y="2011680"/>
            <a:ext cx="3108960" cy="1828800"/>
          </a:xfrm>
          <a:prstGeom prst="roundRect">
            <a:avLst>
              <a:gd name="adj" fmla="val 4000"/>
            </a:avLst>
          </a:prstGeom>
          <a:solidFill>
            <a:schemeClr val="bg2"/>
          </a:solidFill>
          <a:ln w="12700">
            <a:solidFill>
              <a:schemeClr val="bg2"/>
            </a:solidFill>
            <a:prstDash val="solid"/>
          </a:ln>
        </p:spPr>
      </p:sp>
      <p:sp>
        <p:nvSpPr>
          <p:cNvPr id="7" name="Text 5"/>
          <p:cNvSpPr txBox="1"/>
          <p:nvPr/>
        </p:nvSpPr>
        <p:spPr>
          <a:xfrm>
            <a:off x="4114800" y="2194560"/>
            <a:ext cx="2743200" cy="457200"/>
          </a:xfrm>
          <a:prstGeom prst="rect">
            <a:avLst/>
          </a:prstGeom>
          <a:noFill/>
          <a:ln/>
        </p:spPr>
        <p:txBody>
          <a:bodyPr wrap="square" lIns="0" tIns="0" rIns="0" bIns="0" rtlCol="0" anchor="ctr"/>
          <a:lstStyle/>
          <a:p>
            <a:pPr indent="0" marL="0">
              <a:buNone/>
            </a:pPr>
            <a:r>
              <a:rPr lang="en-US" sz="1800" b="1" dirty="0">
                <a:solidFill>
                  <a:schemeClr val="tx2"/>
                </a:solidFill>
              </a:rPr>
              <a:t>Application server</a:t>
            </a:r>
            <a:endParaRPr lang="en-US" sz="1800" dirty="0"/>
          </a:p>
        </p:txBody>
      </p:sp>
      <p:sp>
        <p:nvSpPr>
          <p:cNvPr id="8" name="Text 6"/>
          <p:cNvSpPr txBox="1"/>
          <p:nvPr/>
        </p:nvSpPr>
        <p:spPr>
          <a:xfrm>
            <a:off x="4114800" y="2697480"/>
            <a:ext cx="2743200" cy="1005840"/>
          </a:xfrm>
          <a:prstGeom prst="rect">
            <a:avLst/>
          </a:prstGeom>
          <a:noFill/>
          <a:ln/>
        </p:spPr>
        <p:txBody>
          <a:bodyPr wrap="square" lIns="0" tIns="0" rIns="0" bIns="0" rtlCol="0" anchor="t"/>
          <a:lstStyle/>
          <a:p>
            <a:pPr indent="0" marL="0">
              <a:buNone/>
            </a:pPr>
            <a:r>
              <a:rPr lang="en-US" sz="1400" dirty="0">
                <a:solidFill>
                  <a:schemeClr val="tx1"/>
                </a:solidFill>
              </a:rPr>
              <a:t>Validates input</a:t>
            </a:r>
            <a:endParaRPr lang="en-US" sz="1400" dirty="0"/>
          </a:p>
          <a:p>
            <a:pPr indent="0" marL="0">
              <a:buNone/>
            </a:pPr>
            <a:r>
              <a:rPr lang="en-US" sz="1400" dirty="0">
                <a:solidFill>
                  <a:schemeClr val="tx1"/>
                </a:solidFill>
              </a:rPr>
              <a:t>Checks role + ownership</a:t>
            </a:r>
            <a:endParaRPr lang="en-US" sz="1400" dirty="0"/>
          </a:p>
          <a:p>
            <a:pPr indent="0" marL="0">
              <a:buNone/>
            </a:pPr>
            <a:r>
              <a:rPr lang="en-US" sz="1400" dirty="0">
                <a:solidFill>
                  <a:schemeClr val="tx1"/>
                </a:solidFill>
              </a:rPr>
              <a:t>Runs SQL / queries</a:t>
            </a:r>
            <a:endParaRPr lang="en-US" sz="1400" dirty="0"/>
          </a:p>
        </p:txBody>
      </p:sp>
      <p:sp>
        <p:nvSpPr>
          <p:cNvPr id="9" name="MySQL card"/>
          <p:cNvSpPr/>
          <p:nvPr/>
        </p:nvSpPr>
        <p:spPr>
          <a:xfrm>
            <a:off x="8046720" y="1325880"/>
            <a:ext cx="3566160" cy="1783080"/>
          </a:xfrm>
          <a:prstGeom prst="roundRect">
            <a:avLst>
              <a:gd name="adj" fmla="val 4103"/>
            </a:avLst>
          </a:prstGeom>
          <a:solidFill>
            <a:schemeClr val="accent1"/>
          </a:solidFill>
          <a:ln w="12700">
            <a:solidFill>
              <a:schemeClr val="accent1"/>
            </a:solidFill>
            <a:prstDash val="solid"/>
          </a:ln>
        </p:spPr>
      </p:sp>
      <p:sp>
        <p:nvSpPr>
          <p:cNvPr id="10" name="Text 8"/>
          <p:cNvSpPr txBox="1"/>
          <p:nvPr/>
        </p:nvSpPr>
        <p:spPr>
          <a:xfrm>
            <a:off x="8229600" y="1463040"/>
            <a:ext cx="3200400" cy="457200"/>
          </a:xfrm>
          <a:prstGeom prst="rect">
            <a:avLst/>
          </a:prstGeom>
          <a:noFill/>
          <a:ln/>
        </p:spPr>
        <p:txBody>
          <a:bodyPr wrap="square" lIns="0" tIns="0" rIns="0" bIns="0" rtlCol="0" anchor="ctr"/>
          <a:lstStyle/>
          <a:p>
            <a:pPr indent="0" marL="0">
              <a:buNone/>
            </a:pPr>
            <a:r>
              <a:rPr lang="en-US" sz="1800" b="1" dirty="0">
                <a:solidFill>
                  <a:schemeClr val="bg1"/>
                </a:solidFill>
              </a:rPr>
              <a:t>MySQL 8 (InnoDB)</a:t>
            </a:r>
            <a:endParaRPr lang="en-US" sz="1800" dirty="0"/>
          </a:p>
        </p:txBody>
      </p:sp>
      <p:sp>
        <p:nvSpPr>
          <p:cNvPr id="11" name="Text 9"/>
          <p:cNvSpPr txBox="1"/>
          <p:nvPr/>
        </p:nvSpPr>
        <p:spPr>
          <a:xfrm>
            <a:off x="8229600" y="1920240"/>
            <a:ext cx="3200400" cy="1097280"/>
          </a:xfrm>
          <a:prstGeom prst="rect">
            <a:avLst/>
          </a:prstGeom>
          <a:noFill/>
          <a:ln/>
        </p:spPr>
        <p:txBody>
          <a:bodyPr wrap="square" lIns="0" tIns="0" rIns="0" bIns="0" rtlCol="0" anchor="t"/>
          <a:lstStyle/>
          <a:p>
            <a:pPr indent="0" marL="0">
              <a:buNone/>
            </a:pPr>
            <a:r>
              <a:rPr lang="en-US" sz="1300" dirty="0">
                <a:solidFill>
                  <a:schemeClr val="bg1"/>
                </a:solidFill>
              </a:rPr>
              <a:t>Flats, residents, staff, bills, parking, vehicles, complaints, logins</a:t>
            </a:r>
            <a:endParaRPr lang="en-US" sz="1300" dirty="0"/>
          </a:p>
          <a:p>
            <a:pPr indent="0" marL="0">
              <a:buNone/>
            </a:pPr>
            <a:r>
              <a:rPr lang="en-US" sz="1300" dirty="0">
                <a:solidFill>
                  <a:schemeClr val="bg1"/>
                </a:solidFill>
              </a:rPr>
              <a:t>Keys, foreign keys, transactions</a:t>
            </a:r>
            <a:endParaRPr lang="en-US" sz="1300" dirty="0"/>
          </a:p>
        </p:txBody>
      </p:sp>
      <p:sp>
        <p:nvSpPr>
          <p:cNvPr id="12" name="MongoDB card"/>
          <p:cNvSpPr/>
          <p:nvPr/>
        </p:nvSpPr>
        <p:spPr>
          <a:xfrm>
            <a:off x="8046720" y="3429000"/>
            <a:ext cx="3566160" cy="1783080"/>
          </a:xfrm>
          <a:prstGeom prst="roundRect">
            <a:avLst>
              <a:gd name="adj" fmla="val 4103"/>
            </a:avLst>
          </a:prstGeom>
          <a:solidFill>
            <a:schemeClr val="accent2"/>
          </a:solidFill>
          <a:ln w="12700">
            <a:solidFill>
              <a:schemeClr val="accent2"/>
            </a:solidFill>
            <a:prstDash val="solid"/>
          </a:ln>
        </p:spPr>
      </p:sp>
      <p:sp>
        <p:nvSpPr>
          <p:cNvPr id="13" name="Text 11"/>
          <p:cNvSpPr txBox="1"/>
          <p:nvPr/>
        </p:nvSpPr>
        <p:spPr>
          <a:xfrm>
            <a:off x="8229600" y="3566160"/>
            <a:ext cx="3200400" cy="457200"/>
          </a:xfrm>
          <a:prstGeom prst="rect">
            <a:avLst/>
          </a:prstGeom>
          <a:noFill/>
          <a:ln/>
        </p:spPr>
        <p:txBody>
          <a:bodyPr wrap="square" lIns="0" tIns="0" rIns="0" bIns="0" rtlCol="0" anchor="ctr"/>
          <a:lstStyle/>
          <a:p>
            <a:pPr indent="0" marL="0">
              <a:buNone/>
            </a:pPr>
            <a:r>
              <a:rPr lang="en-US" sz="1800" b="1" dirty="0">
                <a:solidFill>
                  <a:schemeClr val="tx1"/>
                </a:solidFill>
              </a:rPr>
              <a:t>MongoDB</a:t>
            </a:r>
            <a:endParaRPr lang="en-US" sz="1800" dirty="0"/>
          </a:p>
        </p:txBody>
      </p:sp>
      <p:sp>
        <p:nvSpPr>
          <p:cNvPr id="14" name="Text 12"/>
          <p:cNvSpPr txBox="1"/>
          <p:nvPr/>
        </p:nvSpPr>
        <p:spPr>
          <a:xfrm>
            <a:off x="8229600" y="4023360"/>
            <a:ext cx="3200400" cy="1097280"/>
          </a:xfrm>
          <a:prstGeom prst="rect">
            <a:avLst/>
          </a:prstGeom>
          <a:noFill/>
          <a:ln/>
        </p:spPr>
        <p:txBody>
          <a:bodyPr wrap="square" lIns="0" tIns="0" rIns="0" bIns="0" rtlCol="0" anchor="t"/>
          <a:lstStyle/>
          <a:p>
            <a:pPr indent="0" marL="0">
              <a:buNone/>
            </a:pPr>
            <a:r>
              <a:rPr lang="en-US" sz="1300" dirty="0">
                <a:solidFill>
                  <a:schemeClr val="tx1"/>
                </a:solidFill>
              </a:rPr>
              <a:t>Visitor log, notices, feedback, complaint timeline</a:t>
            </a:r>
            <a:endParaRPr lang="en-US" sz="1300" dirty="0"/>
          </a:p>
          <a:p>
            <a:pPr indent="0" marL="0">
              <a:buNone/>
            </a:pPr>
            <a:r>
              <a:rPr lang="en-US" sz="1300" dirty="0">
                <a:solidFill>
                  <a:schemeClr val="tx1"/>
                </a:solidFill>
              </a:rPr>
              <a:t>Flexible documents, append-heavy</a:t>
            </a:r>
            <a:endParaRPr lang="en-US" sz="1300" dirty="0"/>
          </a:p>
        </p:txBody>
      </p:sp>
      <p:sp>
        <p:nvSpPr>
          <p:cNvPr id="15" name="Arrow browser to server"/>
          <p:cNvSpPr/>
          <p:nvPr/>
        </p:nvSpPr>
        <p:spPr>
          <a:xfrm>
            <a:off x="2926080" y="2926080"/>
            <a:ext cx="1005840" cy="0"/>
          </a:xfrm>
          <a:prstGeom prst="line">
            <a:avLst/>
          </a:prstGeom>
          <a:noFill/>
          <a:ln w="25400">
            <a:solidFill>
              <a:schemeClr val="accent6"/>
            </a:solidFill>
            <a:prstDash val="solid"/>
            <a:tailEnd type="triangle"/>
          </a:ln>
        </p:spPr>
      </p:sp>
      <p:sp>
        <p:nvSpPr>
          <p:cNvPr id="16" name="Arrow to MySQL"/>
          <p:cNvSpPr/>
          <p:nvPr/>
        </p:nvSpPr>
        <p:spPr>
          <a:xfrm flipV="1">
            <a:off x="7040880" y="2194560"/>
            <a:ext cx="1005840" cy="457200"/>
          </a:xfrm>
          <a:prstGeom prst="line">
            <a:avLst/>
          </a:prstGeom>
          <a:noFill/>
          <a:ln w="25400">
            <a:solidFill>
              <a:schemeClr val="accent1"/>
            </a:solidFill>
            <a:prstDash val="solid"/>
            <a:tailEnd type="triangle"/>
          </a:ln>
        </p:spPr>
      </p:sp>
      <p:sp>
        <p:nvSpPr>
          <p:cNvPr id="17" name="Arrow to MongoDB"/>
          <p:cNvSpPr/>
          <p:nvPr/>
        </p:nvSpPr>
        <p:spPr>
          <a:xfrm>
            <a:off x="7040880" y="3200400"/>
            <a:ext cx="1005840" cy="1097280"/>
          </a:xfrm>
          <a:prstGeom prst="line">
            <a:avLst/>
          </a:prstGeom>
          <a:noFill/>
          <a:ln w="25400">
            <a:solidFill>
              <a:schemeClr val="accent2"/>
            </a:solidFill>
            <a:prstDash val="solid"/>
            <a:tailEnd type="triangle"/>
          </a:ln>
        </p:spPr>
      </p:sp>
      <p:sp>
        <p:nvSpPr>
          <p:cNvPr id="18" name="Cross-database note"/>
          <p:cNvSpPr txBox="1"/>
          <p:nvPr/>
        </p:nvSpPr>
        <p:spPr>
          <a:xfrm>
            <a:off x="548640" y="5486400"/>
            <a:ext cx="11064240" cy="548640"/>
          </a:xfrm>
          <a:prstGeom prst="rect">
            <a:avLst/>
          </a:prstGeom>
          <a:noFill/>
          <a:ln/>
        </p:spPr>
        <p:txBody>
          <a:bodyPr wrap="square" lIns="0" tIns="0" rIns="0" bIns="0" rtlCol="0" anchor="ctr"/>
          <a:lstStyle/>
          <a:p>
            <a:pPr indent="0" marL="0">
              <a:buNone/>
            </a:pPr>
            <a:r>
              <a:rPr lang="en-US" sz="1500" i="1" dirty="0">
                <a:solidFill>
                  <a:schemeClr val="tx1"/>
                </a:solidFill>
              </a:rPr>
              <a:t>MongoDB documents point to MySQL rows by integer id (apartmentId, residentId, complaintId). Nothing is copied between the two.</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ER diagram</a:t>
            </a:r>
            <a:endParaRPr lang="en-US" sz="3200" dirty="0"/>
          </a:p>
        </p:txBody>
      </p:sp>
      <p:sp>
        <p:nvSpPr>
          <p:cNvPr id="3" name="AccountRequest entity"/>
          <p:cNvSpPr/>
          <p:nvPr/>
        </p:nvSpPr>
        <p:spPr>
          <a:xfrm>
            <a:off x="3429000" y="1143000"/>
            <a:ext cx="2331720" cy="1371600"/>
          </a:xfrm>
          <a:prstGeom prst="rect">
            <a:avLst/>
          </a:prstGeom>
          <a:solidFill>
            <a:schemeClr val="bg1"/>
          </a:solidFill>
          <a:ln w="15875">
            <a:solidFill>
              <a:schemeClr val="accent1"/>
            </a:solidFill>
            <a:prstDash val="solid"/>
          </a:ln>
        </p:spPr>
      </p:sp>
      <p:sp>
        <p:nvSpPr>
          <p:cNvPr id="4" name="AccountRequest header"/>
          <p:cNvSpPr/>
          <p:nvPr/>
        </p:nvSpPr>
        <p:spPr>
          <a:xfrm>
            <a:off x="3429000" y="1143000"/>
            <a:ext cx="2331720" cy="329184"/>
          </a:xfrm>
          <a:prstGeom prst="rect">
            <a:avLst/>
          </a:prstGeom>
          <a:solidFill>
            <a:schemeClr val="accent1"/>
          </a:solidFill>
          <a:ln w="15875">
            <a:solidFill>
              <a:schemeClr val="accent1"/>
            </a:solidFill>
            <a:prstDash val="solid"/>
          </a:ln>
        </p:spPr>
      </p:sp>
      <p:sp>
        <p:nvSpPr>
          <p:cNvPr id="5" name="Text 3"/>
          <p:cNvSpPr txBox="1"/>
          <p:nvPr/>
        </p:nvSpPr>
        <p:spPr>
          <a:xfrm>
            <a:off x="3429000" y="1143000"/>
            <a:ext cx="2331720" cy="329184"/>
          </a:xfrm>
          <a:prstGeom prst="rect">
            <a:avLst/>
          </a:prstGeom>
          <a:noFill/>
          <a:ln/>
        </p:spPr>
        <p:txBody>
          <a:bodyPr wrap="square" lIns="0" tIns="0" rIns="0" bIns="0" rtlCol="0" anchor="ctr"/>
          <a:lstStyle/>
          <a:p>
            <a:pPr algn="ctr" indent="0" marL="0">
              <a:buNone/>
            </a:pPr>
            <a:r>
              <a:rPr lang="en-US" sz="1200" b="1" dirty="0">
                <a:solidFill>
                  <a:schemeClr val="bg1"/>
                </a:solidFill>
              </a:rPr>
              <a:t>AccountRequest</a:t>
            </a:r>
            <a:endParaRPr lang="en-US" sz="1200" dirty="0"/>
          </a:p>
        </p:txBody>
      </p:sp>
      <p:sp>
        <p:nvSpPr>
          <p:cNvPr id="6" name="AccountRequest attributes"/>
          <p:cNvSpPr txBox="1"/>
          <p:nvPr/>
        </p:nvSpPr>
        <p:spPr>
          <a:xfrm>
            <a:off x="3520440" y="1527048"/>
            <a:ext cx="2148840" cy="932688"/>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dirty="0">
                <a:solidFill>
                  <a:schemeClr val="tx1"/>
                </a:solidFill>
              </a:rPr>
              <a:t>request_id</a:t>
            </a:r>
            <a:endParaRPr lang="en-US" sz="1050" dirty="0"/>
          </a:p>
          <a:p>
            <a:pPr indent="0" marL="0">
              <a:spcAft>
                <a:spcPts val="100"/>
              </a:spcAft>
              <a:buNone/>
            </a:pPr>
            <a:r>
              <a:rPr lang="en-US" sz="1050" b="1" dirty="0">
                <a:solidFill>
                  <a:schemeClr val="accent5"/>
                </a:solidFill>
              </a:rPr>
              <a:t>FK </a:t>
            </a:r>
            <a:pPr indent="0" marL="0">
              <a:spcAft>
                <a:spcPts val="100"/>
              </a:spcAft>
              <a:buNone/>
            </a:pPr>
            <a:r>
              <a:rPr lang="en-US" sz="1050" dirty="0">
                <a:solidFill>
                  <a:schemeClr val="tx1"/>
                </a:solidFill>
              </a:rPr>
              <a:t>created_account_id</a:t>
            </a:r>
            <a:endParaRPr lang="en-US" sz="1050" dirty="0"/>
          </a:p>
          <a:p>
            <a:pPr indent="0" marL="0">
              <a:spcAft>
                <a:spcPts val="100"/>
              </a:spcAft>
              <a:buNone/>
            </a:pPr>
            <a:r>
              <a:rPr lang="en-US" sz="1050" dirty="0">
                <a:solidFill>
                  <a:schemeClr val="tx1"/>
                </a:solidFill>
              </a:rPr>
              <a:t>username, email</a:t>
            </a:r>
            <a:endParaRPr lang="en-US" sz="1050" dirty="0"/>
          </a:p>
          <a:p>
            <a:pPr indent="0" marL="0">
              <a:spcAft>
                <a:spcPts val="100"/>
              </a:spcAft>
              <a:buNone/>
            </a:pPr>
            <a:r>
              <a:rPr lang="en-US" sz="1050" dirty="0">
                <a:solidFill>
                  <a:schemeClr val="tx1"/>
                </a:solidFill>
              </a:rPr>
              <a:t>status, reviewed_at</a:t>
            </a:r>
            <a:endParaRPr lang="en-US" sz="1050" dirty="0"/>
          </a:p>
        </p:txBody>
      </p:sp>
      <p:sp>
        <p:nvSpPr>
          <p:cNvPr id="7" name="UserAccount entity"/>
          <p:cNvSpPr/>
          <p:nvPr/>
        </p:nvSpPr>
        <p:spPr>
          <a:xfrm>
            <a:off x="6446520" y="1143000"/>
            <a:ext cx="2331720" cy="1371600"/>
          </a:xfrm>
          <a:prstGeom prst="rect">
            <a:avLst/>
          </a:prstGeom>
          <a:solidFill>
            <a:schemeClr val="bg1"/>
          </a:solidFill>
          <a:ln w="15875">
            <a:solidFill>
              <a:schemeClr val="accent1"/>
            </a:solidFill>
            <a:prstDash val="solid"/>
          </a:ln>
        </p:spPr>
      </p:sp>
      <p:sp>
        <p:nvSpPr>
          <p:cNvPr id="8" name="UserAccount header"/>
          <p:cNvSpPr/>
          <p:nvPr/>
        </p:nvSpPr>
        <p:spPr>
          <a:xfrm>
            <a:off x="6446520" y="1143000"/>
            <a:ext cx="2331720" cy="329184"/>
          </a:xfrm>
          <a:prstGeom prst="rect">
            <a:avLst/>
          </a:prstGeom>
          <a:solidFill>
            <a:schemeClr val="accent1"/>
          </a:solidFill>
          <a:ln w="15875">
            <a:solidFill>
              <a:schemeClr val="accent1"/>
            </a:solidFill>
            <a:prstDash val="solid"/>
          </a:ln>
        </p:spPr>
      </p:sp>
      <p:sp>
        <p:nvSpPr>
          <p:cNvPr id="9" name="Text 7"/>
          <p:cNvSpPr txBox="1"/>
          <p:nvPr/>
        </p:nvSpPr>
        <p:spPr>
          <a:xfrm>
            <a:off x="6446520" y="1143000"/>
            <a:ext cx="2331720" cy="329184"/>
          </a:xfrm>
          <a:prstGeom prst="rect">
            <a:avLst/>
          </a:prstGeom>
          <a:noFill/>
          <a:ln/>
        </p:spPr>
        <p:txBody>
          <a:bodyPr wrap="square" lIns="0" tIns="0" rIns="0" bIns="0" rtlCol="0" anchor="ctr"/>
          <a:lstStyle/>
          <a:p>
            <a:pPr algn="ctr" indent="0" marL="0">
              <a:buNone/>
            </a:pPr>
            <a:r>
              <a:rPr lang="en-US" sz="1200" b="1" dirty="0">
                <a:solidFill>
                  <a:schemeClr val="bg1"/>
                </a:solidFill>
              </a:rPr>
              <a:t>UserAccount</a:t>
            </a:r>
            <a:endParaRPr lang="en-US" sz="1200" dirty="0"/>
          </a:p>
        </p:txBody>
      </p:sp>
      <p:sp>
        <p:nvSpPr>
          <p:cNvPr id="10" name="UserAccount attributes"/>
          <p:cNvSpPr txBox="1"/>
          <p:nvPr/>
        </p:nvSpPr>
        <p:spPr>
          <a:xfrm>
            <a:off x="6537960" y="1527048"/>
            <a:ext cx="2148840" cy="932688"/>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dirty="0">
                <a:solidFill>
                  <a:schemeClr val="tx1"/>
                </a:solidFill>
              </a:rPr>
              <a:t>user_id</a:t>
            </a:r>
            <a:endParaRPr lang="en-US" sz="1050" dirty="0"/>
          </a:p>
          <a:p>
            <a:pPr indent="0" marL="0">
              <a:spcAft>
                <a:spcPts val="100"/>
              </a:spcAft>
              <a:buNone/>
            </a:pPr>
            <a:r>
              <a:rPr lang="en-US" sz="1050" b="1" dirty="0">
                <a:solidFill>
                  <a:schemeClr val="accent1"/>
                </a:solidFill>
              </a:rPr>
              <a:t>UK </a:t>
            </a:r>
            <a:pPr indent="0" marL="0">
              <a:spcAft>
                <a:spcPts val="100"/>
              </a:spcAft>
              <a:buNone/>
            </a:pPr>
            <a:r>
              <a:rPr lang="en-US" sz="1050" dirty="0">
                <a:solidFill>
                  <a:schemeClr val="tx1"/>
                </a:solidFill>
              </a:rPr>
              <a:t>username, UK email</a:t>
            </a:r>
            <a:endParaRPr lang="en-US" sz="1050" dirty="0"/>
          </a:p>
          <a:p>
            <a:pPr indent="0" marL="0">
              <a:spcAft>
                <a:spcPts val="100"/>
              </a:spcAft>
              <a:buNone/>
            </a:pPr>
            <a:r>
              <a:rPr lang="en-US" sz="1050" b="1" dirty="0">
                <a:solidFill>
                  <a:schemeClr val="accent5"/>
                </a:solidFill>
              </a:rPr>
              <a:t>FK </a:t>
            </a:r>
            <a:pPr indent="0" marL="0">
              <a:spcAft>
                <a:spcPts val="100"/>
              </a:spcAft>
              <a:buNone/>
            </a:pPr>
            <a:r>
              <a:rPr lang="en-US" sz="1050" dirty="0">
                <a:solidFill>
                  <a:schemeClr val="tx1"/>
                </a:solidFill>
              </a:rPr>
              <a:t>staff_id</a:t>
            </a:r>
            <a:endParaRPr lang="en-US" sz="1050" dirty="0"/>
          </a:p>
          <a:p>
            <a:pPr indent="0" marL="0">
              <a:spcAft>
                <a:spcPts val="100"/>
              </a:spcAft>
              <a:buNone/>
            </a:pPr>
            <a:r>
              <a:rPr lang="en-US" sz="1050" dirty="0">
                <a:solidFill>
                  <a:schemeClr val="tx1"/>
                </a:solidFill>
              </a:rPr>
              <a:t>password_hash, role</a:t>
            </a:r>
            <a:endParaRPr lang="en-US" sz="1050" dirty="0"/>
          </a:p>
        </p:txBody>
      </p:sp>
      <p:sp>
        <p:nvSpPr>
          <p:cNvPr id="11" name="Staff entity"/>
          <p:cNvSpPr/>
          <p:nvPr/>
        </p:nvSpPr>
        <p:spPr>
          <a:xfrm>
            <a:off x="9464040" y="1143000"/>
            <a:ext cx="2331720" cy="1371600"/>
          </a:xfrm>
          <a:prstGeom prst="rect">
            <a:avLst/>
          </a:prstGeom>
          <a:solidFill>
            <a:schemeClr val="bg1"/>
          </a:solidFill>
          <a:ln w="15875">
            <a:solidFill>
              <a:schemeClr val="accent1"/>
            </a:solidFill>
            <a:prstDash val="solid"/>
          </a:ln>
        </p:spPr>
      </p:sp>
      <p:sp>
        <p:nvSpPr>
          <p:cNvPr id="12" name="Staff header"/>
          <p:cNvSpPr/>
          <p:nvPr/>
        </p:nvSpPr>
        <p:spPr>
          <a:xfrm>
            <a:off x="9464040" y="1143000"/>
            <a:ext cx="2331720" cy="329184"/>
          </a:xfrm>
          <a:prstGeom prst="rect">
            <a:avLst/>
          </a:prstGeom>
          <a:solidFill>
            <a:schemeClr val="accent1"/>
          </a:solidFill>
          <a:ln w="15875">
            <a:solidFill>
              <a:schemeClr val="accent1"/>
            </a:solidFill>
            <a:prstDash val="solid"/>
          </a:ln>
        </p:spPr>
      </p:sp>
      <p:sp>
        <p:nvSpPr>
          <p:cNvPr id="13" name="Text 11"/>
          <p:cNvSpPr txBox="1"/>
          <p:nvPr/>
        </p:nvSpPr>
        <p:spPr>
          <a:xfrm>
            <a:off x="9464040" y="1143000"/>
            <a:ext cx="2331720" cy="329184"/>
          </a:xfrm>
          <a:prstGeom prst="rect">
            <a:avLst/>
          </a:prstGeom>
          <a:noFill/>
          <a:ln/>
        </p:spPr>
        <p:txBody>
          <a:bodyPr wrap="square" lIns="0" tIns="0" rIns="0" bIns="0" rtlCol="0" anchor="ctr"/>
          <a:lstStyle/>
          <a:p>
            <a:pPr algn="ctr" indent="0" marL="0">
              <a:buNone/>
            </a:pPr>
            <a:r>
              <a:rPr lang="en-US" sz="1200" b="1" dirty="0">
                <a:solidFill>
                  <a:schemeClr val="bg1"/>
                </a:solidFill>
              </a:rPr>
              <a:t>Staff</a:t>
            </a:r>
            <a:endParaRPr lang="en-US" sz="1200" dirty="0"/>
          </a:p>
        </p:txBody>
      </p:sp>
      <p:sp>
        <p:nvSpPr>
          <p:cNvPr id="14" name="Staff attributes"/>
          <p:cNvSpPr txBox="1"/>
          <p:nvPr/>
        </p:nvSpPr>
        <p:spPr>
          <a:xfrm>
            <a:off x="9555480" y="1527048"/>
            <a:ext cx="2148840" cy="932688"/>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dirty="0">
                <a:solidFill>
                  <a:schemeClr val="tx1"/>
                </a:solidFill>
              </a:rPr>
              <a:t>staff_id</a:t>
            </a:r>
            <a:endParaRPr lang="en-US" sz="1050" dirty="0"/>
          </a:p>
          <a:p>
            <a:pPr indent="0" marL="0">
              <a:spcAft>
                <a:spcPts val="100"/>
              </a:spcAft>
              <a:buNone/>
            </a:pPr>
            <a:r>
              <a:rPr lang="en-US" sz="1050" b="1" dirty="0">
                <a:solidFill>
                  <a:schemeClr val="accent1"/>
                </a:solidFill>
              </a:rPr>
              <a:t>UK </a:t>
            </a:r>
            <a:pPr indent="0" marL="0">
              <a:spcAft>
                <a:spcPts val="100"/>
              </a:spcAft>
              <a:buNone/>
            </a:pPr>
            <a:r>
              <a:rPr lang="en-US" sz="1050" dirty="0">
                <a:solidFill>
                  <a:schemeClr val="tx1"/>
                </a:solidFill>
              </a:rPr>
              <a:t>phone</a:t>
            </a:r>
            <a:endParaRPr lang="en-US" sz="1050" dirty="0"/>
          </a:p>
          <a:p>
            <a:pPr indent="0" marL="0">
              <a:spcAft>
                <a:spcPts val="100"/>
              </a:spcAft>
              <a:buNone/>
            </a:pPr>
            <a:r>
              <a:rPr lang="en-US" sz="1050" dirty="0">
                <a:solidFill>
                  <a:schemeClr val="tx1"/>
                </a:solidFill>
              </a:rPr>
              <a:t>name, role</a:t>
            </a:r>
            <a:endParaRPr lang="en-US" sz="1050" dirty="0"/>
          </a:p>
          <a:p>
            <a:pPr indent="0" marL="0">
              <a:spcAft>
                <a:spcPts val="100"/>
              </a:spcAft>
              <a:buNone/>
            </a:pPr>
            <a:r>
              <a:rPr lang="en-US" sz="1050" dirty="0">
                <a:solidFill>
                  <a:schemeClr val="tx1"/>
                </a:solidFill>
              </a:rPr>
              <a:t>salary DECIMAL(10,2)</a:t>
            </a:r>
            <a:endParaRPr lang="en-US" sz="1050" dirty="0"/>
          </a:p>
        </p:txBody>
      </p:sp>
      <p:sp>
        <p:nvSpPr>
          <p:cNvPr id="15" name="MaintenancePayment entity"/>
          <p:cNvSpPr/>
          <p:nvPr/>
        </p:nvSpPr>
        <p:spPr>
          <a:xfrm>
            <a:off x="411480" y="3017520"/>
            <a:ext cx="2331720" cy="1371600"/>
          </a:xfrm>
          <a:prstGeom prst="rect">
            <a:avLst/>
          </a:prstGeom>
          <a:solidFill>
            <a:schemeClr val="bg1"/>
          </a:solidFill>
          <a:ln w="15875">
            <a:solidFill>
              <a:schemeClr val="accent1"/>
            </a:solidFill>
            <a:prstDash val="solid"/>
          </a:ln>
        </p:spPr>
      </p:sp>
      <p:sp>
        <p:nvSpPr>
          <p:cNvPr id="16" name="MaintenancePayment header"/>
          <p:cNvSpPr/>
          <p:nvPr/>
        </p:nvSpPr>
        <p:spPr>
          <a:xfrm>
            <a:off x="411480" y="3017520"/>
            <a:ext cx="2331720" cy="329184"/>
          </a:xfrm>
          <a:prstGeom prst="rect">
            <a:avLst/>
          </a:prstGeom>
          <a:solidFill>
            <a:schemeClr val="accent1"/>
          </a:solidFill>
          <a:ln w="15875">
            <a:solidFill>
              <a:schemeClr val="accent1"/>
            </a:solidFill>
            <a:prstDash val="solid"/>
          </a:ln>
        </p:spPr>
      </p:sp>
      <p:sp>
        <p:nvSpPr>
          <p:cNvPr id="17" name="Text 15"/>
          <p:cNvSpPr txBox="1"/>
          <p:nvPr/>
        </p:nvSpPr>
        <p:spPr>
          <a:xfrm>
            <a:off x="411480" y="3017520"/>
            <a:ext cx="2331720" cy="329184"/>
          </a:xfrm>
          <a:prstGeom prst="rect">
            <a:avLst/>
          </a:prstGeom>
          <a:noFill/>
          <a:ln/>
        </p:spPr>
        <p:txBody>
          <a:bodyPr wrap="square" lIns="0" tIns="0" rIns="0" bIns="0" rtlCol="0" anchor="ctr"/>
          <a:lstStyle/>
          <a:p>
            <a:pPr algn="ctr" indent="0" marL="0">
              <a:buNone/>
            </a:pPr>
            <a:r>
              <a:rPr lang="en-US" sz="1200" b="1" dirty="0">
                <a:solidFill>
                  <a:schemeClr val="bg1"/>
                </a:solidFill>
              </a:rPr>
              <a:t>MaintenancePayment</a:t>
            </a:r>
            <a:endParaRPr lang="en-US" sz="1200" dirty="0"/>
          </a:p>
        </p:txBody>
      </p:sp>
      <p:sp>
        <p:nvSpPr>
          <p:cNvPr id="18" name="MaintenancePayment attributes"/>
          <p:cNvSpPr txBox="1"/>
          <p:nvPr/>
        </p:nvSpPr>
        <p:spPr>
          <a:xfrm>
            <a:off x="502920" y="3401568"/>
            <a:ext cx="2148840" cy="932688"/>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dirty="0">
                <a:solidFill>
                  <a:schemeClr val="tx1"/>
                </a:solidFill>
              </a:rPr>
              <a:t>payment_id</a:t>
            </a:r>
            <a:endParaRPr lang="en-US" sz="1050" dirty="0"/>
          </a:p>
          <a:p>
            <a:pPr indent="0" marL="0">
              <a:spcAft>
                <a:spcPts val="100"/>
              </a:spcAft>
              <a:buNone/>
            </a:pPr>
            <a:r>
              <a:rPr lang="en-US" sz="1050" b="1" dirty="0">
                <a:solidFill>
                  <a:schemeClr val="accent5"/>
                </a:solidFill>
              </a:rPr>
              <a:t>FK </a:t>
            </a:r>
            <a:pPr indent="0" marL="0">
              <a:spcAft>
                <a:spcPts val="100"/>
              </a:spcAft>
              <a:buNone/>
            </a:pPr>
            <a:r>
              <a:rPr lang="en-US" sz="1050" dirty="0">
                <a:solidFill>
                  <a:schemeClr val="tx1"/>
                </a:solidFill>
              </a:rPr>
              <a:t>apartment_id</a:t>
            </a:r>
            <a:endParaRPr lang="en-US" sz="1050" dirty="0"/>
          </a:p>
          <a:p>
            <a:pPr indent="0" marL="0">
              <a:spcAft>
                <a:spcPts val="100"/>
              </a:spcAft>
              <a:buNone/>
            </a:pPr>
            <a:r>
              <a:rPr lang="en-US" sz="1050" b="1" dirty="0">
                <a:solidFill>
                  <a:schemeClr val="accent1"/>
                </a:solidFill>
              </a:rPr>
              <a:t>UK </a:t>
            </a:r>
            <a:pPr indent="0" marL="0">
              <a:spcAft>
                <a:spcPts val="100"/>
              </a:spcAft>
              <a:buNone/>
            </a:pPr>
            <a:r>
              <a:rPr lang="en-US" sz="1050" dirty="0">
                <a:solidFill>
                  <a:schemeClr val="tx1"/>
                </a:solidFill>
              </a:rPr>
              <a:t>(apartment_id, payment_month)</a:t>
            </a:r>
            <a:endParaRPr lang="en-US" sz="1050" dirty="0"/>
          </a:p>
          <a:p>
            <a:pPr indent="0" marL="0">
              <a:spcAft>
                <a:spcPts val="100"/>
              </a:spcAft>
              <a:buNone/>
            </a:pPr>
            <a:r>
              <a:rPr lang="en-US" sz="1050" dirty="0">
                <a:solidFill>
                  <a:schemeClr val="tx1"/>
                </a:solidFill>
              </a:rPr>
              <a:t>amount, status, payment_date</a:t>
            </a:r>
            <a:endParaRPr lang="en-US" sz="1050" dirty="0"/>
          </a:p>
        </p:txBody>
      </p:sp>
      <p:sp>
        <p:nvSpPr>
          <p:cNvPr id="19" name="Apartment entity"/>
          <p:cNvSpPr/>
          <p:nvPr/>
        </p:nvSpPr>
        <p:spPr>
          <a:xfrm>
            <a:off x="3429000" y="3017520"/>
            <a:ext cx="2331720" cy="1371600"/>
          </a:xfrm>
          <a:prstGeom prst="rect">
            <a:avLst/>
          </a:prstGeom>
          <a:solidFill>
            <a:schemeClr val="bg1"/>
          </a:solidFill>
          <a:ln w="15875">
            <a:solidFill>
              <a:schemeClr val="accent1"/>
            </a:solidFill>
            <a:prstDash val="solid"/>
          </a:ln>
        </p:spPr>
      </p:sp>
      <p:sp>
        <p:nvSpPr>
          <p:cNvPr id="20" name="Apartment header"/>
          <p:cNvSpPr/>
          <p:nvPr/>
        </p:nvSpPr>
        <p:spPr>
          <a:xfrm>
            <a:off x="3429000" y="3017520"/>
            <a:ext cx="2331720" cy="329184"/>
          </a:xfrm>
          <a:prstGeom prst="rect">
            <a:avLst/>
          </a:prstGeom>
          <a:solidFill>
            <a:schemeClr val="accent1"/>
          </a:solidFill>
          <a:ln w="15875">
            <a:solidFill>
              <a:schemeClr val="accent1"/>
            </a:solidFill>
            <a:prstDash val="solid"/>
          </a:ln>
        </p:spPr>
      </p:sp>
      <p:sp>
        <p:nvSpPr>
          <p:cNvPr id="21" name="Text 19"/>
          <p:cNvSpPr txBox="1"/>
          <p:nvPr/>
        </p:nvSpPr>
        <p:spPr>
          <a:xfrm>
            <a:off x="3429000" y="3017520"/>
            <a:ext cx="2331720" cy="329184"/>
          </a:xfrm>
          <a:prstGeom prst="rect">
            <a:avLst/>
          </a:prstGeom>
          <a:noFill/>
          <a:ln/>
        </p:spPr>
        <p:txBody>
          <a:bodyPr wrap="square" lIns="0" tIns="0" rIns="0" bIns="0" rtlCol="0" anchor="ctr"/>
          <a:lstStyle/>
          <a:p>
            <a:pPr algn="ctr" indent="0" marL="0">
              <a:buNone/>
            </a:pPr>
            <a:r>
              <a:rPr lang="en-US" sz="1200" b="1" dirty="0">
                <a:solidFill>
                  <a:schemeClr val="bg1"/>
                </a:solidFill>
              </a:rPr>
              <a:t>Apartment</a:t>
            </a:r>
            <a:endParaRPr lang="en-US" sz="1200" dirty="0"/>
          </a:p>
        </p:txBody>
      </p:sp>
      <p:sp>
        <p:nvSpPr>
          <p:cNvPr id="22" name="Apartment attributes"/>
          <p:cNvSpPr txBox="1"/>
          <p:nvPr/>
        </p:nvSpPr>
        <p:spPr>
          <a:xfrm>
            <a:off x="3520440" y="3401568"/>
            <a:ext cx="2148840" cy="932688"/>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dirty="0">
                <a:solidFill>
                  <a:schemeClr val="tx1"/>
                </a:solidFill>
              </a:rPr>
              <a:t>apartment_id</a:t>
            </a:r>
            <a:endParaRPr lang="en-US" sz="1050" dirty="0"/>
          </a:p>
          <a:p>
            <a:pPr indent="0" marL="0">
              <a:spcAft>
                <a:spcPts val="100"/>
              </a:spcAft>
              <a:buNone/>
            </a:pPr>
            <a:r>
              <a:rPr lang="en-US" sz="1050" b="1" dirty="0">
                <a:solidFill>
                  <a:schemeClr val="accent1"/>
                </a:solidFill>
              </a:rPr>
              <a:t>UK </a:t>
            </a:r>
            <a:pPr indent="0" marL="0">
              <a:spcAft>
                <a:spcPts val="100"/>
              </a:spcAft>
              <a:buNone/>
            </a:pPr>
            <a:r>
              <a:rPr lang="en-US" sz="1050" dirty="0">
                <a:solidFill>
                  <a:schemeClr val="tx1"/>
                </a:solidFill>
              </a:rPr>
              <a:t>(block, flat_no)</a:t>
            </a:r>
            <a:endParaRPr lang="en-US" sz="1050" dirty="0"/>
          </a:p>
          <a:p>
            <a:pPr indent="0" marL="0">
              <a:spcAft>
                <a:spcPts val="100"/>
              </a:spcAft>
              <a:buNone/>
            </a:pPr>
            <a:r>
              <a:rPr lang="en-US" sz="1050" dirty="0">
                <a:solidFill>
                  <a:schemeClr val="tx1"/>
                </a:solidFill>
              </a:rPr>
              <a:t>floor_no</a:t>
            </a:r>
            <a:endParaRPr lang="en-US" sz="1050" dirty="0"/>
          </a:p>
          <a:p>
            <a:pPr indent="0" marL="0">
              <a:spcAft>
                <a:spcPts val="100"/>
              </a:spcAft>
              <a:buNone/>
            </a:pPr>
            <a:r>
              <a:rPr lang="en-US" sz="1050" dirty="0">
                <a:solidFill>
                  <a:schemeClr val="tx1"/>
                </a:solidFill>
              </a:rPr>
              <a:t>bhk</a:t>
            </a:r>
            <a:endParaRPr lang="en-US" sz="1050" dirty="0"/>
          </a:p>
        </p:txBody>
      </p:sp>
      <p:sp>
        <p:nvSpPr>
          <p:cNvPr id="23" name="Resident entity"/>
          <p:cNvSpPr/>
          <p:nvPr/>
        </p:nvSpPr>
        <p:spPr>
          <a:xfrm>
            <a:off x="6446520" y="3017520"/>
            <a:ext cx="2331720" cy="1371600"/>
          </a:xfrm>
          <a:prstGeom prst="rect">
            <a:avLst/>
          </a:prstGeom>
          <a:solidFill>
            <a:schemeClr val="bg1"/>
          </a:solidFill>
          <a:ln w="15875">
            <a:solidFill>
              <a:schemeClr val="accent1"/>
            </a:solidFill>
            <a:prstDash val="solid"/>
          </a:ln>
        </p:spPr>
      </p:sp>
      <p:sp>
        <p:nvSpPr>
          <p:cNvPr id="24" name="Resident header"/>
          <p:cNvSpPr/>
          <p:nvPr/>
        </p:nvSpPr>
        <p:spPr>
          <a:xfrm>
            <a:off x="6446520" y="3017520"/>
            <a:ext cx="2331720" cy="329184"/>
          </a:xfrm>
          <a:prstGeom prst="rect">
            <a:avLst/>
          </a:prstGeom>
          <a:solidFill>
            <a:schemeClr val="accent1"/>
          </a:solidFill>
          <a:ln w="15875">
            <a:solidFill>
              <a:schemeClr val="accent1"/>
            </a:solidFill>
            <a:prstDash val="solid"/>
          </a:ln>
        </p:spPr>
      </p:sp>
      <p:sp>
        <p:nvSpPr>
          <p:cNvPr id="25" name="Text 23"/>
          <p:cNvSpPr txBox="1"/>
          <p:nvPr/>
        </p:nvSpPr>
        <p:spPr>
          <a:xfrm>
            <a:off x="6446520" y="3017520"/>
            <a:ext cx="2331720" cy="329184"/>
          </a:xfrm>
          <a:prstGeom prst="rect">
            <a:avLst/>
          </a:prstGeom>
          <a:noFill/>
          <a:ln/>
        </p:spPr>
        <p:txBody>
          <a:bodyPr wrap="square" lIns="0" tIns="0" rIns="0" bIns="0" rtlCol="0" anchor="ctr"/>
          <a:lstStyle/>
          <a:p>
            <a:pPr algn="ctr" indent="0" marL="0">
              <a:buNone/>
            </a:pPr>
            <a:r>
              <a:rPr lang="en-US" sz="1200" b="1" dirty="0">
                <a:solidFill>
                  <a:schemeClr val="bg1"/>
                </a:solidFill>
              </a:rPr>
              <a:t>Resident</a:t>
            </a:r>
            <a:endParaRPr lang="en-US" sz="1200" dirty="0"/>
          </a:p>
        </p:txBody>
      </p:sp>
      <p:sp>
        <p:nvSpPr>
          <p:cNvPr id="26" name="Resident attributes"/>
          <p:cNvSpPr txBox="1"/>
          <p:nvPr/>
        </p:nvSpPr>
        <p:spPr>
          <a:xfrm>
            <a:off x="6537960" y="3401568"/>
            <a:ext cx="2148840" cy="932688"/>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dirty="0">
                <a:solidFill>
                  <a:schemeClr val="tx1"/>
                </a:solidFill>
              </a:rPr>
              <a:t>resident_id</a:t>
            </a:r>
            <a:endParaRPr lang="en-US" sz="1050" dirty="0"/>
          </a:p>
          <a:p>
            <a:pPr indent="0" marL="0">
              <a:spcAft>
                <a:spcPts val="100"/>
              </a:spcAft>
              <a:buNone/>
            </a:pPr>
            <a:r>
              <a:rPr lang="en-US" sz="1050" b="1" dirty="0">
                <a:solidFill>
                  <a:schemeClr val="accent5"/>
                </a:solidFill>
              </a:rPr>
              <a:t>FK </a:t>
            </a:r>
            <a:pPr indent="0" marL="0">
              <a:spcAft>
                <a:spcPts val="100"/>
              </a:spcAft>
              <a:buNone/>
            </a:pPr>
            <a:r>
              <a:rPr lang="en-US" sz="1050" dirty="0">
                <a:solidFill>
                  <a:schemeClr val="tx1"/>
                </a:solidFill>
              </a:rPr>
              <a:t>apartment_id</a:t>
            </a:r>
            <a:endParaRPr lang="en-US" sz="1050" dirty="0"/>
          </a:p>
          <a:p>
            <a:pPr indent="0" marL="0">
              <a:spcAft>
                <a:spcPts val="100"/>
              </a:spcAft>
              <a:buNone/>
            </a:pPr>
            <a:r>
              <a:rPr lang="en-US" sz="1050" b="1" dirty="0">
                <a:solidFill>
                  <a:schemeClr val="accent5"/>
                </a:solidFill>
              </a:rPr>
              <a:t>FK </a:t>
            </a:r>
            <a:pPr indent="0" marL="0">
              <a:spcAft>
                <a:spcPts val="100"/>
              </a:spcAft>
              <a:buNone/>
            </a:pPr>
            <a:r>
              <a:rPr lang="en-US" sz="1050" dirty="0">
                <a:solidFill>
                  <a:schemeClr val="tx1"/>
                </a:solidFill>
              </a:rPr>
              <a:t>account_id</a:t>
            </a:r>
            <a:endParaRPr lang="en-US" sz="1050" dirty="0"/>
          </a:p>
          <a:p>
            <a:pPr indent="0" marL="0">
              <a:spcAft>
                <a:spcPts val="100"/>
              </a:spcAft>
              <a:buNone/>
            </a:pPr>
            <a:r>
              <a:rPr lang="en-US" sz="1050" dirty="0">
                <a:solidFill>
                  <a:schemeClr val="tx1"/>
                </a:solidFill>
              </a:rPr>
              <a:t>name, phone, resident_type</a:t>
            </a:r>
            <a:endParaRPr lang="en-US" sz="1050" dirty="0"/>
          </a:p>
        </p:txBody>
      </p:sp>
      <p:sp>
        <p:nvSpPr>
          <p:cNvPr id="27" name="Complaint entity"/>
          <p:cNvSpPr/>
          <p:nvPr/>
        </p:nvSpPr>
        <p:spPr>
          <a:xfrm>
            <a:off x="9464040" y="3017520"/>
            <a:ext cx="2331720" cy="1371600"/>
          </a:xfrm>
          <a:prstGeom prst="rect">
            <a:avLst/>
          </a:prstGeom>
          <a:solidFill>
            <a:schemeClr val="bg1"/>
          </a:solidFill>
          <a:ln w="15875">
            <a:solidFill>
              <a:schemeClr val="accent1"/>
            </a:solidFill>
            <a:prstDash val="solid"/>
          </a:ln>
        </p:spPr>
      </p:sp>
      <p:sp>
        <p:nvSpPr>
          <p:cNvPr id="28" name="Complaint header"/>
          <p:cNvSpPr/>
          <p:nvPr/>
        </p:nvSpPr>
        <p:spPr>
          <a:xfrm>
            <a:off x="9464040" y="3017520"/>
            <a:ext cx="2331720" cy="329184"/>
          </a:xfrm>
          <a:prstGeom prst="rect">
            <a:avLst/>
          </a:prstGeom>
          <a:solidFill>
            <a:schemeClr val="accent1"/>
          </a:solidFill>
          <a:ln w="15875">
            <a:solidFill>
              <a:schemeClr val="accent1"/>
            </a:solidFill>
            <a:prstDash val="solid"/>
          </a:ln>
        </p:spPr>
      </p:sp>
      <p:sp>
        <p:nvSpPr>
          <p:cNvPr id="29" name="Text 27"/>
          <p:cNvSpPr txBox="1"/>
          <p:nvPr/>
        </p:nvSpPr>
        <p:spPr>
          <a:xfrm>
            <a:off x="9464040" y="3017520"/>
            <a:ext cx="2331720" cy="329184"/>
          </a:xfrm>
          <a:prstGeom prst="rect">
            <a:avLst/>
          </a:prstGeom>
          <a:noFill/>
          <a:ln/>
        </p:spPr>
        <p:txBody>
          <a:bodyPr wrap="square" lIns="0" tIns="0" rIns="0" bIns="0" rtlCol="0" anchor="ctr"/>
          <a:lstStyle/>
          <a:p>
            <a:pPr algn="ctr" indent="0" marL="0">
              <a:buNone/>
            </a:pPr>
            <a:r>
              <a:rPr lang="en-US" sz="1200" b="1" dirty="0">
                <a:solidFill>
                  <a:schemeClr val="bg1"/>
                </a:solidFill>
              </a:rPr>
              <a:t>Complaint</a:t>
            </a:r>
            <a:endParaRPr lang="en-US" sz="1200" dirty="0"/>
          </a:p>
        </p:txBody>
      </p:sp>
      <p:sp>
        <p:nvSpPr>
          <p:cNvPr id="30" name="Complaint attributes"/>
          <p:cNvSpPr txBox="1"/>
          <p:nvPr/>
        </p:nvSpPr>
        <p:spPr>
          <a:xfrm>
            <a:off x="9555480" y="3401568"/>
            <a:ext cx="2148840" cy="932688"/>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dirty="0">
                <a:solidFill>
                  <a:schemeClr val="tx1"/>
                </a:solidFill>
              </a:rPr>
              <a:t>complaint_id</a:t>
            </a:r>
            <a:endParaRPr lang="en-US" sz="1050" dirty="0"/>
          </a:p>
          <a:p>
            <a:pPr indent="0" marL="0">
              <a:spcAft>
                <a:spcPts val="100"/>
              </a:spcAft>
              <a:buNone/>
            </a:pPr>
            <a:r>
              <a:rPr lang="en-US" sz="1050" b="1" dirty="0">
                <a:solidFill>
                  <a:schemeClr val="accent5"/>
                </a:solidFill>
              </a:rPr>
              <a:t>FK </a:t>
            </a:r>
            <a:pPr indent="0" marL="0">
              <a:spcAft>
                <a:spcPts val="100"/>
              </a:spcAft>
              <a:buNone/>
            </a:pPr>
            <a:r>
              <a:rPr lang="en-US" sz="1050" dirty="0">
                <a:solidFill>
                  <a:schemeClr val="tx1"/>
                </a:solidFill>
              </a:rPr>
              <a:t>resident_id</a:t>
            </a:r>
            <a:endParaRPr lang="en-US" sz="1050" dirty="0"/>
          </a:p>
          <a:p>
            <a:pPr indent="0" marL="0">
              <a:spcAft>
                <a:spcPts val="100"/>
              </a:spcAft>
              <a:buNone/>
            </a:pPr>
            <a:r>
              <a:rPr lang="en-US" sz="1050" b="1" dirty="0">
                <a:solidFill>
                  <a:schemeClr val="accent5"/>
                </a:solidFill>
              </a:rPr>
              <a:t>FK </a:t>
            </a:r>
            <a:pPr indent="0" marL="0">
              <a:spcAft>
                <a:spcPts val="100"/>
              </a:spcAft>
              <a:buNone/>
            </a:pPr>
            <a:r>
              <a:rPr lang="en-US" sz="1050" dirty="0">
                <a:solidFill>
                  <a:schemeClr val="tx1"/>
                </a:solidFill>
              </a:rPr>
              <a:t>staff_id (nullable)</a:t>
            </a:r>
            <a:endParaRPr lang="en-US" sz="1050" dirty="0"/>
          </a:p>
          <a:p>
            <a:pPr indent="0" marL="0">
              <a:spcAft>
                <a:spcPts val="100"/>
              </a:spcAft>
              <a:buNone/>
            </a:pPr>
            <a:r>
              <a:rPr lang="en-US" sz="1050" dirty="0">
                <a:solidFill>
                  <a:schemeClr val="tx1"/>
                </a:solidFill>
              </a:rPr>
              <a:t>category, status, date</a:t>
            </a:r>
            <a:endParaRPr lang="en-US" sz="1050" dirty="0"/>
          </a:p>
        </p:txBody>
      </p:sp>
      <p:sp>
        <p:nvSpPr>
          <p:cNvPr id="31" name="ParkingSpace entity"/>
          <p:cNvSpPr/>
          <p:nvPr/>
        </p:nvSpPr>
        <p:spPr>
          <a:xfrm>
            <a:off x="3429000" y="4892040"/>
            <a:ext cx="2331720" cy="1371600"/>
          </a:xfrm>
          <a:prstGeom prst="rect">
            <a:avLst/>
          </a:prstGeom>
          <a:solidFill>
            <a:schemeClr val="bg1"/>
          </a:solidFill>
          <a:ln w="15875">
            <a:solidFill>
              <a:schemeClr val="accent1"/>
            </a:solidFill>
            <a:prstDash val="solid"/>
          </a:ln>
        </p:spPr>
      </p:sp>
      <p:sp>
        <p:nvSpPr>
          <p:cNvPr id="32" name="ParkingSpace header"/>
          <p:cNvSpPr/>
          <p:nvPr/>
        </p:nvSpPr>
        <p:spPr>
          <a:xfrm>
            <a:off x="3429000" y="4892040"/>
            <a:ext cx="2331720" cy="329184"/>
          </a:xfrm>
          <a:prstGeom prst="rect">
            <a:avLst/>
          </a:prstGeom>
          <a:solidFill>
            <a:schemeClr val="accent1"/>
          </a:solidFill>
          <a:ln w="15875">
            <a:solidFill>
              <a:schemeClr val="accent1"/>
            </a:solidFill>
            <a:prstDash val="solid"/>
          </a:ln>
        </p:spPr>
      </p:sp>
      <p:sp>
        <p:nvSpPr>
          <p:cNvPr id="33" name="Text 31"/>
          <p:cNvSpPr txBox="1"/>
          <p:nvPr/>
        </p:nvSpPr>
        <p:spPr>
          <a:xfrm>
            <a:off x="3429000" y="4892040"/>
            <a:ext cx="2331720" cy="329184"/>
          </a:xfrm>
          <a:prstGeom prst="rect">
            <a:avLst/>
          </a:prstGeom>
          <a:noFill/>
          <a:ln/>
        </p:spPr>
        <p:txBody>
          <a:bodyPr wrap="square" lIns="0" tIns="0" rIns="0" bIns="0" rtlCol="0" anchor="ctr"/>
          <a:lstStyle/>
          <a:p>
            <a:pPr algn="ctr" indent="0" marL="0">
              <a:buNone/>
            </a:pPr>
            <a:r>
              <a:rPr lang="en-US" sz="1200" b="1" dirty="0">
                <a:solidFill>
                  <a:schemeClr val="bg1"/>
                </a:solidFill>
              </a:rPr>
              <a:t>ParkingSpace</a:t>
            </a:r>
            <a:endParaRPr lang="en-US" sz="1200" dirty="0"/>
          </a:p>
        </p:txBody>
      </p:sp>
      <p:sp>
        <p:nvSpPr>
          <p:cNvPr id="34" name="ParkingSpace attributes"/>
          <p:cNvSpPr txBox="1"/>
          <p:nvPr/>
        </p:nvSpPr>
        <p:spPr>
          <a:xfrm>
            <a:off x="3520440" y="5276088"/>
            <a:ext cx="2148840" cy="932688"/>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dirty="0">
                <a:solidFill>
                  <a:schemeClr val="tx1"/>
                </a:solidFill>
              </a:rPr>
              <a:t>parking_id</a:t>
            </a:r>
            <a:endParaRPr lang="en-US" sz="1050" dirty="0"/>
          </a:p>
          <a:p>
            <a:pPr indent="0" marL="0">
              <a:spcAft>
                <a:spcPts val="100"/>
              </a:spcAft>
              <a:buNone/>
            </a:pPr>
            <a:r>
              <a:rPr lang="en-US" sz="1050" b="1" dirty="0">
                <a:solidFill>
                  <a:schemeClr val="accent5"/>
                </a:solidFill>
              </a:rPr>
              <a:t>FK </a:t>
            </a:r>
            <a:pPr indent="0" marL="0">
              <a:spcAft>
                <a:spcPts val="100"/>
              </a:spcAft>
              <a:buNone/>
            </a:pPr>
            <a:r>
              <a:rPr lang="en-US" sz="1050" dirty="0">
                <a:solidFill>
                  <a:schemeClr val="tx1"/>
                </a:solidFill>
              </a:rPr>
              <a:t>apartment_id (nullable)</a:t>
            </a:r>
            <a:endParaRPr lang="en-US" sz="1050" dirty="0"/>
          </a:p>
          <a:p>
            <a:pPr indent="0" marL="0">
              <a:spcAft>
                <a:spcPts val="100"/>
              </a:spcAft>
              <a:buNone/>
            </a:pPr>
            <a:r>
              <a:rPr lang="en-US" sz="1050" b="1" dirty="0">
                <a:solidFill>
                  <a:schemeClr val="accent1"/>
                </a:solidFill>
              </a:rPr>
              <a:t>UK </a:t>
            </a:r>
            <a:pPr indent="0" marL="0">
              <a:spcAft>
                <a:spcPts val="100"/>
              </a:spcAft>
              <a:buNone/>
            </a:pPr>
            <a:r>
              <a:rPr lang="en-US" sz="1050" dirty="0">
                <a:solidFill>
                  <a:schemeClr val="tx1"/>
                </a:solidFill>
              </a:rPr>
              <a:t>slot_number</a:t>
            </a:r>
            <a:endParaRPr lang="en-US" sz="1050" dirty="0"/>
          </a:p>
          <a:p>
            <a:pPr indent="0" marL="0">
              <a:spcAft>
                <a:spcPts val="100"/>
              </a:spcAft>
              <a:buNone/>
            </a:pPr>
            <a:r>
              <a:rPr lang="en-US" sz="1050" dirty="0">
                <a:solidFill>
                  <a:schemeClr val="tx1"/>
                </a:solidFill>
              </a:rPr>
              <a:t>vehicle_type, status</a:t>
            </a:r>
            <a:endParaRPr lang="en-US" sz="1050" dirty="0"/>
          </a:p>
        </p:txBody>
      </p:sp>
      <p:sp>
        <p:nvSpPr>
          <p:cNvPr id="35" name="Vehicle entity"/>
          <p:cNvSpPr/>
          <p:nvPr/>
        </p:nvSpPr>
        <p:spPr>
          <a:xfrm>
            <a:off x="6446520" y="4892040"/>
            <a:ext cx="2331720" cy="1371600"/>
          </a:xfrm>
          <a:prstGeom prst="rect">
            <a:avLst/>
          </a:prstGeom>
          <a:solidFill>
            <a:schemeClr val="bg1"/>
          </a:solidFill>
          <a:ln w="15875">
            <a:solidFill>
              <a:schemeClr val="accent1"/>
            </a:solidFill>
            <a:prstDash val="solid"/>
          </a:ln>
        </p:spPr>
      </p:sp>
      <p:sp>
        <p:nvSpPr>
          <p:cNvPr id="36" name="Vehicle header"/>
          <p:cNvSpPr/>
          <p:nvPr/>
        </p:nvSpPr>
        <p:spPr>
          <a:xfrm>
            <a:off x="6446520" y="4892040"/>
            <a:ext cx="2331720" cy="329184"/>
          </a:xfrm>
          <a:prstGeom prst="rect">
            <a:avLst/>
          </a:prstGeom>
          <a:solidFill>
            <a:schemeClr val="accent1"/>
          </a:solidFill>
          <a:ln w="15875">
            <a:solidFill>
              <a:schemeClr val="accent1"/>
            </a:solidFill>
            <a:prstDash val="solid"/>
          </a:ln>
        </p:spPr>
      </p:sp>
      <p:sp>
        <p:nvSpPr>
          <p:cNvPr id="37" name="Text 35"/>
          <p:cNvSpPr txBox="1"/>
          <p:nvPr/>
        </p:nvSpPr>
        <p:spPr>
          <a:xfrm>
            <a:off x="6446520" y="4892040"/>
            <a:ext cx="2331720" cy="329184"/>
          </a:xfrm>
          <a:prstGeom prst="rect">
            <a:avLst/>
          </a:prstGeom>
          <a:noFill/>
          <a:ln/>
        </p:spPr>
        <p:txBody>
          <a:bodyPr wrap="square" lIns="0" tIns="0" rIns="0" bIns="0" rtlCol="0" anchor="ctr"/>
          <a:lstStyle/>
          <a:p>
            <a:pPr algn="ctr" indent="0" marL="0">
              <a:buNone/>
            </a:pPr>
            <a:r>
              <a:rPr lang="en-US" sz="1200" b="1" dirty="0">
                <a:solidFill>
                  <a:schemeClr val="bg1"/>
                </a:solidFill>
              </a:rPr>
              <a:t>Vehicle</a:t>
            </a:r>
            <a:endParaRPr lang="en-US" sz="1200" dirty="0"/>
          </a:p>
        </p:txBody>
      </p:sp>
      <p:sp>
        <p:nvSpPr>
          <p:cNvPr id="38" name="Vehicle attributes"/>
          <p:cNvSpPr txBox="1"/>
          <p:nvPr/>
        </p:nvSpPr>
        <p:spPr>
          <a:xfrm>
            <a:off x="6537960" y="5276088"/>
            <a:ext cx="2148840" cy="932688"/>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dirty="0">
                <a:solidFill>
                  <a:schemeClr val="tx1"/>
                </a:solidFill>
              </a:rPr>
              <a:t>vehicle_id</a:t>
            </a:r>
            <a:endParaRPr lang="en-US" sz="1050" dirty="0"/>
          </a:p>
          <a:p>
            <a:pPr indent="0" marL="0">
              <a:spcAft>
                <a:spcPts val="100"/>
              </a:spcAft>
              <a:buNone/>
            </a:pPr>
            <a:r>
              <a:rPr lang="en-US" sz="1050" b="1" dirty="0">
                <a:solidFill>
                  <a:schemeClr val="accent5"/>
                </a:solidFill>
              </a:rPr>
              <a:t>FK </a:t>
            </a:r>
            <a:pPr indent="0" marL="0">
              <a:spcAft>
                <a:spcPts val="100"/>
              </a:spcAft>
              <a:buNone/>
            </a:pPr>
            <a:r>
              <a:rPr lang="en-US" sz="1050" dirty="0">
                <a:solidFill>
                  <a:schemeClr val="tx1"/>
                </a:solidFill>
              </a:rPr>
              <a:t>resident_id</a:t>
            </a:r>
            <a:endParaRPr lang="en-US" sz="1050" dirty="0"/>
          </a:p>
          <a:p>
            <a:pPr indent="0" marL="0">
              <a:spcAft>
                <a:spcPts val="100"/>
              </a:spcAft>
              <a:buNone/>
            </a:pPr>
            <a:r>
              <a:rPr lang="en-US" sz="1050" b="1" dirty="0">
                <a:solidFill>
                  <a:schemeClr val="accent5"/>
                </a:solidFill>
              </a:rPr>
              <a:t>FK + UK </a:t>
            </a:r>
            <a:pPr indent="0" marL="0">
              <a:spcAft>
                <a:spcPts val="100"/>
              </a:spcAft>
              <a:buNone/>
            </a:pPr>
            <a:r>
              <a:rPr lang="en-US" sz="1050" dirty="0">
                <a:solidFill>
                  <a:schemeClr val="tx1"/>
                </a:solidFill>
              </a:rPr>
              <a:t>parking_id</a:t>
            </a:r>
            <a:endParaRPr lang="en-US" sz="1050" dirty="0"/>
          </a:p>
          <a:p>
            <a:pPr indent="0" marL="0">
              <a:spcAft>
                <a:spcPts val="100"/>
              </a:spcAft>
              <a:buNone/>
            </a:pPr>
            <a:r>
              <a:rPr lang="en-US" sz="1050" b="1" dirty="0">
                <a:solidFill>
                  <a:schemeClr val="accent1"/>
                </a:solidFill>
              </a:rPr>
              <a:t>UK </a:t>
            </a:r>
            <a:pPr indent="0" marL="0">
              <a:spcAft>
                <a:spcPts val="100"/>
              </a:spcAft>
              <a:buNone/>
            </a:pPr>
            <a:r>
              <a:rPr lang="en-US" sz="1050" dirty="0">
                <a:solidFill>
                  <a:schemeClr val="tx1"/>
                </a:solidFill>
              </a:rPr>
              <a:t>vehicle_number, type</a:t>
            </a:r>
            <a:endParaRPr lang="en-US" sz="1050" dirty="0"/>
          </a:p>
        </p:txBody>
      </p:sp>
      <p:sp>
        <p:nvSpPr>
          <p:cNvPr id="39" name="LoginAttempt entity"/>
          <p:cNvSpPr/>
          <p:nvPr/>
        </p:nvSpPr>
        <p:spPr>
          <a:xfrm>
            <a:off x="9464040" y="4892040"/>
            <a:ext cx="2331720" cy="1371600"/>
          </a:xfrm>
          <a:prstGeom prst="rect">
            <a:avLst/>
          </a:prstGeom>
          <a:solidFill>
            <a:schemeClr val="bg1"/>
          </a:solidFill>
          <a:ln w="15875">
            <a:solidFill>
              <a:schemeClr val="accent6"/>
            </a:solidFill>
            <a:prstDash val="dash"/>
          </a:ln>
        </p:spPr>
      </p:sp>
      <p:sp>
        <p:nvSpPr>
          <p:cNvPr id="40" name="LoginAttempt header"/>
          <p:cNvSpPr/>
          <p:nvPr/>
        </p:nvSpPr>
        <p:spPr>
          <a:xfrm>
            <a:off x="9464040" y="4892040"/>
            <a:ext cx="2331720" cy="329184"/>
          </a:xfrm>
          <a:prstGeom prst="rect">
            <a:avLst/>
          </a:prstGeom>
          <a:solidFill>
            <a:schemeClr val="accent6"/>
          </a:solidFill>
          <a:ln w="15875">
            <a:solidFill>
              <a:schemeClr val="accent6"/>
            </a:solidFill>
            <a:prstDash val="solid"/>
          </a:ln>
        </p:spPr>
      </p:sp>
      <p:sp>
        <p:nvSpPr>
          <p:cNvPr id="41" name="Text 39"/>
          <p:cNvSpPr txBox="1"/>
          <p:nvPr/>
        </p:nvSpPr>
        <p:spPr>
          <a:xfrm>
            <a:off x="9464040" y="4892040"/>
            <a:ext cx="2331720" cy="329184"/>
          </a:xfrm>
          <a:prstGeom prst="rect">
            <a:avLst/>
          </a:prstGeom>
          <a:noFill/>
          <a:ln/>
        </p:spPr>
        <p:txBody>
          <a:bodyPr wrap="square" lIns="0" tIns="0" rIns="0" bIns="0" rtlCol="0" anchor="ctr"/>
          <a:lstStyle/>
          <a:p>
            <a:pPr algn="ctr" indent="0" marL="0">
              <a:buNone/>
            </a:pPr>
            <a:r>
              <a:rPr lang="en-US" sz="1200" b="1" dirty="0">
                <a:solidFill>
                  <a:schemeClr val="bg1"/>
                </a:solidFill>
              </a:rPr>
              <a:t>LoginAttempt</a:t>
            </a:r>
            <a:endParaRPr lang="en-US" sz="1200" dirty="0"/>
          </a:p>
        </p:txBody>
      </p:sp>
      <p:sp>
        <p:nvSpPr>
          <p:cNvPr id="42" name="LoginAttempt attributes"/>
          <p:cNvSpPr txBox="1"/>
          <p:nvPr/>
        </p:nvSpPr>
        <p:spPr>
          <a:xfrm>
            <a:off x="9555480" y="5276088"/>
            <a:ext cx="2148840" cy="932688"/>
          </a:xfrm>
          <a:prstGeom prst="rect">
            <a:avLst/>
          </a:prstGeom>
          <a:noFill/>
          <a:ln/>
        </p:spPr>
        <p:txBody>
          <a:bodyPr wrap="square" lIns="0" tIns="0" rIns="0" bIns="0" rtlCol="0" anchor="t"/>
          <a:lstStyle/>
          <a:p>
            <a:pPr indent="0" marL="0">
              <a:spcAft>
                <a:spcPts val="100"/>
              </a:spcAft>
              <a:buNone/>
            </a:pPr>
            <a:r>
              <a:rPr lang="en-US" sz="1050" b="1" dirty="0">
                <a:solidFill>
                  <a:schemeClr val="accent2"/>
                </a:solidFill>
              </a:rPr>
              <a:t>PK </a:t>
            </a:r>
            <a:pPr indent="0" marL="0">
              <a:spcAft>
                <a:spcPts val="100"/>
              </a:spcAft>
              <a:buNone/>
            </a:pPr>
            <a:r>
              <a:rPr lang="en-US" sz="1050" dirty="0">
                <a:solidFill>
                  <a:schemeClr val="tx1"/>
                </a:solidFill>
              </a:rPr>
              <a:t>identifier</a:t>
            </a:r>
            <a:endParaRPr lang="en-US" sz="1050" dirty="0"/>
          </a:p>
          <a:p>
            <a:pPr indent="0" marL="0">
              <a:spcAft>
                <a:spcPts val="100"/>
              </a:spcAft>
              <a:buNone/>
            </a:pPr>
            <a:r>
              <a:rPr lang="en-US" sz="1050" dirty="0">
                <a:solidFill>
                  <a:schemeClr val="tx1"/>
                </a:solidFill>
              </a:rPr>
              <a:t>failures</a:t>
            </a:r>
            <a:endParaRPr lang="en-US" sz="1050" dirty="0"/>
          </a:p>
          <a:p>
            <a:pPr indent="0" marL="0">
              <a:spcAft>
                <a:spcPts val="100"/>
              </a:spcAft>
              <a:buNone/>
            </a:pPr>
            <a:r>
              <a:rPr lang="en-US" sz="1050" dirty="0">
                <a:solidFill>
                  <a:schemeClr val="tx1"/>
                </a:solidFill>
              </a:rPr>
              <a:t>reset_at</a:t>
            </a:r>
            <a:endParaRPr lang="en-US" sz="1050" dirty="0"/>
          </a:p>
          <a:p>
            <a:pPr indent="0" marL="0">
              <a:spcAft>
                <a:spcPts val="100"/>
              </a:spcAft>
              <a:buNone/>
            </a:pPr>
            <a:r>
              <a:rPr lang="en-US" sz="1050" i="1" dirty="0">
                <a:solidFill>
                  <a:schemeClr val="tx1"/>
                </a:solidFill>
              </a:rPr>
              <a:t>(no relationships)</a:t>
            </a:r>
            <a:endParaRPr lang="en-US" sz="1050" dirty="0"/>
          </a:p>
        </p:txBody>
      </p:sp>
      <p:sp>
        <p:nvSpPr>
          <p:cNvPr id="43" name="Legend"/>
          <p:cNvSpPr txBox="1"/>
          <p:nvPr/>
        </p:nvSpPr>
        <p:spPr>
          <a:xfrm>
            <a:off x="411480" y="1188720"/>
            <a:ext cx="2331720" cy="1280160"/>
          </a:xfrm>
          <a:prstGeom prst="rect">
            <a:avLst/>
          </a:prstGeom>
          <a:noFill/>
          <a:ln/>
        </p:spPr>
        <p:txBody>
          <a:bodyPr wrap="square" lIns="0" tIns="0" rIns="0" bIns="0" rtlCol="0" anchor="t"/>
          <a:lstStyle/>
          <a:p>
            <a:pPr indent="0" marL="0">
              <a:buNone/>
            </a:pPr>
            <a:r>
              <a:rPr lang="en-US" sz="1100" b="1" dirty="0">
                <a:solidFill>
                  <a:schemeClr val="tx1"/>
                </a:solidFill>
              </a:rPr>
              <a:t>Notation</a:t>
            </a:r>
            <a:endParaRPr lang="en-US" sz="1100" dirty="0"/>
          </a:p>
          <a:p>
            <a:pPr indent="0" marL="0">
              <a:buNone/>
            </a:pPr>
            <a:r>
              <a:rPr lang="en-US" sz="1100" b="1" dirty="0">
                <a:solidFill>
                  <a:schemeClr val="accent2"/>
                </a:solidFill>
              </a:rPr>
              <a:t>PK</a:t>
            </a:r>
            <a:pPr indent="0" marL="0">
              <a:buNone/>
            </a:pPr>
            <a:r>
              <a:rPr lang="en-US" sz="1100" dirty="0">
                <a:solidFill>
                  <a:schemeClr val="tx1"/>
                </a:solidFill>
              </a:rPr>
              <a:t> primary key   </a:t>
            </a:r>
            <a:pPr indent="0" marL="0">
              <a:buNone/>
            </a:pPr>
            <a:r>
              <a:rPr lang="en-US" sz="1100" b="1" dirty="0">
                <a:solidFill>
                  <a:schemeClr val="accent5"/>
                </a:solidFill>
              </a:rPr>
              <a:t>FK</a:t>
            </a:r>
            <a:pPr indent="0" marL="0">
              <a:buNone/>
            </a:pPr>
            <a:r>
              <a:rPr lang="en-US" sz="1100" dirty="0">
                <a:solidFill>
                  <a:schemeClr val="tx1"/>
                </a:solidFill>
              </a:rPr>
              <a:t> foreign key</a:t>
            </a:r>
            <a:endParaRPr lang="en-US" sz="1100" dirty="0"/>
          </a:p>
          <a:p>
            <a:pPr indent="0" marL="0">
              <a:buNone/>
            </a:pPr>
            <a:r>
              <a:rPr lang="en-US" sz="1100" b="1" dirty="0">
                <a:solidFill>
                  <a:schemeClr val="accent1"/>
                </a:solidFill>
              </a:rPr>
              <a:t>UK</a:t>
            </a:r>
            <a:pPr indent="0" marL="0">
              <a:buNone/>
            </a:pPr>
            <a:r>
              <a:rPr lang="en-US" sz="1100" dirty="0">
                <a:solidFill>
                  <a:schemeClr val="tx1"/>
                </a:solidFill>
              </a:rPr>
              <a:t> unique key</a:t>
            </a:r>
            <a:endParaRPr lang="en-US" sz="1100" dirty="0"/>
          </a:p>
          <a:p>
            <a:pPr indent="0" marL="0">
              <a:buNone/>
            </a:pPr>
            <a:r>
              <a:rPr lang="en-US" sz="1100" dirty="0">
                <a:solidFill>
                  <a:schemeClr val="tx1"/>
                </a:solidFill>
              </a:rPr>
              <a:t>1, N, 0..1 = cardinality at that end</a:t>
            </a:r>
            <a:endParaRPr lang="en-US" sz="1100" dirty="0"/>
          </a:p>
        </p:txBody>
      </p:sp>
      <p:sp>
        <p:nvSpPr>
          <p:cNvPr id="44" name="MongoDB box"/>
          <p:cNvSpPr/>
          <p:nvPr/>
        </p:nvSpPr>
        <p:spPr>
          <a:xfrm>
            <a:off x="411480" y="4892040"/>
            <a:ext cx="2331720" cy="1371600"/>
          </a:xfrm>
          <a:prstGeom prst="rect">
            <a:avLst/>
          </a:prstGeom>
          <a:solidFill>
            <a:schemeClr val="bg2"/>
          </a:solidFill>
          <a:ln w="15875">
            <a:solidFill>
              <a:schemeClr val="accent2"/>
            </a:solidFill>
            <a:prstDash val="dash"/>
          </a:ln>
        </p:spPr>
      </p:sp>
      <p:sp>
        <p:nvSpPr>
          <p:cNvPr id="45" name="MongoDB references"/>
          <p:cNvSpPr txBox="1"/>
          <p:nvPr/>
        </p:nvSpPr>
        <p:spPr>
          <a:xfrm>
            <a:off x="521208" y="4965192"/>
            <a:ext cx="2112264" cy="1225296"/>
          </a:xfrm>
          <a:prstGeom prst="rect">
            <a:avLst/>
          </a:prstGeom>
          <a:noFill/>
          <a:ln/>
        </p:spPr>
        <p:txBody>
          <a:bodyPr wrap="square" lIns="0" tIns="0" rIns="0" bIns="0" rtlCol="0" anchor="t"/>
          <a:lstStyle/>
          <a:p>
            <a:pPr indent="0" marL="0">
              <a:buNone/>
            </a:pPr>
            <a:r>
              <a:rPr lang="en-US" sz="1050" b="1" dirty="0">
                <a:solidFill>
                  <a:schemeClr val="tx2"/>
                </a:solidFill>
              </a:rPr>
              <a:t>MongoDB (by id)</a:t>
            </a:r>
            <a:endParaRPr lang="en-US" sz="1050" dirty="0"/>
          </a:p>
          <a:p>
            <a:pPr indent="0" marL="0">
              <a:buNone/>
            </a:pPr>
            <a:r>
              <a:rPr lang="en-US" sz="1050" dirty="0">
                <a:solidFill>
                  <a:schemeClr val="tx1"/>
                </a:solidFill>
              </a:rPr>
              <a:t>visitors → apartmentId</a:t>
            </a:r>
            <a:endParaRPr lang="en-US" sz="1050" dirty="0"/>
          </a:p>
          <a:p>
            <a:pPr indent="0" marL="0">
              <a:buNone/>
            </a:pPr>
            <a:r>
              <a:rPr lang="en-US" sz="1050" dirty="0">
                <a:solidFill>
                  <a:schemeClr val="tx1"/>
                </a:solidFill>
              </a:rPr>
              <a:t>feedback → residentId</a:t>
            </a:r>
            <a:endParaRPr lang="en-US" sz="1050" dirty="0"/>
          </a:p>
          <a:p>
            <a:pPr indent="0" marL="0">
              <a:buNone/>
            </a:pPr>
            <a:r>
              <a:rPr lang="en-US" sz="1050" dirty="0">
                <a:solidFill>
                  <a:schemeClr val="tx1"/>
                </a:solidFill>
              </a:rPr>
              <a:t>complaint_activity → complaintId</a:t>
            </a:r>
            <a:endParaRPr lang="en-US" sz="1050" dirty="0"/>
          </a:p>
          <a:p>
            <a:pPr indent="0" marL="0">
              <a:buNone/>
            </a:pPr>
            <a:r>
              <a:rPr lang="en-US" sz="1050" dirty="0">
                <a:solidFill>
                  <a:schemeClr val="tx1"/>
                </a:solidFill>
              </a:rPr>
              <a:t>notices</a:t>
            </a:r>
            <a:endParaRPr lang="en-US" sz="1050" dirty="0"/>
          </a:p>
        </p:txBody>
      </p:sp>
      <p:sp>
        <p:nvSpPr>
          <p:cNvPr id="46" name="AccountRequest-UserAccount line"/>
          <p:cNvSpPr/>
          <p:nvPr/>
        </p:nvSpPr>
        <p:spPr>
          <a:xfrm>
            <a:off x="5760720" y="1828800"/>
            <a:ext cx="685800" cy="0"/>
          </a:xfrm>
          <a:prstGeom prst="line">
            <a:avLst/>
          </a:prstGeom>
          <a:noFill/>
          <a:ln w="15875">
            <a:solidFill>
              <a:schemeClr val="tx2"/>
            </a:solidFill>
            <a:prstDash val="solid"/>
          </a:ln>
        </p:spPr>
      </p:sp>
      <p:sp>
        <p:nvSpPr>
          <p:cNvPr id="47" name="AccountRequest end"/>
          <p:cNvSpPr txBox="1"/>
          <p:nvPr/>
        </p:nvSpPr>
        <p:spPr>
          <a:xfrm>
            <a:off x="5797296" y="1591056"/>
            <a:ext cx="365760" cy="201168"/>
          </a:xfrm>
          <a:prstGeom prst="rect">
            <a:avLst/>
          </a:prstGeom>
          <a:noFill/>
          <a:ln/>
        </p:spPr>
        <p:txBody>
          <a:bodyPr wrap="square" lIns="0" tIns="0" rIns="0" bIns="0" rtlCol="0" anchor="ctr"/>
          <a:lstStyle/>
          <a:p>
            <a:pPr indent="0" marL="0">
              <a:buNone/>
            </a:pPr>
            <a:r>
              <a:rPr lang="en-US" sz="1000" b="1" dirty="0">
                <a:solidFill>
                  <a:schemeClr val="tx2"/>
                </a:solidFill>
              </a:rPr>
              <a:t>0..1</a:t>
            </a:r>
            <a:endParaRPr lang="en-US" sz="1000" dirty="0"/>
          </a:p>
        </p:txBody>
      </p:sp>
      <p:sp>
        <p:nvSpPr>
          <p:cNvPr id="48" name="UserAccount end"/>
          <p:cNvSpPr txBox="1"/>
          <p:nvPr/>
        </p:nvSpPr>
        <p:spPr>
          <a:xfrm>
            <a:off x="6044184" y="1591056"/>
            <a:ext cx="365760" cy="201168"/>
          </a:xfrm>
          <a:prstGeom prst="rect">
            <a:avLst/>
          </a:prstGeom>
          <a:noFill/>
          <a:ln/>
        </p:spPr>
        <p:txBody>
          <a:bodyPr wrap="square" lIns="0" tIns="0" rIns="0" bIns="0" rtlCol="0" anchor="ctr"/>
          <a:lstStyle/>
          <a:p>
            <a:pPr algn="r" indent="0" marL="0">
              <a:buNone/>
            </a:pPr>
            <a:r>
              <a:rPr lang="en-US" sz="1000" b="1" dirty="0">
                <a:solidFill>
                  <a:schemeClr val="tx2"/>
                </a:solidFill>
              </a:rPr>
              <a:t>0..1</a:t>
            </a:r>
            <a:endParaRPr lang="en-US" sz="1000" dirty="0"/>
          </a:p>
        </p:txBody>
      </p:sp>
      <p:sp>
        <p:nvSpPr>
          <p:cNvPr id="49" name="AccountRequest-UserAccount label"/>
          <p:cNvSpPr txBox="1"/>
          <p:nvPr/>
        </p:nvSpPr>
        <p:spPr>
          <a:xfrm>
            <a:off x="5760720" y="1856232"/>
            <a:ext cx="685800" cy="201168"/>
          </a:xfrm>
          <a:prstGeom prst="rect">
            <a:avLst/>
          </a:prstGeom>
          <a:noFill/>
          <a:ln/>
        </p:spPr>
        <p:txBody>
          <a:bodyPr wrap="square" lIns="0" tIns="0" rIns="0" bIns="0" rtlCol="0" anchor="ctr"/>
          <a:lstStyle/>
          <a:p>
            <a:pPr algn="ctr" indent="0" marL="0">
              <a:buNone/>
            </a:pPr>
            <a:r>
              <a:rPr lang="en-US" sz="950" i="1" dirty="0">
                <a:solidFill>
                  <a:schemeClr val="accent6"/>
                </a:solidFill>
              </a:rPr>
              <a:t>creates</a:t>
            </a:r>
            <a:endParaRPr lang="en-US" sz="950" dirty="0"/>
          </a:p>
        </p:txBody>
      </p:sp>
      <p:sp>
        <p:nvSpPr>
          <p:cNvPr id="50" name="UserAccount-Staff line"/>
          <p:cNvSpPr/>
          <p:nvPr/>
        </p:nvSpPr>
        <p:spPr>
          <a:xfrm>
            <a:off x="8778240" y="1828800"/>
            <a:ext cx="685800" cy="0"/>
          </a:xfrm>
          <a:prstGeom prst="line">
            <a:avLst/>
          </a:prstGeom>
          <a:noFill/>
          <a:ln w="15875">
            <a:solidFill>
              <a:schemeClr val="tx2"/>
            </a:solidFill>
            <a:prstDash val="solid"/>
          </a:ln>
        </p:spPr>
      </p:sp>
      <p:sp>
        <p:nvSpPr>
          <p:cNvPr id="51" name="UserAccount end"/>
          <p:cNvSpPr txBox="1"/>
          <p:nvPr/>
        </p:nvSpPr>
        <p:spPr>
          <a:xfrm>
            <a:off x="8814816" y="1591056"/>
            <a:ext cx="365760" cy="201168"/>
          </a:xfrm>
          <a:prstGeom prst="rect">
            <a:avLst/>
          </a:prstGeom>
          <a:noFill/>
          <a:ln/>
        </p:spPr>
        <p:txBody>
          <a:bodyPr wrap="square" lIns="0" tIns="0" rIns="0" bIns="0" rtlCol="0" anchor="ctr"/>
          <a:lstStyle/>
          <a:p>
            <a:pPr indent="0" marL="0">
              <a:buNone/>
            </a:pPr>
            <a:r>
              <a:rPr lang="en-US" sz="1000" b="1" dirty="0">
                <a:solidFill>
                  <a:schemeClr val="tx2"/>
                </a:solidFill>
              </a:rPr>
              <a:t>0..1</a:t>
            </a:r>
            <a:endParaRPr lang="en-US" sz="1000" dirty="0"/>
          </a:p>
        </p:txBody>
      </p:sp>
      <p:sp>
        <p:nvSpPr>
          <p:cNvPr id="52" name="Staff end"/>
          <p:cNvSpPr txBox="1"/>
          <p:nvPr/>
        </p:nvSpPr>
        <p:spPr>
          <a:xfrm>
            <a:off x="9061704" y="1591056"/>
            <a:ext cx="365760" cy="201168"/>
          </a:xfrm>
          <a:prstGeom prst="rect">
            <a:avLst/>
          </a:prstGeom>
          <a:noFill/>
          <a:ln/>
        </p:spPr>
        <p:txBody>
          <a:bodyPr wrap="square" lIns="0" tIns="0" rIns="0" bIns="0" rtlCol="0" anchor="ctr"/>
          <a:lstStyle/>
          <a:p>
            <a:pPr algn="r" indent="0" marL="0">
              <a:buNone/>
            </a:pPr>
            <a:r>
              <a:rPr lang="en-US" sz="1000" b="1" dirty="0">
                <a:solidFill>
                  <a:schemeClr val="tx2"/>
                </a:solidFill>
              </a:rPr>
              <a:t>1</a:t>
            </a:r>
            <a:endParaRPr lang="en-US" sz="1000" dirty="0"/>
          </a:p>
        </p:txBody>
      </p:sp>
      <p:sp>
        <p:nvSpPr>
          <p:cNvPr id="53" name="UserAccount-Staff label"/>
          <p:cNvSpPr txBox="1"/>
          <p:nvPr/>
        </p:nvSpPr>
        <p:spPr>
          <a:xfrm>
            <a:off x="8778240" y="1856232"/>
            <a:ext cx="685800" cy="201168"/>
          </a:xfrm>
          <a:prstGeom prst="rect">
            <a:avLst/>
          </a:prstGeom>
          <a:noFill/>
          <a:ln/>
        </p:spPr>
        <p:txBody>
          <a:bodyPr wrap="square" lIns="0" tIns="0" rIns="0" bIns="0" rtlCol="0" anchor="ctr"/>
          <a:lstStyle/>
          <a:p>
            <a:pPr algn="ctr" indent="0" marL="0">
              <a:buNone/>
            </a:pPr>
            <a:r>
              <a:rPr lang="en-US" sz="950" i="1" dirty="0">
                <a:solidFill>
                  <a:schemeClr val="accent6"/>
                </a:solidFill>
              </a:rPr>
              <a:t>logs in as</a:t>
            </a:r>
            <a:endParaRPr lang="en-US" sz="950" dirty="0"/>
          </a:p>
        </p:txBody>
      </p:sp>
      <p:sp>
        <p:nvSpPr>
          <p:cNvPr id="54" name="UserAccount-Resident line"/>
          <p:cNvSpPr/>
          <p:nvPr/>
        </p:nvSpPr>
        <p:spPr>
          <a:xfrm>
            <a:off x="7612380" y="2514600"/>
            <a:ext cx="0" cy="502920"/>
          </a:xfrm>
          <a:prstGeom prst="line">
            <a:avLst/>
          </a:prstGeom>
          <a:noFill/>
          <a:ln w="15875">
            <a:solidFill>
              <a:schemeClr val="tx2"/>
            </a:solidFill>
            <a:prstDash val="solid"/>
          </a:ln>
        </p:spPr>
      </p:sp>
      <p:sp>
        <p:nvSpPr>
          <p:cNvPr id="55" name="UserAccount end"/>
          <p:cNvSpPr txBox="1"/>
          <p:nvPr/>
        </p:nvSpPr>
        <p:spPr>
          <a:xfrm>
            <a:off x="7667244" y="2523744"/>
            <a:ext cx="411480" cy="182880"/>
          </a:xfrm>
          <a:prstGeom prst="rect">
            <a:avLst/>
          </a:prstGeom>
          <a:noFill/>
          <a:ln/>
        </p:spPr>
        <p:txBody>
          <a:bodyPr wrap="square" lIns="0" tIns="0" rIns="0" bIns="0" rtlCol="0" anchor="ctr"/>
          <a:lstStyle/>
          <a:p>
            <a:pPr indent="0" marL="0">
              <a:buNone/>
            </a:pPr>
            <a:r>
              <a:rPr lang="en-US" sz="1000" b="1" dirty="0">
                <a:solidFill>
                  <a:schemeClr val="tx2"/>
                </a:solidFill>
              </a:rPr>
              <a:t>0..1</a:t>
            </a:r>
            <a:endParaRPr lang="en-US" sz="1000" dirty="0"/>
          </a:p>
        </p:txBody>
      </p:sp>
      <p:sp>
        <p:nvSpPr>
          <p:cNvPr id="56" name="Resident end"/>
          <p:cNvSpPr txBox="1"/>
          <p:nvPr/>
        </p:nvSpPr>
        <p:spPr>
          <a:xfrm>
            <a:off x="7667244" y="2825496"/>
            <a:ext cx="411480" cy="182880"/>
          </a:xfrm>
          <a:prstGeom prst="rect">
            <a:avLst/>
          </a:prstGeom>
          <a:noFill/>
          <a:ln/>
        </p:spPr>
        <p:txBody>
          <a:bodyPr wrap="square" lIns="0" tIns="0" rIns="0" bIns="0" rtlCol="0" anchor="ctr"/>
          <a:lstStyle/>
          <a:p>
            <a:pPr indent="0" marL="0">
              <a:buNone/>
            </a:pPr>
            <a:r>
              <a:rPr lang="en-US" sz="1000" b="1" dirty="0">
                <a:solidFill>
                  <a:schemeClr val="tx2"/>
                </a:solidFill>
              </a:rPr>
              <a:t>N</a:t>
            </a:r>
            <a:endParaRPr lang="en-US" sz="1000" dirty="0"/>
          </a:p>
        </p:txBody>
      </p:sp>
      <p:sp>
        <p:nvSpPr>
          <p:cNvPr id="57" name="UserAccount-Resident label"/>
          <p:cNvSpPr txBox="1"/>
          <p:nvPr/>
        </p:nvSpPr>
        <p:spPr>
          <a:xfrm>
            <a:off x="6469380" y="2665476"/>
            <a:ext cx="1051560" cy="201168"/>
          </a:xfrm>
          <a:prstGeom prst="rect">
            <a:avLst/>
          </a:prstGeom>
          <a:noFill/>
          <a:ln/>
        </p:spPr>
        <p:txBody>
          <a:bodyPr wrap="square" lIns="0" tIns="0" rIns="0" bIns="0" rtlCol="0" anchor="ctr"/>
          <a:lstStyle/>
          <a:p>
            <a:pPr algn="r" indent="0" marL="0">
              <a:buNone/>
            </a:pPr>
            <a:r>
              <a:rPr lang="en-US" sz="950" i="1" dirty="0">
                <a:solidFill>
                  <a:schemeClr val="accent6"/>
                </a:solidFill>
              </a:rPr>
              <a:t>one login, many flats</a:t>
            </a:r>
            <a:endParaRPr lang="en-US" sz="950" dirty="0"/>
          </a:p>
        </p:txBody>
      </p:sp>
      <p:sp>
        <p:nvSpPr>
          <p:cNvPr id="58" name="Staff-Complaint line"/>
          <p:cNvSpPr/>
          <p:nvPr/>
        </p:nvSpPr>
        <p:spPr>
          <a:xfrm>
            <a:off x="10629900" y="2514600"/>
            <a:ext cx="0" cy="502920"/>
          </a:xfrm>
          <a:prstGeom prst="line">
            <a:avLst/>
          </a:prstGeom>
          <a:noFill/>
          <a:ln w="15875">
            <a:solidFill>
              <a:schemeClr val="tx2"/>
            </a:solidFill>
            <a:prstDash val="solid"/>
          </a:ln>
        </p:spPr>
      </p:sp>
      <p:sp>
        <p:nvSpPr>
          <p:cNvPr id="59" name="Staff end"/>
          <p:cNvSpPr txBox="1"/>
          <p:nvPr/>
        </p:nvSpPr>
        <p:spPr>
          <a:xfrm>
            <a:off x="10684764" y="2523744"/>
            <a:ext cx="411480" cy="182880"/>
          </a:xfrm>
          <a:prstGeom prst="rect">
            <a:avLst/>
          </a:prstGeom>
          <a:noFill/>
          <a:ln/>
        </p:spPr>
        <p:txBody>
          <a:bodyPr wrap="square" lIns="0" tIns="0" rIns="0" bIns="0" rtlCol="0" anchor="ctr"/>
          <a:lstStyle/>
          <a:p>
            <a:pPr indent="0" marL="0">
              <a:buNone/>
            </a:pPr>
            <a:r>
              <a:rPr lang="en-US" sz="1000" b="1" dirty="0">
                <a:solidFill>
                  <a:schemeClr val="tx2"/>
                </a:solidFill>
              </a:rPr>
              <a:t>0..1</a:t>
            </a:r>
            <a:endParaRPr lang="en-US" sz="1000" dirty="0"/>
          </a:p>
        </p:txBody>
      </p:sp>
      <p:sp>
        <p:nvSpPr>
          <p:cNvPr id="60" name="Complaint end"/>
          <p:cNvSpPr txBox="1"/>
          <p:nvPr/>
        </p:nvSpPr>
        <p:spPr>
          <a:xfrm>
            <a:off x="10684764" y="2825496"/>
            <a:ext cx="411480" cy="182880"/>
          </a:xfrm>
          <a:prstGeom prst="rect">
            <a:avLst/>
          </a:prstGeom>
          <a:noFill/>
          <a:ln/>
        </p:spPr>
        <p:txBody>
          <a:bodyPr wrap="square" lIns="0" tIns="0" rIns="0" bIns="0" rtlCol="0" anchor="ctr"/>
          <a:lstStyle/>
          <a:p>
            <a:pPr indent="0" marL="0">
              <a:buNone/>
            </a:pPr>
            <a:r>
              <a:rPr lang="en-US" sz="1000" b="1" dirty="0">
                <a:solidFill>
                  <a:schemeClr val="tx2"/>
                </a:solidFill>
              </a:rPr>
              <a:t>N</a:t>
            </a:r>
            <a:endParaRPr lang="en-US" sz="1000" dirty="0"/>
          </a:p>
        </p:txBody>
      </p:sp>
      <p:sp>
        <p:nvSpPr>
          <p:cNvPr id="61" name="Staff-Complaint label"/>
          <p:cNvSpPr txBox="1"/>
          <p:nvPr/>
        </p:nvSpPr>
        <p:spPr>
          <a:xfrm>
            <a:off x="9486900" y="2665476"/>
            <a:ext cx="1051560" cy="201168"/>
          </a:xfrm>
          <a:prstGeom prst="rect">
            <a:avLst/>
          </a:prstGeom>
          <a:noFill/>
          <a:ln/>
        </p:spPr>
        <p:txBody>
          <a:bodyPr wrap="square" lIns="0" tIns="0" rIns="0" bIns="0" rtlCol="0" anchor="ctr"/>
          <a:lstStyle/>
          <a:p>
            <a:pPr algn="r" indent="0" marL="0">
              <a:buNone/>
            </a:pPr>
            <a:r>
              <a:rPr lang="en-US" sz="950" i="1" dirty="0">
                <a:solidFill>
                  <a:schemeClr val="accent6"/>
                </a:solidFill>
              </a:rPr>
              <a:t>assigned to</a:t>
            </a:r>
            <a:endParaRPr lang="en-US" sz="950" dirty="0"/>
          </a:p>
        </p:txBody>
      </p:sp>
      <p:sp>
        <p:nvSpPr>
          <p:cNvPr id="62" name="MaintenancePayment-Apartment line"/>
          <p:cNvSpPr/>
          <p:nvPr/>
        </p:nvSpPr>
        <p:spPr>
          <a:xfrm>
            <a:off x="2743200" y="3703320"/>
            <a:ext cx="685800" cy="0"/>
          </a:xfrm>
          <a:prstGeom prst="line">
            <a:avLst/>
          </a:prstGeom>
          <a:noFill/>
          <a:ln w="15875">
            <a:solidFill>
              <a:schemeClr val="tx2"/>
            </a:solidFill>
            <a:prstDash val="solid"/>
          </a:ln>
        </p:spPr>
      </p:sp>
      <p:sp>
        <p:nvSpPr>
          <p:cNvPr id="63" name="MaintenancePayment end"/>
          <p:cNvSpPr txBox="1"/>
          <p:nvPr/>
        </p:nvSpPr>
        <p:spPr>
          <a:xfrm>
            <a:off x="2779776" y="3465576"/>
            <a:ext cx="365760" cy="201168"/>
          </a:xfrm>
          <a:prstGeom prst="rect">
            <a:avLst/>
          </a:prstGeom>
          <a:noFill/>
          <a:ln/>
        </p:spPr>
        <p:txBody>
          <a:bodyPr wrap="square" lIns="0" tIns="0" rIns="0" bIns="0" rtlCol="0" anchor="ctr"/>
          <a:lstStyle/>
          <a:p>
            <a:pPr indent="0" marL="0">
              <a:buNone/>
            </a:pPr>
            <a:r>
              <a:rPr lang="en-US" sz="1000" b="1" dirty="0">
                <a:solidFill>
                  <a:schemeClr val="tx2"/>
                </a:solidFill>
              </a:rPr>
              <a:t>N</a:t>
            </a:r>
            <a:endParaRPr lang="en-US" sz="1000" dirty="0"/>
          </a:p>
        </p:txBody>
      </p:sp>
      <p:sp>
        <p:nvSpPr>
          <p:cNvPr id="64" name="Apartment end"/>
          <p:cNvSpPr txBox="1"/>
          <p:nvPr/>
        </p:nvSpPr>
        <p:spPr>
          <a:xfrm>
            <a:off x="3026664" y="3465576"/>
            <a:ext cx="365760" cy="201168"/>
          </a:xfrm>
          <a:prstGeom prst="rect">
            <a:avLst/>
          </a:prstGeom>
          <a:noFill/>
          <a:ln/>
        </p:spPr>
        <p:txBody>
          <a:bodyPr wrap="square" lIns="0" tIns="0" rIns="0" bIns="0" rtlCol="0" anchor="ctr"/>
          <a:lstStyle/>
          <a:p>
            <a:pPr algn="r" indent="0" marL="0">
              <a:buNone/>
            </a:pPr>
            <a:r>
              <a:rPr lang="en-US" sz="1000" b="1" dirty="0">
                <a:solidFill>
                  <a:schemeClr val="tx2"/>
                </a:solidFill>
              </a:rPr>
              <a:t>1</a:t>
            </a:r>
            <a:endParaRPr lang="en-US" sz="1000" dirty="0"/>
          </a:p>
        </p:txBody>
      </p:sp>
      <p:sp>
        <p:nvSpPr>
          <p:cNvPr id="65" name="MaintenancePayment-Apartment label"/>
          <p:cNvSpPr txBox="1"/>
          <p:nvPr/>
        </p:nvSpPr>
        <p:spPr>
          <a:xfrm>
            <a:off x="2743200" y="3730752"/>
            <a:ext cx="685800" cy="201168"/>
          </a:xfrm>
          <a:prstGeom prst="rect">
            <a:avLst/>
          </a:prstGeom>
          <a:noFill/>
          <a:ln/>
        </p:spPr>
        <p:txBody>
          <a:bodyPr wrap="square" lIns="0" tIns="0" rIns="0" bIns="0" rtlCol="0" anchor="ctr"/>
          <a:lstStyle/>
          <a:p>
            <a:pPr algn="ctr" indent="0" marL="0">
              <a:buNone/>
            </a:pPr>
            <a:r>
              <a:rPr lang="en-US" sz="950" i="1" dirty="0">
                <a:solidFill>
                  <a:schemeClr val="accent6"/>
                </a:solidFill>
              </a:rPr>
              <a:t>billed to</a:t>
            </a:r>
            <a:endParaRPr lang="en-US" sz="950" dirty="0"/>
          </a:p>
        </p:txBody>
      </p:sp>
      <p:sp>
        <p:nvSpPr>
          <p:cNvPr id="66" name="Apartment-Resident line"/>
          <p:cNvSpPr/>
          <p:nvPr/>
        </p:nvSpPr>
        <p:spPr>
          <a:xfrm>
            <a:off x="5760720" y="3703320"/>
            <a:ext cx="685800" cy="0"/>
          </a:xfrm>
          <a:prstGeom prst="line">
            <a:avLst/>
          </a:prstGeom>
          <a:noFill/>
          <a:ln w="15875">
            <a:solidFill>
              <a:schemeClr val="tx2"/>
            </a:solidFill>
            <a:prstDash val="solid"/>
          </a:ln>
        </p:spPr>
      </p:sp>
      <p:sp>
        <p:nvSpPr>
          <p:cNvPr id="67" name="Apartment end"/>
          <p:cNvSpPr txBox="1"/>
          <p:nvPr/>
        </p:nvSpPr>
        <p:spPr>
          <a:xfrm>
            <a:off x="5797296" y="3465576"/>
            <a:ext cx="365760" cy="201168"/>
          </a:xfrm>
          <a:prstGeom prst="rect">
            <a:avLst/>
          </a:prstGeom>
          <a:noFill/>
          <a:ln/>
        </p:spPr>
        <p:txBody>
          <a:bodyPr wrap="square" lIns="0" tIns="0" rIns="0" bIns="0" rtlCol="0" anchor="ctr"/>
          <a:lstStyle/>
          <a:p>
            <a:pPr indent="0" marL="0">
              <a:buNone/>
            </a:pPr>
            <a:r>
              <a:rPr lang="en-US" sz="1000" b="1" dirty="0">
                <a:solidFill>
                  <a:schemeClr val="tx2"/>
                </a:solidFill>
              </a:rPr>
              <a:t>1</a:t>
            </a:r>
            <a:endParaRPr lang="en-US" sz="1000" dirty="0"/>
          </a:p>
        </p:txBody>
      </p:sp>
      <p:sp>
        <p:nvSpPr>
          <p:cNvPr id="68" name="Resident end"/>
          <p:cNvSpPr txBox="1"/>
          <p:nvPr/>
        </p:nvSpPr>
        <p:spPr>
          <a:xfrm>
            <a:off x="6044184" y="3465576"/>
            <a:ext cx="365760" cy="201168"/>
          </a:xfrm>
          <a:prstGeom prst="rect">
            <a:avLst/>
          </a:prstGeom>
          <a:noFill/>
          <a:ln/>
        </p:spPr>
        <p:txBody>
          <a:bodyPr wrap="square" lIns="0" tIns="0" rIns="0" bIns="0" rtlCol="0" anchor="ctr"/>
          <a:lstStyle/>
          <a:p>
            <a:pPr algn="r" indent="0" marL="0">
              <a:buNone/>
            </a:pPr>
            <a:r>
              <a:rPr lang="en-US" sz="1000" b="1" dirty="0">
                <a:solidFill>
                  <a:schemeClr val="tx2"/>
                </a:solidFill>
              </a:rPr>
              <a:t>N</a:t>
            </a:r>
            <a:endParaRPr lang="en-US" sz="1000" dirty="0"/>
          </a:p>
        </p:txBody>
      </p:sp>
      <p:sp>
        <p:nvSpPr>
          <p:cNvPr id="69" name="Apartment-Resident label"/>
          <p:cNvSpPr txBox="1"/>
          <p:nvPr/>
        </p:nvSpPr>
        <p:spPr>
          <a:xfrm>
            <a:off x="5760720" y="3730752"/>
            <a:ext cx="685800" cy="201168"/>
          </a:xfrm>
          <a:prstGeom prst="rect">
            <a:avLst/>
          </a:prstGeom>
          <a:noFill/>
          <a:ln/>
        </p:spPr>
        <p:txBody>
          <a:bodyPr wrap="square" lIns="0" tIns="0" rIns="0" bIns="0" rtlCol="0" anchor="ctr"/>
          <a:lstStyle/>
          <a:p>
            <a:pPr algn="ctr" indent="0" marL="0">
              <a:buNone/>
            </a:pPr>
            <a:r>
              <a:rPr lang="en-US" sz="950" i="1" dirty="0">
                <a:solidFill>
                  <a:schemeClr val="accent6"/>
                </a:solidFill>
              </a:rPr>
              <a:t>houses</a:t>
            </a:r>
            <a:endParaRPr lang="en-US" sz="950" dirty="0"/>
          </a:p>
        </p:txBody>
      </p:sp>
      <p:sp>
        <p:nvSpPr>
          <p:cNvPr id="70" name="Resident-Complaint line"/>
          <p:cNvSpPr/>
          <p:nvPr/>
        </p:nvSpPr>
        <p:spPr>
          <a:xfrm>
            <a:off x="8778240" y="3703320"/>
            <a:ext cx="685800" cy="0"/>
          </a:xfrm>
          <a:prstGeom prst="line">
            <a:avLst/>
          </a:prstGeom>
          <a:noFill/>
          <a:ln w="15875">
            <a:solidFill>
              <a:schemeClr val="tx2"/>
            </a:solidFill>
            <a:prstDash val="solid"/>
          </a:ln>
        </p:spPr>
      </p:sp>
      <p:sp>
        <p:nvSpPr>
          <p:cNvPr id="71" name="Resident end"/>
          <p:cNvSpPr txBox="1"/>
          <p:nvPr/>
        </p:nvSpPr>
        <p:spPr>
          <a:xfrm>
            <a:off x="8814816" y="3465576"/>
            <a:ext cx="365760" cy="201168"/>
          </a:xfrm>
          <a:prstGeom prst="rect">
            <a:avLst/>
          </a:prstGeom>
          <a:noFill/>
          <a:ln/>
        </p:spPr>
        <p:txBody>
          <a:bodyPr wrap="square" lIns="0" tIns="0" rIns="0" bIns="0" rtlCol="0" anchor="ctr"/>
          <a:lstStyle/>
          <a:p>
            <a:pPr indent="0" marL="0">
              <a:buNone/>
            </a:pPr>
            <a:r>
              <a:rPr lang="en-US" sz="1000" b="1" dirty="0">
                <a:solidFill>
                  <a:schemeClr val="tx2"/>
                </a:solidFill>
              </a:rPr>
              <a:t>1</a:t>
            </a:r>
            <a:endParaRPr lang="en-US" sz="1000" dirty="0"/>
          </a:p>
        </p:txBody>
      </p:sp>
      <p:sp>
        <p:nvSpPr>
          <p:cNvPr id="72" name="Complaint end"/>
          <p:cNvSpPr txBox="1"/>
          <p:nvPr/>
        </p:nvSpPr>
        <p:spPr>
          <a:xfrm>
            <a:off x="9061704" y="3465576"/>
            <a:ext cx="365760" cy="201168"/>
          </a:xfrm>
          <a:prstGeom prst="rect">
            <a:avLst/>
          </a:prstGeom>
          <a:noFill/>
          <a:ln/>
        </p:spPr>
        <p:txBody>
          <a:bodyPr wrap="square" lIns="0" tIns="0" rIns="0" bIns="0" rtlCol="0" anchor="ctr"/>
          <a:lstStyle/>
          <a:p>
            <a:pPr algn="r" indent="0" marL="0">
              <a:buNone/>
            </a:pPr>
            <a:r>
              <a:rPr lang="en-US" sz="1000" b="1" dirty="0">
                <a:solidFill>
                  <a:schemeClr val="tx2"/>
                </a:solidFill>
              </a:rPr>
              <a:t>N</a:t>
            </a:r>
            <a:endParaRPr lang="en-US" sz="1000" dirty="0"/>
          </a:p>
        </p:txBody>
      </p:sp>
      <p:sp>
        <p:nvSpPr>
          <p:cNvPr id="73" name="Resident-Complaint label"/>
          <p:cNvSpPr txBox="1"/>
          <p:nvPr/>
        </p:nvSpPr>
        <p:spPr>
          <a:xfrm>
            <a:off x="8778240" y="3730752"/>
            <a:ext cx="685800" cy="201168"/>
          </a:xfrm>
          <a:prstGeom prst="rect">
            <a:avLst/>
          </a:prstGeom>
          <a:noFill/>
          <a:ln/>
        </p:spPr>
        <p:txBody>
          <a:bodyPr wrap="square" lIns="0" tIns="0" rIns="0" bIns="0" rtlCol="0" anchor="ctr"/>
          <a:lstStyle/>
          <a:p>
            <a:pPr algn="ctr" indent="0" marL="0">
              <a:buNone/>
            </a:pPr>
            <a:r>
              <a:rPr lang="en-US" sz="950" i="1" dirty="0">
                <a:solidFill>
                  <a:schemeClr val="accent6"/>
                </a:solidFill>
              </a:rPr>
              <a:t>raises</a:t>
            </a:r>
            <a:endParaRPr lang="en-US" sz="950" dirty="0"/>
          </a:p>
        </p:txBody>
      </p:sp>
      <p:sp>
        <p:nvSpPr>
          <p:cNvPr id="74" name="Apartment-ParkingSpace line"/>
          <p:cNvSpPr/>
          <p:nvPr/>
        </p:nvSpPr>
        <p:spPr>
          <a:xfrm>
            <a:off x="4594860" y="4389120"/>
            <a:ext cx="0" cy="502920"/>
          </a:xfrm>
          <a:prstGeom prst="line">
            <a:avLst/>
          </a:prstGeom>
          <a:noFill/>
          <a:ln w="15875">
            <a:solidFill>
              <a:schemeClr val="tx2"/>
            </a:solidFill>
            <a:prstDash val="solid"/>
          </a:ln>
        </p:spPr>
      </p:sp>
      <p:sp>
        <p:nvSpPr>
          <p:cNvPr id="75" name="Apartment end"/>
          <p:cNvSpPr txBox="1"/>
          <p:nvPr/>
        </p:nvSpPr>
        <p:spPr>
          <a:xfrm>
            <a:off x="4649724" y="4398264"/>
            <a:ext cx="411480" cy="182880"/>
          </a:xfrm>
          <a:prstGeom prst="rect">
            <a:avLst/>
          </a:prstGeom>
          <a:noFill/>
          <a:ln/>
        </p:spPr>
        <p:txBody>
          <a:bodyPr wrap="square" lIns="0" tIns="0" rIns="0" bIns="0" rtlCol="0" anchor="ctr"/>
          <a:lstStyle/>
          <a:p>
            <a:pPr indent="0" marL="0">
              <a:buNone/>
            </a:pPr>
            <a:r>
              <a:rPr lang="en-US" sz="1000" b="1" dirty="0">
                <a:solidFill>
                  <a:schemeClr val="tx2"/>
                </a:solidFill>
              </a:rPr>
              <a:t>0..1</a:t>
            </a:r>
            <a:endParaRPr lang="en-US" sz="1000" dirty="0"/>
          </a:p>
        </p:txBody>
      </p:sp>
      <p:sp>
        <p:nvSpPr>
          <p:cNvPr id="76" name="ParkingSpace end"/>
          <p:cNvSpPr txBox="1"/>
          <p:nvPr/>
        </p:nvSpPr>
        <p:spPr>
          <a:xfrm>
            <a:off x="4649724" y="4700016"/>
            <a:ext cx="411480" cy="182880"/>
          </a:xfrm>
          <a:prstGeom prst="rect">
            <a:avLst/>
          </a:prstGeom>
          <a:noFill/>
          <a:ln/>
        </p:spPr>
        <p:txBody>
          <a:bodyPr wrap="square" lIns="0" tIns="0" rIns="0" bIns="0" rtlCol="0" anchor="ctr"/>
          <a:lstStyle/>
          <a:p>
            <a:pPr indent="0" marL="0">
              <a:buNone/>
            </a:pPr>
            <a:r>
              <a:rPr lang="en-US" sz="1000" b="1" dirty="0">
                <a:solidFill>
                  <a:schemeClr val="tx2"/>
                </a:solidFill>
              </a:rPr>
              <a:t>N</a:t>
            </a:r>
            <a:endParaRPr lang="en-US" sz="1000" dirty="0"/>
          </a:p>
        </p:txBody>
      </p:sp>
      <p:sp>
        <p:nvSpPr>
          <p:cNvPr id="77" name="Apartment-ParkingSpace label"/>
          <p:cNvSpPr txBox="1"/>
          <p:nvPr/>
        </p:nvSpPr>
        <p:spPr>
          <a:xfrm>
            <a:off x="3451860" y="4539996"/>
            <a:ext cx="1051560" cy="201168"/>
          </a:xfrm>
          <a:prstGeom prst="rect">
            <a:avLst/>
          </a:prstGeom>
          <a:noFill/>
          <a:ln/>
        </p:spPr>
        <p:txBody>
          <a:bodyPr wrap="square" lIns="0" tIns="0" rIns="0" bIns="0" rtlCol="0" anchor="ctr"/>
          <a:lstStyle/>
          <a:p>
            <a:pPr algn="r" indent="0" marL="0">
              <a:buNone/>
            </a:pPr>
            <a:r>
              <a:rPr lang="en-US" sz="950" i="1" dirty="0">
                <a:solidFill>
                  <a:schemeClr val="accent6"/>
                </a:solidFill>
              </a:rPr>
              <a:t>allocated to</a:t>
            </a:r>
            <a:endParaRPr lang="en-US" sz="950" dirty="0"/>
          </a:p>
        </p:txBody>
      </p:sp>
      <p:sp>
        <p:nvSpPr>
          <p:cNvPr id="78" name="Resident-Vehicle line"/>
          <p:cNvSpPr/>
          <p:nvPr/>
        </p:nvSpPr>
        <p:spPr>
          <a:xfrm>
            <a:off x="7612380" y="4389120"/>
            <a:ext cx="0" cy="502920"/>
          </a:xfrm>
          <a:prstGeom prst="line">
            <a:avLst/>
          </a:prstGeom>
          <a:noFill/>
          <a:ln w="15875">
            <a:solidFill>
              <a:schemeClr val="tx2"/>
            </a:solidFill>
            <a:prstDash val="solid"/>
          </a:ln>
        </p:spPr>
      </p:sp>
      <p:sp>
        <p:nvSpPr>
          <p:cNvPr id="79" name="Resident end"/>
          <p:cNvSpPr txBox="1"/>
          <p:nvPr/>
        </p:nvSpPr>
        <p:spPr>
          <a:xfrm>
            <a:off x="7667244" y="4398264"/>
            <a:ext cx="411480" cy="182880"/>
          </a:xfrm>
          <a:prstGeom prst="rect">
            <a:avLst/>
          </a:prstGeom>
          <a:noFill/>
          <a:ln/>
        </p:spPr>
        <p:txBody>
          <a:bodyPr wrap="square" lIns="0" tIns="0" rIns="0" bIns="0" rtlCol="0" anchor="ctr"/>
          <a:lstStyle/>
          <a:p>
            <a:pPr indent="0" marL="0">
              <a:buNone/>
            </a:pPr>
            <a:r>
              <a:rPr lang="en-US" sz="1000" b="1" dirty="0">
                <a:solidFill>
                  <a:schemeClr val="tx2"/>
                </a:solidFill>
              </a:rPr>
              <a:t>1</a:t>
            </a:r>
            <a:endParaRPr lang="en-US" sz="1000" dirty="0"/>
          </a:p>
        </p:txBody>
      </p:sp>
      <p:sp>
        <p:nvSpPr>
          <p:cNvPr id="80" name="Vehicle end"/>
          <p:cNvSpPr txBox="1"/>
          <p:nvPr/>
        </p:nvSpPr>
        <p:spPr>
          <a:xfrm>
            <a:off x="7667244" y="4700016"/>
            <a:ext cx="411480" cy="182880"/>
          </a:xfrm>
          <a:prstGeom prst="rect">
            <a:avLst/>
          </a:prstGeom>
          <a:noFill/>
          <a:ln/>
        </p:spPr>
        <p:txBody>
          <a:bodyPr wrap="square" lIns="0" tIns="0" rIns="0" bIns="0" rtlCol="0" anchor="ctr"/>
          <a:lstStyle/>
          <a:p>
            <a:pPr indent="0" marL="0">
              <a:buNone/>
            </a:pPr>
            <a:r>
              <a:rPr lang="en-US" sz="1000" b="1" dirty="0">
                <a:solidFill>
                  <a:schemeClr val="tx2"/>
                </a:solidFill>
              </a:rPr>
              <a:t>N</a:t>
            </a:r>
            <a:endParaRPr lang="en-US" sz="1000" dirty="0"/>
          </a:p>
        </p:txBody>
      </p:sp>
      <p:sp>
        <p:nvSpPr>
          <p:cNvPr id="81" name="Resident-Vehicle label"/>
          <p:cNvSpPr txBox="1"/>
          <p:nvPr/>
        </p:nvSpPr>
        <p:spPr>
          <a:xfrm>
            <a:off x="6469380" y="4539996"/>
            <a:ext cx="1051560" cy="201168"/>
          </a:xfrm>
          <a:prstGeom prst="rect">
            <a:avLst/>
          </a:prstGeom>
          <a:noFill/>
          <a:ln/>
        </p:spPr>
        <p:txBody>
          <a:bodyPr wrap="square" lIns="0" tIns="0" rIns="0" bIns="0" rtlCol="0" anchor="ctr"/>
          <a:lstStyle/>
          <a:p>
            <a:pPr algn="r" indent="0" marL="0">
              <a:buNone/>
            </a:pPr>
            <a:r>
              <a:rPr lang="en-US" sz="950" i="1" dirty="0">
                <a:solidFill>
                  <a:schemeClr val="accent6"/>
                </a:solidFill>
              </a:rPr>
              <a:t>owns</a:t>
            </a:r>
            <a:endParaRPr lang="en-US" sz="950" dirty="0"/>
          </a:p>
        </p:txBody>
      </p:sp>
      <p:sp>
        <p:nvSpPr>
          <p:cNvPr id="82" name="ParkingSpace-Vehicle line"/>
          <p:cNvSpPr/>
          <p:nvPr/>
        </p:nvSpPr>
        <p:spPr>
          <a:xfrm>
            <a:off x="5760720" y="5577840"/>
            <a:ext cx="685800" cy="0"/>
          </a:xfrm>
          <a:prstGeom prst="line">
            <a:avLst/>
          </a:prstGeom>
          <a:noFill/>
          <a:ln w="15875">
            <a:solidFill>
              <a:schemeClr val="tx2"/>
            </a:solidFill>
            <a:prstDash val="solid"/>
          </a:ln>
        </p:spPr>
      </p:sp>
      <p:sp>
        <p:nvSpPr>
          <p:cNvPr id="83" name="ParkingSpace end"/>
          <p:cNvSpPr txBox="1"/>
          <p:nvPr/>
        </p:nvSpPr>
        <p:spPr>
          <a:xfrm>
            <a:off x="5797296" y="5340096"/>
            <a:ext cx="365760" cy="201168"/>
          </a:xfrm>
          <a:prstGeom prst="rect">
            <a:avLst/>
          </a:prstGeom>
          <a:noFill/>
          <a:ln/>
        </p:spPr>
        <p:txBody>
          <a:bodyPr wrap="square" lIns="0" tIns="0" rIns="0" bIns="0" rtlCol="0" anchor="ctr"/>
          <a:lstStyle/>
          <a:p>
            <a:pPr indent="0" marL="0">
              <a:buNone/>
            </a:pPr>
            <a:r>
              <a:rPr lang="en-US" sz="1000" b="1" dirty="0">
                <a:solidFill>
                  <a:schemeClr val="tx2"/>
                </a:solidFill>
              </a:rPr>
              <a:t>0..1</a:t>
            </a:r>
            <a:endParaRPr lang="en-US" sz="1000" dirty="0"/>
          </a:p>
        </p:txBody>
      </p:sp>
      <p:sp>
        <p:nvSpPr>
          <p:cNvPr id="84" name="Vehicle end"/>
          <p:cNvSpPr txBox="1"/>
          <p:nvPr/>
        </p:nvSpPr>
        <p:spPr>
          <a:xfrm>
            <a:off x="6044184" y="5340096"/>
            <a:ext cx="365760" cy="201168"/>
          </a:xfrm>
          <a:prstGeom prst="rect">
            <a:avLst/>
          </a:prstGeom>
          <a:noFill/>
          <a:ln/>
        </p:spPr>
        <p:txBody>
          <a:bodyPr wrap="square" lIns="0" tIns="0" rIns="0" bIns="0" rtlCol="0" anchor="ctr"/>
          <a:lstStyle/>
          <a:p>
            <a:pPr algn="r" indent="0" marL="0">
              <a:buNone/>
            </a:pPr>
            <a:r>
              <a:rPr lang="en-US" sz="1000" b="1" dirty="0">
                <a:solidFill>
                  <a:schemeClr val="tx2"/>
                </a:solidFill>
              </a:rPr>
              <a:t>0..1</a:t>
            </a:r>
            <a:endParaRPr lang="en-US" sz="1000" dirty="0"/>
          </a:p>
        </p:txBody>
      </p:sp>
      <p:sp>
        <p:nvSpPr>
          <p:cNvPr id="85" name="ParkingSpace-Vehicle label"/>
          <p:cNvSpPr txBox="1"/>
          <p:nvPr/>
        </p:nvSpPr>
        <p:spPr>
          <a:xfrm>
            <a:off x="5760720" y="5605272"/>
            <a:ext cx="685800" cy="201168"/>
          </a:xfrm>
          <a:prstGeom prst="rect">
            <a:avLst/>
          </a:prstGeom>
          <a:noFill/>
          <a:ln/>
        </p:spPr>
        <p:txBody>
          <a:bodyPr wrap="square" lIns="0" tIns="0" rIns="0" bIns="0" rtlCol="0" anchor="ctr"/>
          <a:lstStyle/>
          <a:p>
            <a:pPr algn="ctr" indent="0" marL="0">
              <a:buNone/>
            </a:pPr>
            <a:r>
              <a:rPr lang="en-US" sz="950" i="1" dirty="0">
                <a:solidFill>
                  <a:schemeClr val="accent6"/>
                </a:solidFill>
              </a:rPr>
              <a:t>parks</a:t>
            </a:r>
            <a:endParaRPr lang="en-US" sz="9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Relationships and cardinality</a:t>
            </a:r>
            <a:endParaRPr lang="en-US" sz="3200" dirty="0"/>
          </a:p>
        </p:txBody>
      </p:sp>
      <p:graphicFrame>
        <p:nvGraphicFramePr>
          <p:cNvPr id="6" name="Relationships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91840"/>
                <a:gridCol w="1280160"/>
                <a:gridCol w="2834640"/>
                <a:gridCol w="3657600"/>
              </a:tblGrid>
              <a:tr h="429768">
                <a:tc>
                  <a:txBody>
                    <a:bodyPr/>
                    <a:lstStyle/>
                    <a:p>
                      <a:pPr indent="0" marL="0">
                        <a:buNone/>
                      </a:pPr>
                      <a:r>
                        <a:rPr lang="en-US" sz="1300" b="1" dirty="0">
                          <a:solidFill>
                            <a:schemeClr val="bg1"/>
                          </a:solidFill>
                        </a:rPr>
                        <a:t>Relationship</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Cardinality</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Participation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Implemented as</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r>
              <a:tr h="429768">
                <a:tc>
                  <a:txBody>
                    <a:bodyPr/>
                    <a:lstStyle/>
                    <a:p>
                      <a:pPr indent="0" marL="0">
                        <a:buNone/>
                      </a:pPr>
                      <a:r>
                        <a:rPr lang="en-US" sz="1300" b="1" dirty="0">
                          <a:solidFill>
                            <a:schemeClr val="tx1"/>
                          </a:solidFill>
                        </a:rPr>
                        <a:t>Apartment houses Resident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 : 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Resident must have a flat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Resident.apartment_id NOT NULL → Apartment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Apartment billed MaintenancePayment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 : 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Bill must belong to a flat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FK + UNIQUE (apartment_id, payment_month)</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r h="429768">
                <a:tc>
                  <a:txBody>
                    <a:bodyPr/>
                    <a:lstStyle/>
                    <a:p>
                      <a:pPr indent="0" marL="0">
                        <a:buNone/>
                      </a:pPr>
                      <a:r>
                        <a:rPr lang="en-US" sz="1300" b="1" dirty="0">
                          <a:solidFill>
                            <a:schemeClr val="tx1"/>
                          </a:solidFill>
                        </a:rPr>
                        <a:t>Apartment allocated ParkingSpace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 : 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Optional (free slots have no flat)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ParkingSpace.apartment_id NULL allowed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Resident owns Vehicle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 : 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Vehicle must have an owner</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Vehicle.resident_id NOT NULL</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r h="429768">
                <a:tc>
                  <a:txBody>
                    <a:bodyPr/>
                    <a:lstStyle/>
                    <a:p>
                      <a:pPr indent="0" marL="0">
                        <a:buNone/>
                      </a:pPr>
                      <a:r>
                        <a:rPr lang="en-US" sz="1300" b="1" dirty="0">
                          <a:solidFill>
                            <a:schemeClr val="tx1"/>
                          </a:solidFill>
                        </a:rPr>
                        <a:t>ParkingSpace parks Vehicle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 : 1</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Optional on both sides</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Vehicle.parking_id UNIQUE, NULL allowed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Resident raises Complaint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 : 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Complaint must have a resident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Complaint.resident_id NOT NULL</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r h="429768">
                <a:tc>
                  <a:txBody>
                    <a:bodyPr/>
                    <a:lstStyle/>
                    <a:p>
                      <a:pPr indent="0" marL="0">
                        <a:buNone/>
                      </a:pPr>
                      <a:r>
                        <a:rPr lang="en-US" sz="1300" b="1" dirty="0">
                          <a:solidFill>
                            <a:schemeClr val="tx1"/>
                          </a:solidFill>
                        </a:rPr>
                        <a:t>Staff assigned Complaint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 : 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Optional (unassigned = OPEN)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Complaint.staff_id NULL allowed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UserAccount linked to Resident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 : 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Optional (not everyone logs in)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Resident.account_id + UNIQUE (account_id, apartment_id)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r h="429768">
                <a:tc>
                  <a:txBody>
                    <a:bodyPr/>
                    <a:lstStyle/>
                    <a:p>
                      <a:pPr indent="0" marL="0">
                        <a:buNone/>
                      </a:pPr>
                      <a:r>
                        <a:rPr lang="en-US" sz="1300" b="1" dirty="0">
                          <a:solidFill>
                            <a:schemeClr val="tx1"/>
                          </a:solidFill>
                        </a:rPr>
                        <a:t>UserAccount logs in as Staff</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 : 1</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Optional</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UserAccount.staff_id UNIQUE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Relational schema</a:t>
            </a:r>
            <a:endParaRPr lang="en-US" sz="3200" dirty="0"/>
          </a:p>
        </p:txBody>
      </p:sp>
      <p:sp>
        <p:nvSpPr>
          <p:cNvPr id="3" name="Schema listing"/>
          <p:cNvSpPr txBox="1"/>
          <p:nvPr/>
        </p:nvSpPr>
        <p:spPr>
          <a:xfrm>
            <a:off x="548640" y="1234440"/>
            <a:ext cx="11064240" cy="4343400"/>
          </a:xfrm>
          <a:prstGeom prst="rect">
            <a:avLst/>
          </a:prstGeom>
          <a:noFill/>
          <a:ln/>
        </p:spPr>
        <p:txBody>
          <a:bodyPr wrap="square" lIns="0" tIns="0" rIns="0" bIns="0" rtlCol="0" anchor="t"/>
          <a:lstStyle/>
          <a:p>
            <a:pPr indent="0" marL="0">
              <a:spcAft>
                <a:spcPts val="700"/>
              </a:spcAft>
              <a:buNone/>
            </a:pPr>
            <a:r>
              <a:rPr lang="en-US" sz="1500" b="1" dirty="0">
                <a:solidFill>
                  <a:schemeClr val="tx2"/>
                </a:solidFill>
              </a:rPr>
              <a:t>Apartment</a:t>
            </a:r>
            <a:pPr indent="0" marL="0">
              <a:spcAft>
                <a:spcPts val="700"/>
              </a:spcAft>
              <a:buNone/>
            </a:pPr>
            <a:r>
              <a:rPr lang="en-US" sz="1500" dirty="0">
                <a:solidFill>
                  <a:schemeClr val="tx1"/>
                </a:solidFill>
              </a:rPr>
              <a:t> ( </a:t>
            </a:r>
            <a:pPr indent="0" marL="0">
              <a:spcAft>
                <a:spcPts val="700"/>
              </a:spcAft>
              <a:buNone/>
            </a:pPr>
            <a:r>
              <a:rPr lang="en-US" sz="1500" b="1" u="sng" dirty="0">
                <a:solidFill>
                  <a:schemeClr val="accent2"/>
                </a:solidFill>
              </a:rPr>
              <a:t>apartment_id</a:t>
            </a:r>
            <a:pPr indent="0" marL="0">
              <a:spcAft>
                <a:spcPts val="700"/>
              </a:spcAft>
              <a:buNone/>
            </a:pPr>
            <a:r>
              <a:rPr lang="en-US" sz="1500" dirty="0">
                <a:solidFill>
                  <a:schemeClr val="tx1"/>
                </a:solidFill>
              </a:rPr>
              <a:t>, block, floor_no, flat_no, bhk )</a:t>
            </a:r>
            <a:endParaRPr lang="en-US" sz="1500" dirty="0"/>
          </a:p>
          <a:p>
            <a:pPr indent="0" marL="0">
              <a:spcAft>
                <a:spcPts val="700"/>
              </a:spcAft>
              <a:buNone/>
            </a:pPr>
            <a:r>
              <a:rPr lang="en-US" sz="1500" b="1" dirty="0">
                <a:solidFill>
                  <a:schemeClr val="tx2"/>
                </a:solidFill>
              </a:rPr>
              <a:t>Resident</a:t>
            </a:r>
            <a:pPr indent="0" marL="0">
              <a:spcAft>
                <a:spcPts val="700"/>
              </a:spcAft>
              <a:buNone/>
            </a:pPr>
            <a:r>
              <a:rPr lang="en-US" sz="1500" dirty="0">
                <a:solidFill>
                  <a:schemeClr val="tx1"/>
                </a:solidFill>
              </a:rPr>
              <a:t> ( </a:t>
            </a:r>
            <a:pPr indent="0" marL="0">
              <a:spcAft>
                <a:spcPts val="700"/>
              </a:spcAft>
              <a:buNone/>
            </a:pPr>
            <a:r>
              <a:rPr lang="en-US" sz="1500" b="1" u="sng" dirty="0">
                <a:solidFill>
                  <a:schemeClr val="accent2"/>
                </a:solidFill>
              </a:rPr>
              <a:t>resident_id</a:t>
            </a:r>
            <a:pPr indent="0" marL="0">
              <a:spcAft>
                <a:spcPts val="700"/>
              </a:spcAft>
              <a:buNone/>
            </a:pPr>
            <a:r>
              <a:rPr lang="en-US" sz="1500" dirty="0">
                <a:solidFill>
                  <a:schemeClr val="tx1"/>
                </a:solidFill>
              </a:rPr>
              <a:t>, </a:t>
            </a:r>
            <a:pPr indent="0" marL="0">
              <a:spcAft>
                <a:spcPts val="700"/>
              </a:spcAft>
              <a:buNone/>
            </a:pPr>
            <a:r>
              <a:rPr lang="en-US" sz="1500" i="1" dirty="0">
                <a:solidFill>
                  <a:schemeClr val="accent5"/>
                </a:solidFill>
              </a:rPr>
              <a:t>apartment_id</a:t>
            </a:r>
            <a:pPr indent="0" marL="0">
              <a:spcAft>
                <a:spcPts val="700"/>
              </a:spcAft>
              <a:buNone/>
            </a:pPr>
            <a:r>
              <a:rPr lang="en-US" sz="1500" dirty="0">
                <a:solidFill>
                  <a:schemeClr val="tx1"/>
                </a:solidFill>
              </a:rPr>
              <a:t>, </a:t>
            </a:r>
            <a:pPr indent="0" marL="0">
              <a:spcAft>
                <a:spcPts val="700"/>
              </a:spcAft>
              <a:buNone/>
            </a:pPr>
            <a:r>
              <a:rPr lang="en-US" sz="1500" i="1" dirty="0">
                <a:solidFill>
                  <a:schemeClr val="accent5"/>
                </a:solidFill>
              </a:rPr>
              <a:t>account_id</a:t>
            </a:r>
            <a:pPr indent="0" marL="0">
              <a:spcAft>
                <a:spcPts val="700"/>
              </a:spcAft>
              <a:buNone/>
            </a:pPr>
            <a:r>
              <a:rPr lang="en-US" sz="1500" dirty="0">
                <a:solidFill>
                  <a:schemeClr val="tx1"/>
                </a:solidFill>
              </a:rPr>
              <a:t>, name, phone, email, resident_type, is_active )</a:t>
            </a:r>
            <a:endParaRPr lang="en-US" sz="1500" dirty="0"/>
          </a:p>
          <a:p>
            <a:pPr indent="0" marL="0">
              <a:spcAft>
                <a:spcPts val="700"/>
              </a:spcAft>
              <a:buNone/>
            </a:pPr>
            <a:r>
              <a:rPr lang="en-US" sz="1500" b="1" dirty="0">
                <a:solidFill>
                  <a:schemeClr val="tx2"/>
                </a:solidFill>
              </a:rPr>
              <a:t>Staff</a:t>
            </a:r>
            <a:pPr indent="0" marL="0">
              <a:spcAft>
                <a:spcPts val="700"/>
              </a:spcAft>
              <a:buNone/>
            </a:pPr>
            <a:r>
              <a:rPr lang="en-US" sz="1500" dirty="0">
                <a:solidFill>
                  <a:schemeClr val="tx1"/>
                </a:solidFill>
              </a:rPr>
              <a:t> ( </a:t>
            </a:r>
            <a:pPr indent="0" marL="0">
              <a:spcAft>
                <a:spcPts val="700"/>
              </a:spcAft>
              <a:buNone/>
            </a:pPr>
            <a:r>
              <a:rPr lang="en-US" sz="1500" b="1" u="sng" dirty="0">
                <a:solidFill>
                  <a:schemeClr val="accent2"/>
                </a:solidFill>
              </a:rPr>
              <a:t>staff_id</a:t>
            </a:r>
            <a:pPr indent="0" marL="0">
              <a:spcAft>
                <a:spcPts val="700"/>
              </a:spcAft>
              <a:buNone/>
            </a:pPr>
            <a:r>
              <a:rPr lang="en-US" sz="1500" dirty="0">
                <a:solidFill>
                  <a:schemeClr val="tx1"/>
                </a:solidFill>
              </a:rPr>
              <a:t>, name, role, phone, salary, is_active )</a:t>
            </a:r>
            <a:endParaRPr lang="en-US" sz="1500" dirty="0"/>
          </a:p>
          <a:p>
            <a:pPr indent="0" marL="0">
              <a:spcAft>
                <a:spcPts val="700"/>
              </a:spcAft>
              <a:buNone/>
            </a:pPr>
            <a:r>
              <a:rPr lang="en-US" sz="1500" b="1" dirty="0">
                <a:solidFill>
                  <a:schemeClr val="tx2"/>
                </a:solidFill>
              </a:rPr>
              <a:t>ParkingSpace</a:t>
            </a:r>
            <a:pPr indent="0" marL="0">
              <a:spcAft>
                <a:spcPts val="700"/>
              </a:spcAft>
              <a:buNone/>
            </a:pPr>
            <a:r>
              <a:rPr lang="en-US" sz="1500" dirty="0">
                <a:solidFill>
                  <a:schemeClr val="tx1"/>
                </a:solidFill>
              </a:rPr>
              <a:t> ( </a:t>
            </a:r>
            <a:pPr indent="0" marL="0">
              <a:spcAft>
                <a:spcPts val="700"/>
              </a:spcAft>
              <a:buNone/>
            </a:pPr>
            <a:r>
              <a:rPr lang="en-US" sz="1500" b="1" u="sng" dirty="0">
                <a:solidFill>
                  <a:schemeClr val="accent2"/>
                </a:solidFill>
              </a:rPr>
              <a:t>parking_id</a:t>
            </a:r>
            <a:pPr indent="0" marL="0">
              <a:spcAft>
                <a:spcPts val="700"/>
              </a:spcAft>
              <a:buNone/>
            </a:pPr>
            <a:r>
              <a:rPr lang="en-US" sz="1500" dirty="0">
                <a:solidFill>
                  <a:schemeClr val="tx1"/>
                </a:solidFill>
              </a:rPr>
              <a:t>, </a:t>
            </a:r>
            <a:pPr indent="0" marL="0">
              <a:spcAft>
                <a:spcPts val="700"/>
              </a:spcAft>
              <a:buNone/>
            </a:pPr>
            <a:r>
              <a:rPr lang="en-US" sz="1500" i="1" dirty="0">
                <a:solidFill>
                  <a:schemeClr val="accent5"/>
                </a:solidFill>
              </a:rPr>
              <a:t>apartment_id</a:t>
            </a:r>
            <a:pPr indent="0" marL="0">
              <a:spcAft>
                <a:spcPts val="700"/>
              </a:spcAft>
              <a:buNone/>
            </a:pPr>
            <a:r>
              <a:rPr lang="en-US" sz="1500" dirty="0">
                <a:solidFill>
                  <a:schemeClr val="tx1"/>
                </a:solidFill>
              </a:rPr>
              <a:t>, slot_number, vehicle_type, status )</a:t>
            </a:r>
            <a:endParaRPr lang="en-US" sz="1500" dirty="0"/>
          </a:p>
          <a:p>
            <a:pPr indent="0" marL="0">
              <a:spcAft>
                <a:spcPts val="700"/>
              </a:spcAft>
              <a:buNone/>
            </a:pPr>
            <a:r>
              <a:rPr lang="en-US" sz="1500" b="1" dirty="0">
                <a:solidFill>
                  <a:schemeClr val="tx2"/>
                </a:solidFill>
              </a:rPr>
              <a:t>Vehicle</a:t>
            </a:r>
            <a:pPr indent="0" marL="0">
              <a:spcAft>
                <a:spcPts val="700"/>
              </a:spcAft>
              <a:buNone/>
            </a:pPr>
            <a:r>
              <a:rPr lang="en-US" sz="1500" dirty="0">
                <a:solidFill>
                  <a:schemeClr val="tx1"/>
                </a:solidFill>
              </a:rPr>
              <a:t> ( </a:t>
            </a:r>
            <a:pPr indent="0" marL="0">
              <a:spcAft>
                <a:spcPts val="700"/>
              </a:spcAft>
              <a:buNone/>
            </a:pPr>
            <a:r>
              <a:rPr lang="en-US" sz="1500" b="1" u="sng" dirty="0">
                <a:solidFill>
                  <a:schemeClr val="accent2"/>
                </a:solidFill>
              </a:rPr>
              <a:t>vehicle_id</a:t>
            </a:r>
            <a:pPr indent="0" marL="0">
              <a:spcAft>
                <a:spcPts val="700"/>
              </a:spcAft>
              <a:buNone/>
            </a:pPr>
            <a:r>
              <a:rPr lang="en-US" sz="1500" dirty="0">
                <a:solidFill>
                  <a:schemeClr val="tx1"/>
                </a:solidFill>
              </a:rPr>
              <a:t>, </a:t>
            </a:r>
            <a:pPr indent="0" marL="0">
              <a:spcAft>
                <a:spcPts val="700"/>
              </a:spcAft>
              <a:buNone/>
            </a:pPr>
            <a:r>
              <a:rPr lang="en-US" sz="1500" i="1" dirty="0">
                <a:solidFill>
                  <a:schemeClr val="accent5"/>
                </a:solidFill>
              </a:rPr>
              <a:t>resident_id</a:t>
            </a:r>
            <a:pPr indent="0" marL="0">
              <a:spcAft>
                <a:spcPts val="700"/>
              </a:spcAft>
              <a:buNone/>
            </a:pPr>
            <a:r>
              <a:rPr lang="en-US" sz="1500" dirty="0">
                <a:solidFill>
                  <a:schemeClr val="tx1"/>
                </a:solidFill>
              </a:rPr>
              <a:t>, </a:t>
            </a:r>
            <a:pPr indent="0" marL="0">
              <a:spcAft>
                <a:spcPts val="700"/>
              </a:spcAft>
              <a:buNone/>
            </a:pPr>
            <a:r>
              <a:rPr lang="en-US" sz="1500" i="1" dirty="0">
                <a:solidFill>
                  <a:schemeClr val="accent5"/>
                </a:solidFill>
              </a:rPr>
              <a:t>parking_id</a:t>
            </a:r>
            <a:pPr indent="0" marL="0">
              <a:spcAft>
                <a:spcPts val="700"/>
              </a:spcAft>
              <a:buNone/>
            </a:pPr>
            <a:r>
              <a:rPr lang="en-US" sz="1500" dirty="0">
                <a:solidFill>
                  <a:schemeClr val="tx1"/>
                </a:solidFill>
              </a:rPr>
              <a:t>, vehicle_number, vehicle_type, brand, is_active )</a:t>
            </a:r>
            <a:endParaRPr lang="en-US" sz="1500" dirty="0"/>
          </a:p>
          <a:p>
            <a:pPr indent="0" marL="0">
              <a:spcAft>
                <a:spcPts val="700"/>
              </a:spcAft>
              <a:buNone/>
            </a:pPr>
            <a:r>
              <a:rPr lang="en-US" sz="1500" b="1" dirty="0">
                <a:solidFill>
                  <a:schemeClr val="tx2"/>
                </a:solidFill>
              </a:rPr>
              <a:t>MaintenancePayment</a:t>
            </a:r>
            <a:pPr indent="0" marL="0">
              <a:spcAft>
                <a:spcPts val="700"/>
              </a:spcAft>
              <a:buNone/>
            </a:pPr>
            <a:r>
              <a:rPr lang="en-US" sz="1500" dirty="0">
                <a:solidFill>
                  <a:schemeClr val="tx1"/>
                </a:solidFill>
              </a:rPr>
              <a:t> ( </a:t>
            </a:r>
            <a:pPr indent="0" marL="0">
              <a:spcAft>
                <a:spcPts val="700"/>
              </a:spcAft>
              <a:buNone/>
            </a:pPr>
            <a:r>
              <a:rPr lang="en-US" sz="1500" b="1" u="sng" dirty="0">
                <a:solidFill>
                  <a:schemeClr val="accent2"/>
                </a:solidFill>
              </a:rPr>
              <a:t>payment_id</a:t>
            </a:r>
            <a:pPr indent="0" marL="0">
              <a:spcAft>
                <a:spcPts val="700"/>
              </a:spcAft>
              <a:buNone/>
            </a:pPr>
            <a:r>
              <a:rPr lang="en-US" sz="1500" dirty="0">
                <a:solidFill>
                  <a:schemeClr val="tx1"/>
                </a:solidFill>
              </a:rPr>
              <a:t>, </a:t>
            </a:r>
            <a:pPr indent="0" marL="0">
              <a:spcAft>
                <a:spcPts val="700"/>
              </a:spcAft>
              <a:buNone/>
            </a:pPr>
            <a:r>
              <a:rPr lang="en-US" sz="1500" i="1" dirty="0">
                <a:solidFill>
                  <a:schemeClr val="accent5"/>
                </a:solidFill>
              </a:rPr>
              <a:t>apartment_id</a:t>
            </a:r>
            <a:pPr indent="0" marL="0">
              <a:spcAft>
                <a:spcPts val="700"/>
              </a:spcAft>
              <a:buNone/>
            </a:pPr>
            <a:r>
              <a:rPr lang="en-US" sz="1500" dirty="0">
                <a:solidFill>
                  <a:schemeClr val="tx1"/>
                </a:solidFill>
              </a:rPr>
              <a:t>, amount, payment_month, payment_date, status )</a:t>
            </a:r>
            <a:endParaRPr lang="en-US" sz="1500" dirty="0"/>
          </a:p>
          <a:p>
            <a:pPr indent="0" marL="0">
              <a:spcAft>
                <a:spcPts val="700"/>
              </a:spcAft>
              <a:buNone/>
            </a:pPr>
            <a:r>
              <a:rPr lang="en-US" sz="1500" b="1" dirty="0">
                <a:solidFill>
                  <a:schemeClr val="tx2"/>
                </a:solidFill>
              </a:rPr>
              <a:t>Complaint</a:t>
            </a:r>
            <a:pPr indent="0" marL="0">
              <a:spcAft>
                <a:spcPts val="700"/>
              </a:spcAft>
              <a:buNone/>
            </a:pPr>
            <a:r>
              <a:rPr lang="en-US" sz="1500" dirty="0">
                <a:solidFill>
                  <a:schemeClr val="tx1"/>
                </a:solidFill>
              </a:rPr>
              <a:t> ( </a:t>
            </a:r>
            <a:pPr indent="0" marL="0">
              <a:spcAft>
                <a:spcPts val="700"/>
              </a:spcAft>
              <a:buNone/>
            </a:pPr>
            <a:r>
              <a:rPr lang="en-US" sz="1500" b="1" u="sng" dirty="0">
                <a:solidFill>
                  <a:schemeClr val="accent2"/>
                </a:solidFill>
              </a:rPr>
              <a:t>complaint_id</a:t>
            </a:r>
            <a:pPr indent="0" marL="0">
              <a:spcAft>
                <a:spcPts val="700"/>
              </a:spcAft>
              <a:buNone/>
            </a:pPr>
            <a:r>
              <a:rPr lang="en-US" sz="1500" dirty="0">
                <a:solidFill>
                  <a:schemeClr val="tx1"/>
                </a:solidFill>
              </a:rPr>
              <a:t>, </a:t>
            </a:r>
            <a:pPr indent="0" marL="0">
              <a:spcAft>
                <a:spcPts val="700"/>
              </a:spcAft>
              <a:buNone/>
            </a:pPr>
            <a:r>
              <a:rPr lang="en-US" sz="1500" i="1" dirty="0">
                <a:solidFill>
                  <a:schemeClr val="accent5"/>
                </a:solidFill>
              </a:rPr>
              <a:t>resident_id</a:t>
            </a:r>
            <a:pPr indent="0" marL="0">
              <a:spcAft>
                <a:spcPts val="700"/>
              </a:spcAft>
              <a:buNone/>
            </a:pPr>
            <a:r>
              <a:rPr lang="en-US" sz="1500" dirty="0">
                <a:solidFill>
                  <a:schemeClr val="tx1"/>
                </a:solidFill>
              </a:rPr>
              <a:t>, </a:t>
            </a:r>
            <a:pPr indent="0" marL="0">
              <a:spcAft>
                <a:spcPts val="700"/>
              </a:spcAft>
              <a:buNone/>
            </a:pPr>
            <a:r>
              <a:rPr lang="en-US" sz="1500" i="1" dirty="0">
                <a:solidFill>
                  <a:schemeClr val="accent5"/>
                </a:solidFill>
              </a:rPr>
              <a:t>staff_id</a:t>
            </a:r>
            <a:pPr indent="0" marL="0">
              <a:spcAft>
                <a:spcPts val="700"/>
              </a:spcAft>
              <a:buNone/>
            </a:pPr>
            <a:r>
              <a:rPr lang="en-US" sz="1500" dirty="0">
                <a:solidFill>
                  <a:schemeClr val="tx1"/>
                </a:solidFill>
              </a:rPr>
              <a:t>, category, description, complaint_date, status )</a:t>
            </a:r>
            <a:endParaRPr lang="en-US" sz="1500" dirty="0"/>
          </a:p>
          <a:p>
            <a:pPr indent="0" marL="0">
              <a:spcAft>
                <a:spcPts val="700"/>
              </a:spcAft>
              <a:buNone/>
            </a:pPr>
            <a:r>
              <a:rPr lang="en-US" sz="1500" b="1" dirty="0">
                <a:solidFill>
                  <a:schemeClr val="tx2"/>
                </a:solidFill>
              </a:rPr>
              <a:t>UserAccount</a:t>
            </a:r>
            <a:pPr indent="0" marL="0">
              <a:spcAft>
                <a:spcPts val="700"/>
              </a:spcAft>
              <a:buNone/>
            </a:pPr>
            <a:r>
              <a:rPr lang="en-US" sz="1500" dirty="0">
                <a:solidFill>
                  <a:schemeClr val="tx1"/>
                </a:solidFill>
              </a:rPr>
              <a:t> ( </a:t>
            </a:r>
            <a:pPr indent="0" marL="0">
              <a:spcAft>
                <a:spcPts val="700"/>
              </a:spcAft>
              <a:buNone/>
            </a:pPr>
            <a:r>
              <a:rPr lang="en-US" sz="1500" b="1" u="sng" dirty="0">
                <a:solidFill>
                  <a:schemeClr val="accent2"/>
                </a:solidFill>
              </a:rPr>
              <a:t>user_id</a:t>
            </a:r>
            <a:pPr indent="0" marL="0">
              <a:spcAft>
                <a:spcPts val="700"/>
              </a:spcAft>
              <a:buNone/>
            </a:pPr>
            <a:r>
              <a:rPr lang="en-US" sz="1500" dirty="0">
                <a:solidFill>
                  <a:schemeClr val="tx1"/>
                </a:solidFill>
              </a:rPr>
              <a:t>, </a:t>
            </a:r>
            <a:pPr indent="0" marL="0">
              <a:spcAft>
                <a:spcPts val="700"/>
              </a:spcAft>
              <a:buNone/>
            </a:pPr>
            <a:r>
              <a:rPr lang="en-US" sz="1500" i="1" dirty="0">
                <a:solidFill>
                  <a:schemeClr val="accent5"/>
                </a:solidFill>
              </a:rPr>
              <a:t>staff_id</a:t>
            </a:r>
            <a:pPr indent="0" marL="0">
              <a:spcAft>
                <a:spcPts val="700"/>
              </a:spcAft>
              <a:buNone/>
            </a:pPr>
            <a:r>
              <a:rPr lang="en-US" sz="1500" dirty="0">
                <a:solidFill>
                  <a:schemeClr val="tx1"/>
                </a:solidFill>
              </a:rPr>
              <a:t>, username, email, password_hash, role, is_active, sessions_valid_after )</a:t>
            </a:r>
            <a:endParaRPr lang="en-US" sz="1500" dirty="0"/>
          </a:p>
          <a:p>
            <a:pPr indent="0" marL="0">
              <a:spcAft>
                <a:spcPts val="700"/>
              </a:spcAft>
              <a:buNone/>
            </a:pPr>
            <a:r>
              <a:rPr lang="en-US" sz="1500" b="1" dirty="0">
                <a:solidFill>
                  <a:schemeClr val="tx2"/>
                </a:solidFill>
              </a:rPr>
              <a:t>AccountRequest</a:t>
            </a:r>
            <a:pPr indent="0" marL="0">
              <a:spcAft>
                <a:spcPts val="700"/>
              </a:spcAft>
              <a:buNone/>
            </a:pPr>
            <a:r>
              <a:rPr lang="en-US" sz="1500" dirty="0">
                <a:solidFill>
                  <a:schemeClr val="tx1"/>
                </a:solidFill>
              </a:rPr>
              <a:t> ( </a:t>
            </a:r>
            <a:pPr indent="0" marL="0">
              <a:spcAft>
                <a:spcPts val="700"/>
              </a:spcAft>
              <a:buNone/>
            </a:pPr>
            <a:r>
              <a:rPr lang="en-US" sz="1500" b="1" u="sng" dirty="0">
                <a:solidFill>
                  <a:schemeClr val="accent2"/>
                </a:solidFill>
              </a:rPr>
              <a:t>request_id</a:t>
            </a:r>
            <a:pPr indent="0" marL="0">
              <a:spcAft>
                <a:spcPts val="700"/>
              </a:spcAft>
              <a:buNone/>
            </a:pPr>
            <a:r>
              <a:rPr lang="en-US" sz="1500" dirty="0">
                <a:solidFill>
                  <a:schemeClr val="tx1"/>
                </a:solidFill>
              </a:rPr>
              <a:t>, </a:t>
            </a:r>
            <a:pPr indent="0" marL="0">
              <a:spcAft>
                <a:spcPts val="700"/>
              </a:spcAft>
              <a:buNone/>
            </a:pPr>
            <a:r>
              <a:rPr lang="en-US" sz="1500" i="1" dirty="0">
                <a:solidFill>
                  <a:schemeClr val="accent5"/>
                </a:solidFill>
              </a:rPr>
              <a:t>created_account_id</a:t>
            </a:r>
            <a:pPr indent="0" marL="0">
              <a:spcAft>
                <a:spcPts val="700"/>
              </a:spcAft>
              <a:buNone/>
            </a:pPr>
            <a:r>
              <a:rPr lang="en-US" sz="1500" dirty="0">
                <a:solidFill>
                  <a:schemeClr val="tx1"/>
                </a:solidFill>
              </a:rPr>
              <a:t>, full_name, username, email, password_hash, requested_role, status, reviewed_at )</a:t>
            </a:r>
            <a:endParaRPr lang="en-US" sz="1500" dirty="0"/>
          </a:p>
          <a:p>
            <a:pPr indent="0" marL="0">
              <a:spcAft>
                <a:spcPts val="700"/>
              </a:spcAft>
              <a:buNone/>
            </a:pPr>
            <a:r>
              <a:rPr lang="en-US" sz="1500" b="1" dirty="0">
                <a:solidFill>
                  <a:schemeClr val="tx2"/>
                </a:solidFill>
              </a:rPr>
              <a:t>LoginAttempt</a:t>
            </a:r>
            <a:pPr indent="0" marL="0">
              <a:spcAft>
                <a:spcPts val="700"/>
              </a:spcAft>
              <a:buNone/>
            </a:pPr>
            <a:r>
              <a:rPr lang="en-US" sz="1500" dirty="0">
                <a:solidFill>
                  <a:schemeClr val="tx1"/>
                </a:solidFill>
              </a:rPr>
              <a:t> ( </a:t>
            </a:r>
            <a:pPr indent="0" marL="0">
              <a:spcAft>
                <a:spcPts val="700"/>
              </a:spcAft>
              <a:buNone/>
            </a:pPr>
            <a:r>
              <a:rPr lang="en-US" sz="1500" b="1" u="sng" dirty="0">
                <a:solidFill>
                  <a:schemeClr val="accent2"/>
                </a:solidFill>
              </a:rPr>
              <a:t>identifier</a:t>
            </a:r>
            <a:pPr indent="0" marL="0">
              <a:spcAft>
                <a:spcPts val="700"/>
              </a:spcAft>
              <a:buNone/>
            </a:pPr>
            <a:r>
              <a:rPr lang="en-US" sz="1500" dirty="0">
                <a:solidFill>
                  <a:schemeClr val="tx1"/>
                </a:solidFill>
              </a:rPr>
              <a:t>, failures, reset_at )</a:t>
            </a:r>
            <a:endParaRPr lang="en-US" sz="1500" dirty="0"/>
          </a:p>
        </p:txBody>
      </p:sp>
      <p:sp>
        <p:nvSpPr>
          <p:cNvPr id="4" name="Schema legend"/>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300" b="1" u="sng" dirty="0">
                <a:solidFill>
                  <a:schemeClr val="accent2"/>
                </a:solidFill>
              </a:rPr>
              <a:t>underlined</a:t>
            </a:r>
            <a:pPr indent="0" marL="0">
              <a:buNone/>
            </a:pPr>
            <a:r>
              <a:rPr lang="en-US" sz="1300" dirty="0">
                <a:solidFill>
                  <a:schemeClr val="accent6"/>
                </a:solidFill>
              </a:rPr>
              <a:t> = primary key     </a:t>
            </a:r>
            <a:pPr indent="0" marL="0">
              <a:buNone/>
            </a:pPr>
            <a:r>
              <a:rPr lang="en-US" sz="1300" i="1" dirty="0">
                <a:solidFill>
                  <a:schemeClr val="accent5"/>
                </a:solidFill>
              </a:rPr>
              <a:t>italic</a:t>
            </a:r>
            <a:pPr indent="0" marL="0">
              <a:buNone/>
            </a:pPr>
            <a:r>
              <a:rPr lang="en-US" sz="1300" dirty="0">
                <a:solidFill>
                  <a:schemeClr val="accent6"/>
                </a:solidFill>
              </a:rPr>
              <a:t> = foreign key     Every table also has created_at and updated_at.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Keys and integrity constraints</a:t>
            </a:r>
            <a:endParaRPr lang="en-US" sz="3200" dirty="0"/>
          </a:p>
        </p:txBody>
      </p:sp>
      <p:sp>
        <p:nvSpPr>
          <p:cNvPr id="3" name="Primary keys card"/>
          <p:cNvSpPr/>
          <p:nvPr/>
        </p:nvSpPr>
        <p:spPr>
          <a:xfrm>
            <a:off x="548640" y="1280160"/>
            <a:ext cx="5440680" cy="2240280"/>
          </a:xfrm>
          <a:prstGeom prst="roundRect">
            <a:avLst>
              <a:gd name="adj" fmla="val 3265"/>
            </a:avLst>
          </a:prstGeom>
          <a:solidFill>
            <a:schemeClr val="bg2"/>
          </a:solidFill>
          <a:ln w="12700">
            <a:solidFill>
              <a:schemeClr val="bg2"/>
            </a:solidFill>
            <a:prstDash val="solid"/>
          </a:ln>
        </p:spPr>
      </p:sp>
      <p:sp>
        <p:nvSpPr>
          <p:cNvPr id="4" name="Primary keys circle"/>
          <p:cNvSpPr/>
          <p:nvPr/>
        </p:nvSpPr>
        <p:spPr>
          <a:xfrm>
            <a:off x="777240" y="1508760"/>
            <a:ext cx="548640" cy="548640"/>
          </a:xfrm>
          <a:prstGeom prst="ellipse">
            <a:avLst/>
          </a:prstGeom>
          <a:solidFill>
            <a:schemeClr val="accent2"/>
          </a:solidFill>
          <a:ln w="12700">
            <a:solidFill>
              <a:schemeClr val="accent2"/>
            </a:solidFill>
            <a:prstDash val="solid"/>
          </a:ln>
        </p:spPr>
      </p:sp>
      <p:pic>
        <p:nvPicPr>
          <p:cNvPr id="5" name="Primary keys" descr="preencoded.png">    </p:cNvPr>
          <p:cNvPicPr>
            <a:picLocks noChangeAspect="1"/>
          </p:cNvPicPr>
          <p:nvPr/>
        </p:nvPicPr>
        <p:blipFill>
          <a:blip r:embed="rId1"/>
          <a:stretch>
            <a:fillRect/>
          </a:stretch>
        </p:blipFill>
        <p:spPr>
          <a:xfrm>
            <a:off x="908914" y="1640434"/>
            <a:ext cx="285293" cy="285293"/>
          </a:xfrm>
          <a:prstGeom prst="rect">
            <a:avLst/>
          </a:prstGeom>
        </p:spPr>
      </p:pic>
      <p:sp>
        <p:nvSpPr>
          <p:cNvPr id="6" name="Text 3"/>
          <p:cNvSpPr txBox="1"/>
          <p:nvPr/>
        </p:nvSpPr>
        <p:spPr>
          <a:xfrm>
            <a:off x="1508760" y="1508760"/>
            <a:ext cx="4297680" cy="548640"/>
          </a:xfrm>
          <a:prstGeom prst="rect">
            <a:avLst/>
          </a:prstGeom>
          <a:noFill/>
          <a:ln/>
        </p:spPr>
        <p:txBody>
          <a:bodyPr wrap="square" lIns="0" tIns="0" rIns="0" bIns="0" rtlCol="0" anchor="ctr"/>
          <a:lstStyle/>
          <a:p>
            <a:pPr indent="0" marL="0">
              <a:buNone/>
            </a:pPr>
            <a:r>
              <a:rPr lang="en-US" sz="1900" b="1" dirty="0">
                <a:solidFill>
                  <a:schemeClr val="tx2"/>
                </a:solidFill>
              </a:rPr>
              <a:t>Primary keys</a:t>
            </a:r>
            <a:endParaRPr lang="en-US" sz="1900" dirty="0"/>
          </a:p>
        </p:txBody>
      </p:sp>
      <p:sp>
        <p:nvSpPr>
          <p:cNvPr id="7" name="Text 4"/>
          <p:cNvSpPr txBox="1"/>
          <p:nvPr/>
        </p:nvSpPr>
        <p:spPr>
          <a:xfrm>
            <a:off x="822960" y="2194560"/>
            <a:ext cx="4937760" cy="12344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Surrogate INT AUTO_INCREMENT on every table</a:t>
            </a:r>
            <a:endParaRPr lang="en-US" sz="1400" dirty="0"/>
          </a:p>
          <a:p>
            <a:pPr marL="342900" indent="-342900">
              <a:spcAft>
                <a:spcPts val="300"/>
              </a:spcAft>
              <a:buSzPct val="100000"/>
              <a:buChar char="•"/>
            </a:pPr>
            <a:r>
              <a:rPr lang="en-US" sz="1400" dirty="0">
                <a:solidFill>
                  <a:schemeClr val="tx1"/>
                </a:solidFill>
              </a:rPr>
              <a:t>Stable even if a flat number or phone changes</a:t>
            </a:r>
            <a:endParaRPr lang="en-US" sz="1400" dirty="0"/>
          </a:p>
          <a:p>
            <a:pPr marL="342900" indent="-342900">
              <a:spcAft>
                <a:spcPts val="300"/>
              </a:spcAft>
              <a:buSzPct val="100000"/>
              <a:buChar char="•"/>
            </a:pPr>
            <a:r>
              <a:rPr lang="en-US" sz="1400" dirty="0">
                <a:solidFill>
                  <a:schemeClr val="tx1"/>
                </a:solidFill>
              </a:rPr>
              <a:t>InnoDB clusters rows by primary key</a:t>
            </a:r>
            <a:endParaRPr lang="en-US" sz="1400" dirty="0"/>
          </a:p>
        </p:txBody>
      </p:sp>
      <p:sp>
        <p:nvSpPr>
          <p:cNvPr id="8" name="Candidate / unique keys card"/>
          <p:cNvSpPr/>
          <p:nvPr/>
        </p:nvSpPr>
        <p:spPr>
          <a:xfrm>
            <a:off x="6172200" y="1280160"/>
            <a:ext cx="5440680" cy="2240280"/>
          </a:xfrm>
          <a:prstGeom prst="roundRect">
            <a:avLst>
              <a:gd name="adj" fmla="val 3265"/>
            </a:avLst>
          </a:prstGeom>
          <a:solidFill>
            <a:schemeClr val="bg2"/>
          </a:solidFill>
          <a:ln w="12700">
            <a:solidFill>
              <a:schemeClr val="bg2"/>
            </a:solidFill>
            <a:prstDash val="solid"/>
          </a:ln>
        </p:spPr>
      </p:sp>
      <p:sp>
        <p:nvSpPr>
          <p:cNvPr id="9" name="Candidate / unique keys circle"/>
          <p:cNvSpPr/>
          <p:nvPr/>
        </p:nvSpPr>
        <p:spPr>
          <a:xfrm>
            <a:off x="6400800" y="1508760"/>
            <a:ext cx="548640" cy="548640"/>
          </a:xfrm>
          <a:prstGeom prst="ellipse">
            <a:avLst/>
          </a:prstGeom>
          <a:solidFill>
            <a:schemeClr val="accent1"/>
          </a:solidFill>
          <a:ln w="12700">
            <a:solidFill>
              <a:schemeClr val="accent1"/>
            </a:solidFill>
            <a:prstDash val="solid"/>
          </a:ln>
        </p:spPr>
      </p:sp>
      <p:pic>
        <p:nvPicPr>
          <p:cNvPr id="10" name="Candidate / unique keys" descr="preencoded.png">    </p:cNvPr>
          <p:cNvPicPr>
            <a:picLocks noChangeAspect="1"/>
          </p:cNvPicPr>
          <p:nvPr/>
        </p:nvPicPr>
        <p:blipFill>
          <a:blip r:embed="rId2"/>
          <a:stretch>
            <a:fillRect/>
          </a:stretch>
        </p:blipFill>
        <p:spPr>
          <a:xfrm>
            <a:off x="6532474" y="1640434"/>
            <a:ext cx="285293" cy="285293"/>
          </a:xfrm>
          <a:prstGeom prst="rect">
            <a:avLst/>
          </a:prstGeom>
        </p:spPr>
      </p:pic>
      <p:sp>
        <p:nvSpPr>
          <p:cNvPr id="11" name="Text 7"/>
          <p:cNvSpPr txBox="1"/>
          <p:nvPr/>
        </p:nvSpPr>
        <p:spPr>
          <a:xfrm>
            <a:off x="7132320" y="1508760"/>
            <a:ext cx="4297680" cy="548640"/>
          </a:xfrm>
          <a:prstGeom prst="rect">
            <a:avLst/>
          </a:prstGeom>
          <a:noFill/>
          <a:ln/>
        </p:spPr>
        <p:txBody>
          <a:bodyPr wrap="square" lIns="0" tIns="0" rIns="0" bIns="0" rtlCol="0" anchor="ctr"/>
          <a:lstStyle/>
          <a:p>
            <a:pPr indent="0" marL="0">
              <a:buNone/>
            </a:pPr>
            <a:r>
              <a:rPr lang="en-US" sz="1900" b="1" dirty="0">
                <a:solidFill>
                  <a:schemeClr val="tx2"/>
                </a:solidFill>
              </a:rPr>
              <a:t>Candidate / unique keys</a:t>
            </a:r>
            <a:endParaRPr lang="en-US" sz="1900" dirty="0"/>
          </a:p>
        </p:txBody>
      </p:sp>
      <p:sp>
        <p:nvSpPr>
          <p:cNvPr id="12" name="Text 8"/>
          <p:cNvSpPr txBox="1"/>
          <p:nvPr/>
        </p:nvSpPr>
        <p:spPr>
          <a:xfrm>
            <a:off x="6446520" y="2194560"/>
            <a:ext cx="4937760" cy="12344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(block, flat_no) on Apartment</a:t>
            </a:r>
            <a:endParaRPr lang="en-US" sz="1400" dirty="0"/>
          </a:p>
          <a:p>
            <a:pPr marL="342900" indent="-342900">
              <a:spcAft>
                <a:spcPts val="300"/>
              </a:spcAft>
              <a:buSzPct val="100000"/>
              <a:buChar char="•"/>
            </a:pPr>
            <a:r>
              <a:rPr lang="en-US" sz="1400" dirty="0">
                <a:solidFill>
                  <a:schemeClr val="tx1"/>
                </a:solidFill>
              </a:rPr>
              <a:t>(apartment_id, payment_month): no duplicate bill</a:t>
            </a:r>
            <a:endParaRPr lang="en-US" sz="1400" dirty="0"/>
          </a:p>
          <a:p>
            <a:pPr marL="342900" indent="-342900">
              <a:spcAft>
                <a:spcPts val="300"/>
              </a:spcAft>
              <a:buSzPct val="100000"/>
              <a:buChar char="•"/>
            </a:pPr>
            <a:r>
              <a:rPr lang="en-US" sz="1400" dirty="0">
                <a:solidFill>
                  <a:schemeClr val="tx1"/>
                </a:solidFill>
              </a:rPr>
              <a:t>Vehicle.parking_id: one vehicle per slot</a:t>
            </a:r>
            <a:endParaRPr lang="en-US" sz="1400" dirty="0"/>
          </a:p>
          <a:p>
            <a:pPr marL="342900" indent="-342900">
              <a:spcAft>
                <a:spcPts val="300"/>
              </a:spcAft>
              <a:buSzPct val="100000"/>
              <a:buChar char="•"/>
            </a:pPr>
            <a:r>
              <a:rPr lang="en-US" sz="1400" dirty="0">
                <a:solidFill>
                  <a:schemeClr val="tx1"/>
                </a:solidFill>
              </a:rPr>
              <a:t>(account_id, apartment_id), username, email</a:t>
            </a:r>
            <a:endParaRPr lang="en-US" sz="1400" dirty="0"/>
          </a:p>
        </p:txBody>
      </p:sp>
      <p:sp>
        <p:nvSpPr>
          <p:cNvPr id="13" name="Foreign keys (10) card"/>
          <p:cNvSpPr/>
          <p:nvPr/>
        </p:nvSpPr>
        <p:spPr>
          <a:xfrm>
            <a:off x="548640" y="3749040"/>
            <a:ext cx="5440680" cy="2240280"/>
          </a:xfrm>
          <a:prstGeom prst="roundRect">
            <a:avLst>
              <a:gd name="adj" fmla="val 3265"/>
            </a:avLst>
          </a:prstGeom>
          <a:solidFill>
            <a:schemeClr val="bg2"/>
          </a:solidFill>
          <a:ln w="12700">
            <a:solidFill>
              <a:schemeClr val="bg2"/>
            </a:solidFill>
            <a:prstDash val="solid"/>
          </a:ln>
        </p:spPr>
      </p:sp>
      <p:sp>
        <p:nvSpPr>
          <p:cNvPr id="14" name="Foreign keys (10) circle"/>
          <p:cNvSpPr/>
          <p:nvPr/>
        </p:nvSpPr>
        <p:spPr>
          <a:xfrm>
            <a:off x="777240" y="3977640"/>
            <a:ext cx="548640" cy="548640"/>
          </a:xfrm>
          <a:prstGeom prst="ellipse">
            <a:avLst/>
          </a:prstGeom>
          <a:solidFill>
            <a:schemeClr val="accent5"/>
          </a:solidFill>
          <a:ln w="12700">
            <a:solidFill>
              <a:schemeClr val="accent5"/>
            </a:solidFill>
            <a:prstDash val="solid"/>
          </a:ln>
        </p:spPr>
      </p:sp>
      <p:pic>
        <p:nvPicPr>
          <p:cNvPr id="15" name="Foreign keys (10)" descr="preencoded.png">    </p:cNvPr>
          <p:cNvPicPr>
            <a:picLocks noChangeAspect="1"/>
          </p:cNvPicPr>
          <p:nvPr/>
        </p:nvPicPr>
        <p:blipFill>
          <a:blip r:embed="rId3"/>
          <a:stretch>
            <a:fillRect/>
          </a:stretch>
        </p:blipFill>
        <p:spPr>
          <a:xfrm>
            <a:off x="908914" y="4109314"/>
            <a:ext cx="285293" cy="285293"/>
          </a:xfrm>
          <a:prstGeom prst="rect">
            <a:avLst/>
          </a:prstGeom>
        </p:spPr>
      </p:pic>
      <p:sp>
        <p:nvSpPr>
          <p:cNvPr id="16" name="Text 11"/>
          <p:cNvSpPr txBox="1"/>
          <p:nvPr/>
        </p:nvSpPr>
        <p:spPr>
          <a:xfrm>
            <a:off x="1508760" y="3977640"/>
            <a:ext cx="4297680" cy="548640"/>
          </a:xfrm>
          <a:prstGeom prst="rect">
            <a:avLst/>
          </a:prstGeom>
          <a:noFill/>
          <a:ln/>
        </p:spPr>
        <p:txBody>
          <a:bodyPr wrap="square" lIns="0" tIns="0" rIns="0" bIns="0" rtlCol="0" anchor="ctr"/>
          <a:lstStyle/>
          <a:p>
            <a:pPr indent="0" marL="0">
              <a:buNone/>
            </a:pPr>
            <a:r>
              <a:rPr lang="en-US" sz="1900" b="1" dirty="0">
                <a:solidFill>
                  <a:schemeClr val="tx2"/>
                </a:solidFill>
              </a:rPr>
              <a:t>Foreign keys (10)</a:t>
            </a:r>
            <a:endParaRPr lang="en-US" sz="1900" dirty="0"/>
          </a:p>
        </p:txBody>
      </p:sp>
      <p:sp>
        <p:nvSpPr>
          <p:cNvPr id="17" name="Text 12"/>
          <p:cNvSpPr txBox="1"/>
          <p:nvPr/>
        </p:nvSpPr>
        <p:spPr>
          <a:xfrm>
            <a:off x="822960" y="4663440"/>
            <a:ext cx="4937760" cy="12344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ON DELETE RESTRICT: cannot delete a flat that has bills or residents</a:t>
            </a:r>
            <a:endParaRPr lang="en-US" sz="1400" dirty="0"/>
          </a:p>
          <a:p>
            <a:pPr marL="342900" indent="-342900">
              <a:spcAft>
                <a:spcPts val="300"/>
              </a:spcAft>
              <a:buSzPct val="100000"/>
              <a:buChar char="•"/>
            </a:pPr>
            <a:r>
              <a:rPr lang="en-US" sz="1400" dirty="0">
                <a:solidFill>
                  <a:schemeClr val="tx1"/>
                </a:solidFill>
              </a:rPr>
              <a:t>ON DELETE SET NULL: slot freed if a vehicle row goes</a:t>
            </a:r>
            <a:endParaRPr lang="en-US" sz="1400" dirty="0"/>
          </a:p>
          <a:p>
            <a:pPr marL="342900" indent="-342900">
              <a:spcAft>
                <a:spcPts val="300"/>
              </a:spcAft>
              <a:buSzPct val="100000"/>
              <a:buChar char="•"/>
            </a:pPr>
            <a:r>
              <a:rPr lang="en-US" sz="1400" dirty="0">
                <a:solidFill>
                  <a:schemeClr val="tx1"/>
                </a:solidFill>
              </a:rPr>
              <a:t>History is kept: rows are deactivated, not deleted</a:t>
            </a:r>
            <a:endParaRPr lang="en-US" sz="1400" dirty="0"/>
          </a:p>
        </p:txBody>
      </p:sp>
      <p:sp>
        <p:nvSpPr>
          <p:cNvPr id="18" name="Domain constraints card"/>
          <p:cNvSpPr/>
          <p:nvPr/>
        </p:nvSpPr>
        <p:spPr>
          <a:xfrm>
            <a:off x="6172200" y="3749040"/>
            <a:ext cx="5440680" cy="2240280"/>
          </a:xfrm>
          <a:prstGeom prst="roundRect">
            <a:avLst>
              <a:gd name="adj" fmla="val 3265"/>
            </a:avLst>
          </a:prstGeom>
          <a:solidFill>
            <a:schemeClr val="bg2"/>
          </a:solidFill>
          <a:ln w="12700">
            <a:solidFill>
              <a:schemeClr val="bg2"/>
            </a:solidFill>
            <a:prstDash val="solid"/>
          </a:ln>
        </p:spPr>
      </p:sp>
      <p:sp>
        <p:nvSpPr>
          <p:cNvPr id="19" name="Domain constraints circle"/>
          <p:cNvSpPr/>
          <p:nvPr/>
        </p:nvSpPr>
        <p:spPr>
          <a:xfrm>
            <a:off x="6400800" y="3977640"/>
            <a:ext cx="548640" cy="548640"/>
          </a:xfrm>
          <a:prstGeom prst="ellipse">
            <a:avLst/>
          </a:prstGeom>
          <a:solidFill>
            <a:schemeClr val="accent4"/>
          </a:solidFill>
          <a:ln w="12700">
            <a:solidFill>
              <a:schemeClr val="accent4"/>
            </a:solidFill>
            <a:prstDash val="solid"/>
          </a:ln>
        </p:spPr>
      </p:sp>
      <p:pic>
        <p:nvPicPr>
          <p:cNvPr id="20" name="Domain constraints" descr="preencoded.png">    </p:cNvPr>
          <p:cNvPicPr>
            <a:picLocks noChangeAspect="1"/>
          </p:cNvPicPr>
          <p:nvPr/>
        </p:nvPicPr>
        <p:blipFill>
          <a:blip r:embed="rId4"/>
          <a:stretch>
            <a:fillRect/>
          </a:stretch>
        </p:blipFill>
        <p:spPr>
          <a:xfrm>
            <a:off x="6532474" y="4109314"/>
            <a:ext cx="285293" cy="285293"/>
          </a:xfrm>
          <a:prstGeom prst="rect">
            <a:avLst/>
          </a:prstGeom>
        </p:spPr>
      </p:pic>
      <p:sp>
        <p:nvSpPr>
          <p:cNvPr id="21" name="Text 15"/>
          <p:cNvSpPr txBox="1"/>
          <p:nvPr/>
        </p:nvSpPr>
        <p:spPr>
          <a:xfrm>
            <a:off x="7132320" y="3977640"/>
            <a:ext cx="4297680" cy="548640"/>
          </a:xfrm>
          <a:prstGeom prst="rect">
            <a:avLst/>
          </a:prstGeom>
          <a:noFill/>
          <a:ln/>
        </p:spPr>
        <p:txBody>
          <a:bodyPr wrap="square" lIns="0" tIns="0" rIns="0" bIns="0" rtlCol="0" anchor="ctr"/>
          <a:lstStyle/>
          <a:p>
            <a:pPr indent="0" marL="0">
              <a:buNone/>
            </a:pPr>
            <a:r>
              <a:rPr lang="en-US" sz="1900" b="1" dirty="0">
                <a:solidFill>
                  <a:schemeClr val="tx2"/>
                </a:solidFill>
              </a:rPr>
              <a:t>Domain constraints</a:t>
            </a:r>
            <a:endParaRPr lang="en-US" sz="1900" dirty="0"/>
          </a:p>
        </p:txBody>
      </p:sp>
      <p:sp>
        <p:nvSpPr>
          <p:cNvPr id="22" name="Text 16"/>
          <p:cNvSpPr txBox="1"/>
          <p:nvPr/>
        </p:nvSpPr>
        <p:spPr>
          <a:xfrm>
            <a:off x="6446520" y="4663440"/>
            <a:ext cx="4937760" cy="12344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ENUM: status, resident_type, vehicle_type</a:t>
            </a:r>
            <a:endParaRPr lang="en-US" sz="1400" dirty="0"/>
          </a:p>
          <a:p>
            <a:pPr marL="342900" indent="-342900">
              <a:spcAft>
                <a:spcPts val="300"/>
              </a:spcAft>
              <a:buSzPct val="100000"/>
              <a:buChar char="•"/>
            </a:pPr>
            <a:r>
              <a:rPr lang="en-US" sz="1400" dirty="0">
                <a:solidFill>
                  <a:schemeClr val="tx1"/>
                </a:solidFill>
              </a:rPr>
              <a:t>DECIMAL(10,2) for money, never FLOAT</a:t>
            </a:r>
            <a:endParaRPr lang="en-US" sz="1400" dirty="0"/>
          </a:p>
          <a:p>
            <a:pPr marL="342900" indent="-342900">
              <a:spcAft>
                <a:spcPts val="300"/>
              </a:spcAft>
              <a:buSzPct val="100000"/>
              <a:buChar char="•"/>
            </a:pPr>
            <a:r>
              <a:rPr lang="en-US" sz="1400" dirty="0">
                <a:solidFill>
                  <a:schemeClr val="tx1"/>
                </a:solidFill>
              </a:rPr>
              <a:t>NOT NULL for mandatory attributes; DATE for dates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Normalization</a:t>
            </a:r>
            <a:endParaRPr lang="en-US" sz="3200" dirty="0"/>
          </a:p>
        </p:txBody>
      </p:sp>
      <p:graphicFrame>
        <p:nvGraphicFramePr>
          <p:cNvPr id="9" name="Normal forms table"/>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2103120"/>
                <a:gridCol w="3886200"/>
                <a:gridCol w="777240"/>
              </a:tblGrid>
              <a:tr h="502920">
                <a:tc>
                  <a:txBody>
                    <a:bodyPr/>
                    <a:lstStyle/>
                    <a:p>
                      <a:pPr indent="0" marL="0">
                        <a:buNone/>
                      </a:pPr>
                      <a:r>
                        <a:rPr lang="en-US" sz="1300" b="1" dirty="0">
                          <a:solidFill>
                            <a:schemeClr val="bg1"/>
                          </a:solidFill>
                        </a:rPr>
                        <a:t>Relation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Key functional dependencies</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Form</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tx1"/>
                          </a:solidFill>
                        </a:rPr>
                        <a:t>Apartment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apartment_id → all;  (block, flat_no) → apartment_id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1"/>
                          </a:solidFill>
                        </a:rPr>
                        <a:t>BCNF</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MaintenancePayment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payment_id → all;  (apartment_id, payment_month) → payment_id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1"/>
                          </a:solidFill>
                        </a:rPr>
                        <a:t>BCNF</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Vehicle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vehicle_id → all;  vehicle_number → vehicle_id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1"/>
                          </a:solidFill>
                        </a:rPr>
                        <a:t>BCNF</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Complaint, Staff, UserAccount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Every determinant is a key</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1"/>
                          </a:solidFill>
                        </a:rPr>
                        <a:t>BCNF</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Resident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resident_id → all;  (account_id, apartment_id) → resident_id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1"/>
                          </a:solidFill>
                        </a:rPr>
                        <a:t>3NF*</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ParkingSpace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parking_id → all;  status derivable from Vehicle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1"/>
                          </a:solidFill>
                        </a:rPr>
                        <a:t>3NF*</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bl>
          </a:graphicData>
        </a:graphic>
      </p:graphicFrame>
      <p:sp>
        <p:nvSpPr>
          <p:cNvPr id="4" name="Trade-offs card"/>
          <p:cNvSpPr/>
          <p:nvPr/>
        </p:nvSpPr>
        <p:spPr>
          <a:xfrm>
            <a:off x="7589520" y="1280160"/>
            <a:ext cx="4023360" cy="4480560"/>
          </a:xfrm>
          <a:prstGeom prst="roundRect">
            <a:avLst>
              <a:gd name="adj" fmla="val 1818"/>
            </a:avLst>
          </a:prstGeom>
          <a:solidFill>
            <a:schemeClr val="bg2"/>
          </a:solidFill>
          <a:ln w="12700">
            <a:solidFill>
              <a:schemeClr val="bg2"/>
            </a:solidFill>
            <a:prstDash val="solid"/>
          </a:ln>
        </p:spPr>
      </p:sp>
      <p:sp>
        <p:nvSpPr>
          <p:cNvPr id="5" name="Text 2"/>
          <p:cNvSpPr txBox="1"/>
          <p:nvPr/>
        </p:nvSpPr>
        <p:spPr>
          <a:xfrm>
            <a:off x="7818120" y="1417320"/>
            <a:ext cx="3657600" cy="411480"/>
          </a:xfrm>
          <a:prstGeom prst="rect">
            <a:avLst/>
          </a:prstGeom>
          <a:noFill/>
          <a:ln/>
        </p:spPr>
        <p:txBody>
          <a:bodyPr wrap="square" lIns="0" tIns="0" rIns="0" bIns="0" rtlCol="0" anchor="ctr"/>
          <a:lstStyle/>
          <a:p>
            <a:pPr indent="0" marL="0">
              <a:buNone/>
            </a:pPr>
            <a:r>
              <a:rPr lang="en-US" sz="1800" b="1" dirty="0">
                <a:solidFill>
                  <a:schemeClr val="accent3"/>
                </a:solidFill>
              </a:rPr>
              <a:t>* Deliberate redundancy</a:t>
            </a:r>
            <a:endParaRPr lang="en-US" sz="1800" dirty="0"/>
          </a:p>
        </p:txBody>
      </p:sp>
      <p:sp>
        <p:nvSpPr>
          <p:cNvPr id="6" name="Trade-off text"/>
          <p:cNvSpPr txBox="1"/>
          <p:nvPr/>
        </p:nvSpPr>
        <p:spPr>
          <a:xfrm>
            <a:off x="7818120" y="1874520"/>
            <a:ext cx="3611880" cy="3794760"/>
          </a:xfrm>
          <a:prstGeom prst="rect">
            <a:avLst/>
          </a:prstGeom>
          <a:noFill/>
          <a:ln/>
        </p:spPr>
        <p:txBody>
          <a:bodyPr wrap="square" lIns="0" tIns="0" rIns="0" bIns="0" rtlCol="0" anchor="t"/>
          <a:lstStyle/>
          <a:p>
            <a:pPr indent="0" marL="0">
              <a:buNone/>
            </a:pPr>
            <a:r>
              <a:rPr lang="en-US" sz="1400" b="1" dirty="0">
                <a:solidFill>
                  <a:schemeClr val="tx1"/>
                </a:solidFill>
              </a:rPr>
              <a:t>Resident</a:t>
            </a:r>
            <a:endParaRPr lang="en-US" sz="1400" dirty="0"/>
          </a:p>
          <a:p>
            <a:pPr indent="0" marL="0">
              <a:buNone/>
            </a:pPr>
            <a:r>
              <a:rPr lang="en-US" sz="1400" dirty="0">
                <a:solidFill>
                  <a:schemeClr val="tx1"/>
                </a:solidFill>
              </a:rPr>
              <a:t>A person with two flats has two rows, so name and phone repeat. A Person table would remove this; we kept one row per residency because type and status differ per flat.</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1"/>
                </a:solidFill>
              </a:rPr>
              <a:t>ParkingSpace.status</a:t>
            </a:r>
            <a:endParaRPr lang="en-US" sz="1400" dirty="0"/>
          </a:p>
          <a:p>
            <a:pPr indent="0" marL="0">
              <a:buNone/>
            </a:pPr>
            <a:r>
              <a:rPr lang="en-US" sz="1400" dirty="0">
                <a:solidFill>
                  <a:schemeClr val="tx1"/>
                </a:solidFill>
              </a:rPr>
              <a:t>Could be derived from Vehicle. Stored for fast "free slots" queries; both rows change in one transaction, and a check query confirms 0 inconsistent rows.</a:t>
            </a:r>
            <a:endParaRPr lang="en-US" sz="1400" dirty="0"/>
          </a:p>
        </p:txBody>
      </p:sp>
      <p:sp>
        <p:nvSpPr>
          <p:cNvPr id="7" name="1NF 2NF note"/>
          <p:cNvSpPr txBox="1"/>
          <p:nvPr/>
        </p:nvSpPr>
        <p:spPr>
          <a:xfrm>
            <a:off x="548640" y="5074920"/>
            <a:ext cx="6766560" cy="685800"/>
          </a:xfrm>
          <a:prstGeom prst="rect">
            <a:avLst/>
          </a:prstGeom>
          <a:noFill/>
          <a:ln/>
        </p:spPr>
        <p:txBody>
          <a:bodyPr wrap="square" lIns="0" tIns="0" rIns="0" bIns="0" rtlCol="0" anchor="ctr"/>
          <a:lstStyle/>
          <a:p>
            <a:pPr indent="0" marL="0">
              <a:buNone/>
            </a:pPr>
            <a:r>
              <a:rPr lang="en-US" sz="1400" i="1" dirty="0">
                <a:solidFill>
                  <a:schemeClr val="accent6"/>
                </a:solidFill>
              </a:rPr>
              <a:t>All relations are in 1NF (atomic values) and 2NF (single-column surrogate keys leave no partial dependencies).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DDL: constraints in the actual tables</a:t>
            </a:r>
            <a:endParaRPr lang="en-US" sz="3200" dirty="0"/>
          </a:p>
        </p:txBody>
      </p:sp>
      <p:sp>
        <p:nvSpPr>
          <p:cNvPr id="3" name="MaintenancePayment DDL background"/>
          <p:cNvSpPr/>
          <p:nvPr/>
        </p:nvSpPr>
        <p:spPr>
          <a:xfrm>
            <a:off x="548640" y="1280160"/>
            <a:ext cx="5440680" cy="4617720"/>
          </a:xfrm>
          <a:prstGeom prst="roundRect">
            <a:avLst>
              <a:gd name="adj" fmla="val 1188"/>
            </a:avLst>
          </a:prstGeom>
          <a:solidFill>
            <a:schemeClr val="tx1"/>
          </a:solidFill>
          <a:ln w="12700">
            <a:solidFill>
              <a:schemeClr val="tx1"/>
            </a:solidFill>
            <a:prstDash val="solid"/>
          </a:ln>
        </p:spPr>
      </p:sp>
      <p:sp>
        <p:nvSpPr>
          <p:cNvPr id="4" name="MaintenancePayment DDL"/>
          <p:cNvSpPr txBox="1"/>
          <p:nvPr/>
        </p:nvSpPr>
        <p:spPr>
          <a:xfrm>
            <a:off x="731520" y="1389888"/>
            <a:ext cx="5074920" cy="439826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CREATE TABLE MaintenancePayment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payment_id    INT NOT NULL AUTO_INCREMENT,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apartment_id  INT NOT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amount        DECIMAL(10,2) NOT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payment_month VARCHAR(20) NOT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payment_date  DATE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status        ENUM('PAID','PENDING') NOT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PRIMARY KEY (payment_id),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UNIQUE (apartment_id, payment_month),</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INDEX (status),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FOREIGN KEY (apartment_id)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REFERENCES Apartment (apartment_id)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ON DELETE RESTRICT ON UPDATE CASCADE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5" name="Vehicle DDL background"/>
          <p:cNvSpPr/>
          <p:nvPr/>
        </p:nvSpPr>
        <p:spPr>
          <a:xfrm>
            <a:off x="6172200" y="1280160"/>
            <a:ext cx="5440680" cy="4617720"/>
          </a:xfrm>
          <a:prstGeom prst="roundRect">
            <a:avLst>
              <a:gd name="adj" fmla="val 1188"/>
            </a:avLst>
          </a:prstGeom>
          <a:solidFill>
            <a:schemeClr val="tx1"/>
          </a:solidFill>
          <a:ln w="12700">
            <a:solidFill>
              <a:schemeClr val="tx1"/>
            </a:solidFill>
            <a:prstDash val="solid"/>
          </a:ln>
        </p:spPr>
      </p:sp>
      <p:sp>
        <p:nvSpPr>
          <p:cNvPr id="6" name="Vehicle DDL"/>
          <p:cNvSpPr txBox="1"/>
          <p:nvPr/>
        </p:nvSpPr>
        <p:spPr>
          <a:xfrm>
            <a:off x="6355080" y="1389888"/>
            <a:ext cx="5074920" cy="439826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CREATE TABLE Vehicle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vehicle_id     INT NOT NULL AUTO_INCREMENT,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resident_id    INT NOT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parking_id     INT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vehicle_number VARCHAR(20) NOT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vehicle_type   ENUM('CAR','BIKE') NOT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brand          VARCHAR(50)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is_active      BOOLEAN NOT NULL DEFAULT TRUE,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PRIMARY KEY (vehicle_id),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UNIQUE (vehicle_number),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UNIQUE (parking_id),   -- one car per slot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FOREIGN KEY (resident_id) REFERENCES Resident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(resident_id) ON DELETE RESTRICT,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FOREIGN KEY (parking_id) REFERENCES ParkingSpace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(parking_id) ON DELETE SET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7" name="DDL source note"/>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200" i="1" dirty="0">
                <a:solidFill>
                  <a:schemeClr val="accent6"/>
                </a:solidFill>
              </a:rPr>
              <a:t>Simplified from SHOW CREATE TABLE on the live database (timestamps and index names omitted).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Queries: joins and grouping</a:t>
            </a:r>
            <a:endParaRPr lang="en-US" sz="3200" dirty="0"/>
          </a:p>
        </p:txBody>
      </p:sp>
      <p:sp>
        <p:nvSpPr>
          <p:cNvPr id="3" name="Pending bills query background"/>
          <p:cNvSpPr/>
          <p:nvPr/>
        </p:nvSpPr>
        <p:spPr>
          <a:xfrm>
            <a:off x="548640" y="1280160"/>
            <a:ext cx="6035040" cy="2606040"/>
          </a:xfrm>
          <a:prstGeom prst="roundRect">
            <a:avLst>
              <a:gd name="adj" fmla="val 2105"/>
            </a:avLst>
          </a:prstGeom>
          <a:solidFill>
            <a:schemeClr val="tx1"/>
          </a:solidFill>
          <a:ln w="12700">
            <a:solidFill>
              <a:schemeClr val="tx1"/>
            </a:solidFill>
            <a:prstDash val="solid"/>
          </a:ln>
        </p:spPr>
      </p:sp>
      <p:sp>
        <p:nvSpPr>
          <p:cNvPr id="4" name="Pending bills query"/>
          <p:cNvSpPr txBox="1"/>
          <p:nvPr/>
        </p:nvSpPr>
        <p:spPr>
          <a:xfrm>
            <a:off x="731520" y="1389888"/>
            <a:ext cx="5669280" cy="238658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Pending bills and the owner to contact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SELECT CONCAT(a.block,'-',a.flat_no) AS flat,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p.payment_month, p.amount, r.name AS owner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FROM MaintenancePayment 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JOIN Apartment a ON a.apartment_id = p.apartment_id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JOIN Resident  r ON r.apartment_id = a.apartment_id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AND r.resident_type = 'OWNER'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AND r.is_active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WHERE p.status = 'PENDING';</a:t>
            </a:r>
            <a:endParaRPr lang="en-US" sz="1200" dirty="0"/>
          </a:p>
        </p:txBody>
      </p:sp>
      <p:graphicFrame>
        <p:nvGraphicFramePr>
          <p:cNvPr id="11" name="Pending bills result"/>
          <p:cNvGraphicFramePr>
            <a:graphicFrameLocks noGrp="1"/>
          </p:cNvGraphicFramePr>
          <p:nvPr>
            <p:extLst>
              <p:ext uri="{D42A27DB-BD31-4B8C-83A1-F6EECF244321}">
                <p14:modId xmlns:p14="http://schemas.microsoft.com/office/powerpoint/2010/main" val="1579011935"/>
              </p:ext>
            </p:extLst>
          </p:nvPr>
        </p:nvGraphicFramePr>
        <p:xfrm>
          <a:off x="6858000" y="1280160"/>
          <a:ext cx="4754880" cy="914400"/>
        </p:xfrm>
        <a:graphic>
          <a:graphicData uri="http://schemas.openxmlformats.org/drawingml/2006/table">
            <a:tbl>
              <a:tblPr/>
              <a:tblGrid>
                <a:gridCol w="914400"/>
                <a:gridCol w="1051560"/>
                <a:gridCol w="1097280"/>
                <a:gridCol w="1691640"/>
              </a:tblGrid>
              <a:tr h="365760">
                <a:tc>
                  <a:txBody>
                    <a:bodyPr/>
                    <a:lstStyle/>
                    <a:p>
                      <a:pPr indent="0" marL="0">
                        <a:buNone/>
                      </a:pPr>
                      <a:r>
                        <a:rPr lang="en-US" sz="1300" b="1" dirty="0">
                          <a:solidFill>
                            <a:schemeClr val="bg1"/>
                          </a:solidFill>
                        </a:rPr>
                        <a:t>flat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month</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amount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owner</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A-201</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2026-10</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3500.00</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Arjun Rao</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B-101</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2026-10</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3500.00</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Vikram Singh</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B-202</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2026-10</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4000.00</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Neha Kapoor</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bl>
          </a:graphicData>
        </a:graphic>
      </p:graphicFrame>
      <p:sp>
        <p:nvSpPr>
          <p:cNvPr id="6" name="Multi-flat query background"/>
          <p:cNvSpPr/>
          <p:nvPr/>
        </p:nvSpPr>
        <p:spPr>
          <a:xfrm>
            <a:off x="548640" y="4023360"/>
            <a:ext cx="6035040" cy="2286000"/>
          </a:xfrm>
          <a:prstGeom prst="roundRect">
            <a:avLst>
              <a:gd name="adj" fmla="val 2400"/>
            </a:avLst>
          </a:prstGeom>
          <a:solidFill>
            <a:schemeClr val="tx1"/>
          </a:solidFill>
          <a:ln w="12700">
            <a:solidFill>
              <a:schemeClr val="tx1"/>
            </a:solidFill>
            <a:prstDash val="solid"/>
          </a:ln>
        </p:spPr>
      </p:sp>
      <p:sp>
        <p:nvSpPr>
          <p:cNvPr id="7" name="Multi-flat query"/>
          <p:cNvSpPr txBox="1"/>
          <p:nvPr/>
        </p:nvSpPr>
        <p:spPr>
          <a:xfrm>
            <a:off x="731520" y="4133088"/>
            <a:ext cx="5669280" cy="206654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People who have more than one flat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SELECT u.username, COUNT(*) AS flats,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GROUP_CONCAT(CONCAT(a.block,'-',a.flat_no,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(',r.resident_type,')')) AS residencies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FROM UserAccount u</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JOIN Resident  r ON r.account_id = u.user_id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JOIN Apartment a ON a.apartment_id = r.apartment_id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GROUP BY u.user_id, u.username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HAVING COUNT(*) &gt; 1;</a:t>
            </a:r>
            <a:endParaRPr lang="en-US" sz="1200" dirty="0"/>
          </a:p>
        </p:txBody>
      </p:sp>
      <p:graphicFrame>
        <p:nvGraphicFramePr>
          <p:cNvPr id="21" name="Multi-flat result"/>
          <p:cNvGraphicFramePr>
            <a:graphicFrameLocks noGrp="1"/>
          </p:cNvGraphicFramePr>
          <p:nvPr>
            <p:extLst>
              <p:ext uri="{D42A27DB-BD31-4B8C-83A1-F6EECF244321}">
                <p14:modId xmlns:p14="http://schemas.microsoft.com/office/powerpoint/2010/main" val="1579011935"/>
              </p:ext>
            </p:extLst>
          </p:nvPr>
        </p:nvGraphicFramePr>
        <p:xfrm>
          <a:off x="6858000" y="4023360"/>
          <a:ext cx="4754880" cy="914400"/>
        </p:xfrm>
        <a:graphic>
          <a:graphicData uri="http://schemas.openxmlformats.org/drawingml/2006/table">
            <a:tbl>
              <a:tblPr/>
              <a:tblGrid>
                <a:gridCol w="1143000"/>
                <a:gridCol w="685800"/>
                <a:gridCol w="2926080"/>
              </a:tblGrid>
              <a:tr h="365760">
                <a:tc>
                  <a:txBody>
                    <a:bodyPr/>
                    <a:lstStyle/>
                    <a:p>
                      <a:pPr indent="0" marL="0">
                        <a:buNone/>
                      </a:pPr>
                      <a:r>
                        <a:rPr lang="en-US" sz="1300" b="1" dirty="0">
                          <a:solidFill>
                            <a:schemeClr val="bg1"/>
                          </a:solidFill>
                        </a:rPr>
                        <a:t>username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flats</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residencies</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r>
              <a:tr h="36576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resident</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A-101 (OWNER), A-201 (OWNER)</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bl>
          </a:graphicData>
        </a:graphic>
      </p:graphicFrame>
      <p:sp>
        <p:nvSpPr>
          <p:cNvPr id="9" name="Result source note"/>
          <p:cNvSpPr txBox="1"/>
          <p:nvPr/>
        </p:nvSpPr>
        <p:spPr>
          <a:xfrm>
            <a:off x="6858000" y="4937760"/>
            <a:ext cx="4754880" cy="365760"/>
          </a:xfrm>
          <a:prstGeom prst="rect">
            <a:avLst/>
          </a:prstGeom>
          <a:noFill/>
          <a:ln/>
        </p:spPr>
        <p:txBody>
          <a:bodyPr wrap="square" lIns="0" tIns="0" rIns="0" bIns="0" rtlCol="0" anchor="ctr"/>
          <a:lstStyle/>
          <a:p>
            <a:pPr indent="0" marL="0">
              <a:buNone/>
            </a:pPr>
            <a:r>
              <a:rPr lang="en-US" sz="1200" i="1" dirty="0">
                <a:solidFill>
                  <a:schemeClr val="accent6"/>
                </a:solidFill>
              </a:rPr>
              <a:t>Results are real output from the project database.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Queries: aggregation and integrity checks</a:t>
            </a:r>
            <a:endParaRPr lang="en-US" sz="3200" dirty="0"/>
          </a:p>
        </p:txBody>
      </p:sp>
      <p:sp>
        <p:nvSpPr>
          <p:cNvPr id="3" name="Aggregation query background"/>
          <p:cNvSpPr/>
          <p:nvPr/>
        </p:nvSpPr>
        <p:spPr>
          <a:xfrm>
            <a:off x="548640" y="1280160"/>
            <a:ext cx="5394960" cy="2606040"/>
          </a:xfrm>
          <a:prstGeom prst="roundRect">
            <a:avLst>
              <a:gd name="adj" fmla="val 2105"/>
            </a:avLst>
          </a:prstGeom>
          <a:solidFill>
            <a:schemeClr val="tx1"/>
          </a:solidFill>
          <a:ln w="12700">
            <a:solidFill>
              <a:schemeClr val="tx1"/>
            </a:solidFill>
            <a:prstDash val="solid"/>
          </a:ln>
        </p:spPr>
      </p:sp>
      <p:sp>
        <p:nvSpPr>
          <p:cNvPr id="4" name="Aggregation query"/>
          <p:cNvSpPr txBox="1"/>
          <p:nvPr/>
        </p:nvSpPr>
        <p:spPr>
          <a:xfrm>
            <a:off x="731520" y="1389888"/>
            <a:ext cx="5029200" cy="238658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Collected vs pending per month</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SELECT payment_month,</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SUM(CASE WHEN status='PAID'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THEN amount ELSE 0 END) AS collected,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SUM(CASE WHEN status='PENDING'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THEN amount ELSE 0 END) AS pending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FROM MaintenancePayment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GROUP BY payment_month;</a:t>
            </a:r>
            <a:endParaRPr lang="en-US" sz="1200" dirty="0"/>
          </a:p>
        </p:txBody>
      </p:sp>
      <p:graphicFrame>
        <p:nvGraphicFramePr>
          <p:cNvPr id="5" name="Collected vs pending chart" descr=""/>
          <p:cNvGraphicFramePr/>
          <p:nvPr/>
        </p:nvGraphicFramePr>
        <p:xfrm>
          <a:off x="6217920" y="1280160"/>
          <a:ext cx="5394960" cy="2606040"/>
        </p:xfrm>
        <a:graphic xmlns:a="http://schemas.openxmlformats.org/drawingml/2006/main">
          <a:graphicData uri="http://schemas.openxmlformats.org/drawingml/2006/chart">
            <c:chart xmlns:c="http://schemas.openxmlformats.org/drawingml/2006/chart" r:id="rId1"/>
          </a:graphicData>
        </a:graphic>
      </p:graphicFrame>
      <p:sp>
        <p:nvSpPr>
          <p:cNvPr id="6" name="Integrity check query background"/>
          <p:cNvSpPr/>
          <p:nvPr/>
        </p:nvSpPr>
        <p:spPr>
          <a:xfrm>
            <a:off x="548640" y="4114800"/>
            <a:ext cx="7680960" cy="1691640"/>
          </a:xfrm>
          <a:prstGeom prst="roundRect">
            <a:avLst>
              <a:gd name="adj" fmla="val 3243"/>
            </a:avLst>
          </a:prstGeom>
          <a:solidFill>
            <a:schemeClr val="tx1"/>
          </a:solidFill>
          <a:ln w="12700">
            <a:solidFill>
              <a:schemeClr val="tx1"/>
            </a:solidFill>
            <a:prstDash val="solid"/>
          </a:ln>
        </p:spPr>
      </p:sp>
      <p:sp>
        <p:nvSpPr>
          <p:cNvPr id="7" name="Integrity check query"/>
          <p:cNvSpPr txBox="1"/>
          <p:nvPr/>
        </p:nvSpPr>
        <p:spPr>
          <a:xfrm>
            <a:off x="731520" y="4224528"/>
            <a:ext cx="7315200" cy="147218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Integrity check: slot marked ALLOCATED but no vehicle in it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SELECT ps.slot_number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FROM ParkingSpace ps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LEFT JOIN Vehicle v ON v.parking_id = ps.parking_id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WHERE ps.status = 'ALLOCATED' AND v.vehicle_id IS NULL;</a:t>
            </a:r>
            <a:endParaRPr lang="en-US" sz="1200" dirty="0"/>
          </a:p>
        </p:txBody>
      </p:sp>
      <p:sp>
        <p:nvSpPr>
          <p:cNvPr id="8" name="Check result card"/>
          <p:cNvSpPr/>
          <p:nvPr/>
        </p:nvSpPr>
        <p:spPr>
          <a:xfrm>
            <a:off x="8503920" y="4114800"/>
            <a:ext cx="3108960" cy="1691640"/>
          </a:xfrm>
          <a:prstGeom prst="roundRect">
            <a:avLst>
              <a:gd name="adj" fmla="val 4324"/>
            </a:avLst>
          </a:prstGeom>
          <a:solidFill>
            <a:schemeClr val="bg2"/>
          </a:solidFill>
          <a:ln w="12700">
            <a:solidFill>
              <a:schemeClr val="bg2"/>
            </a:solidFill>
            <a:prstDash val="solid"/>
          </a:ln>
        </p:spPr>
      </p:sp>
      <p:sp>
        <p:nvSpPr>
          <p:cNvPr id="9" name="Check result"/>
          <p:cNvSpPr txBox="1"/>
          <p:nvPr/>
        </p:nvSpPr>
        <p:spPr>
          <a:xfrm>
            <a:off x="8686800" y="4206240"/>
            <a:ext cx="2743200" cy="1508760"/>
          </a:xfrm>
          <a:prstGeom prst="rect">
            <a:avLst/>
          </a:prstGeom>
          <a:noFill/>
          <a:ln/>
        </p:spPr>
        <p:txBody>
          <a:bodyPr wrap="square" lIns="0" tIns="0" rIns="0" bIns="0" rtlCol="0" anchor="ctr"/>
          <a:lstStyle/>
          <a:p>
            <a:pPr indent="0" marL="0">
              <a:buNone/>
            </a:pPr>
            <a:r>
              <a:rPr lang="en-US" sz="3000" b="1" dirty="0">
                <a:solidFill>
                  <a:schemeClr val="accent4"/>
                </a:solidFill>
              </a:rPr>
              <a:t>0 rows</a:t>
            </a:r>
            <a:endParaRPr lang="en-US" sz="3000" dirty="0"/>
          </a:p>
          <a:p>
            <a:pPr indent="0" marL="0">
              <a:buNone/>
            </a:pPr>
            <a:r>
              <a:rPr lang="en-US" sz="1300" dirty="0">
                <a:solidFill>
                  <a:schemeClr val="tx1"/>
                </a:solidFill>
              </a:rPr>
              <a:t>the redundant status column is consistent</a:t>
            </a: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Transactions and concurrency</a:t>
            </a:r>
            <a:endParaRPr lang="en-US" sz="3200" dirty="0"/>
          </a:p>
        </p:txBody>
      </p:sp>
      <p:sp>
        <p:nvSpPr>
          <p:cNvPr id="3" name="Scenario"/>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600" dirty="0">
                <a:solidFill>
                  <a:schemeClr val="tx1"/>
                </a:solidFill>
              </a:rPr>
              <a:t>Two admins try to give the last free slot to two different cars at the same moment</a:t>
            </a:r>
            <a:endParaRPr lang="en-US" sz="1600" dirty="0"/>
          </a:p>
        </p:txBody>
      </p:sp>
      <p:sp>
        <p:nvSpPr>
          <p:cNvPr id="4" name="Text 2"/>
          <p:cNvSpPr txBox="1"/>
          <p:nvPr/>
        </p:nvSpPr>
        <p:spPr>
          <a:xfrm>
            <a:off x="548640" y="1828800"/>
            <a:ext cx="1280160" cy="502920"/>
          </a:xfrm>
          <a:prstGeom prst="rect">
            <a:avLst/>
          </a:prstGeom>
          <a:noFill/>
          <a:ln/>
        </p:spPr>
        <p:txBody>
          <a:bodyPr wrap="square" lIns="0" tIns="0" rIns="0" bIns="0" rtlCol="0" anchor="ctr"/>
          <a:lstStyle/>
          <a:p>
            <a:pPr indent="0" marL="0">
              <a:buNone/>
            </a:pPr>
            <a:r>
              <a:rPr lang="en-US" sz="1500" b="1" dirty="0">
                <a:solidFill>
                  <a:schemeClr val="accent1"/>
                </a:solidFill>
              </a:rPr>
              <a:t>Admin A</a:t>
            </a:r>
            <a:endParaRPr lang="en-US" sz="1500" dirty="0"/>
          </a:p>
        </p:txBody>
      </p:sp>
      <p:sp>
        <p:nvSpPr>
          <p:cNvPr id="5" name="Admin A step 1"/>
          <p:cNvSpPr/>
          <p:nvPr/>
        </p:nvSpPr>
        <p:spPr>
          <a:xfrm>
            <a:off x="1828800" y="1828800"/>
            <a:ext cx="1463040" cy="502920"/>
          </a:xfrm>
          <a:prstGeom prst="roundRect">
            <a:avLst>
              <a:gd name="adj" fmla="val 10909"/>
            </a:avLst>
          </a:prstGeom>
          <a:solidFill>
            <a:schemeClr val="bg2"/>
          </a:solidFill>
          <a:ln w="12700">
            <a:solidFill>
              <a:schemeClr val="bg2"/>
            </a:solidFill>
            <a:prstDash val="solid"/>
          </a:ln>
        </p:spPr>
      </p:sp>
      <p:sp>
        <p:nvSpPr>
          <p:cNvPr id="6" name="Text 4"/>
          <p:cNvSpPr txBox="1"/>
          <p:nvPr/>
        </p:nvSpPr>
        <p:spPr>
          <a:xfrm>
            <a:off x="1828800" y="1828800"/>
            <a:ext cx="1463040" cy="502920"/>
          </a:xfrm>
          <a:prstGeom prst="rect">
            <a:avLst/>
          </a:prstGeom>
          <a:noFill/>
          <a:ln/>
        </p:spPr>
        <p:txBody>
          <a:bodyPr wrap="square" lIns="0" tIns="0" rIns="0" bIns="0" rtlCol="0" anchor="ctr"/>
          <a:lstStyle/>
          <a:p>
            <a:pPr algn="ctr" indent="0" marL="0">
              <a:buNone/>
            </a:pPr>
            <a:r>
              <a:rPr lang="en-US" sz="1200" dirty="0">
                <a:solidFill>
                  <a:schemeClr val="tx1"/>
                </a:solidFill>
              </a:rPr>
              <a:t>BEGIN</a:t>
            </a:r>
            <a:endParaRPr lang="en-US" sz="1200" dirty="0"/>
          </a:p>
        </p:txBody>
      </p:sp>
      <p:sp>
        <p:nvSpPr>
          <p:cNvPr id="7" name="Admin A step 2"/>
          <p:cNvSpPr/>
          <p:nvPr/>
        </p:nvSpPr>
        <p:spPr>
          <a:xfrm>
            <a:off x="3429000" y="1828800"/>
            <a:ext cx="1463040" cy="502920"/>
          </a:xfrm>
          <a:prstGeom prst="roundRect">
            <a:avLst>
              <a:gd name="adj" fmla="val 10909"/>
            </a:avLst>
          </a:prstGeom>
          <a:solidFill>
            <a:schemeClr val="bg2"/>
          </a:solidFill>
          <a:ln w="12700">
            <a:solidFill>
              <a:schemeClr val="bg2"/>
            </a:solidFill>
            <a:prstDash val="solid"/>
          </a:ln>
        </p:spPr>
      </p:sp>
      <p:sp>
        <p:nvSpPr>
          <p:cNvPr id="8" name="Text 6"/>
          <p:cNvSpPr txBox="1"/>
          <p:nvPr/>
        </p:nvSpPr>
        <p:spPr>
          <a:xfrm>
            <a:off x="3429000" y="1828800"/>
            <a:ext cx="1463040" cy="502920"/>
          </a:xfrm>
          <a:prstGeom prst="rect">
            <a:avLst/>
          </a:prstGeom>
          <a:noFill/>
          <a:ln/>
        </p:spPr>
        <p:txBody>
          <a:bodyPr wrap="square" lIns="0" tIns="0" rIns="0" bIns="0" rtlCol="0" anchor="ctr"/>
          <a:lstStyle/>
          <a:p>
            <a:pPr algn="ctr" indent="0" marL="0">
              <a:buNone/>
            </a:pPr>
            <a:r>
              <a:rPr lang="en-US" sz="1200" dirty="0">
                <a:solidFill>
                  <a:schemeClr val="tx1"/>
                </a:solidFill>
              </a:rPr>
              <a:t>UPDATE slot</a:t>
            </a:r>
            <a:endParaRPr lang="en-US" sz="1200" dirty="0"/>
          </a:p>
        </p:txBody>
      </p:sp>
      <p:sp>
        <p:nvSpPr>
          <p:cNvPr id="9" name="Admin A step 3"/>
          <p:cNvSpPr/>
          <p:nvPr/>
        </p:nvSpPr>
        <p:spPr>
          <a:xfrm>
            <a:off x="5029200" y="1828800"/>
            <a:ext cx="1463040" cy="502920"/>
          </a:xfrm>
          <a:prstGeom prst="roundRect">
            <a:avLst>
              <a:gd name="adj" fmla="val 10909"/>
            </a:avLst>
          </a:prstGeom>
          <a:solidFill>
            <a:schemeClr val="accent4"/>
          </a:solidFill>
          <a:ln w="12700">
            <a:solidFill>
              <a:schemeClr val="accent4"/>
            </a:solidFill>
            <a:prstDash val="solid"/>
          </a:ln>
        </p:spPr>
      </p:sp>
      <p:sp>
        <p:nvSpPr>
          <p:cNvPr id="10" name="Text 8"/>
          <p:cNvSpPr txBox="1"/>
          <p:nvPr/>
        </p:nvSpPr>
        <p:spPr>
          <a:xfrm>
            <a:off x="5029200" y="1828800"/>
            <a:ext cx="1463040" cy="502920"/>
          </a:xfrm>
          <a:prstGeom prst="rect">
            <a:avLst/>
          </a:prstGeom>
          <a:noFill/>
          <a:ln/>
        </p:spPr>
        <p:txBody>
          <a:bodyPr wrap="square" lIns="0" tIns="0" rIns="0" bIns="0" rtlCol="0" anchor="ctr"/>
          <a:lstStyle/>
          <a:p>
            <a:pPr algn="ctr" indent="0" marL="0">
              <a:buNone/>
            </a:pPr>
            <a:r>
              <a:rPr lang="en-US" sz="1200" dirty="0">
                <a:solidFill>
                  <a:schemeClr val="bg1"/>
                </a:solidFill>
              </a:rPr>
              <a:t>1 row ✓</a:t>
            </a:r>
            <a:endParaRPr lang="en-US" sz="1200" dirty="0"/>
          </a:p>
        </p:txBody>
      </p:sp>
      <p:sp>
        <p:nvSpPr>
          <p:cNvPr id="11" name="Admin A step 4"/>
          <p:cNvSpPr/>
          <p:nvPr/>
        </p:nvSpPr>
        <p:spPr>
          <a:xfrm>
            <a:off x="6629400" y="1828800"/>
            <a:ext cx="1463040" cy="502920"/>
          </a:xfrm>
          <a:prstGeom prst="roundRect">
            <a:avLst>
              <a:gd name="adj" fmla="val 10909"/>
            </a:avLst>
          </a:prstGeom>
          <a:solidFill>
            <a:schemeClr val="bg2"/>
          </a:solidFill>
          <a:ln w="12700">
            <a:solidFill>
              <a:schemeClr val="bg2"/>
            </a:solidFill>
            <a:prstDash val="solid"/>
          </a:ln>
        </p:spPr>
      </p:sp>
      <p:sp>
        <p:nvSpPr>
          <p:cNvPr id="12" name="Text 10"/>
          <p:cNvSpPr txBox="1"/>
          <p:nvPr/>
        </p:nvSpPr>
        <p:spPr>
          <a:xfrm>
            <a:off x="6629400" y="1828800"/>
            <a:ext cx="1463040" cy="502920"/>
          </a:xfrm>
          <a:prstGeom prst="rect">
            <a:avLst/>
          </a:prstGeom>
          <a:noFill/>
          <a:ln/>
        </p:spPr>
        <p:txBody>
          <a:bodyPr wrap="square" lIns="0" tIns="0" rIns="0" bIns="0" rtlCol="0" anchor="ctr"/>
          <a:lstStyle/>
          <a:p>
            <a:pPr algn="ctr" indent="0" marL="0">
              <a:buNone/>
            </a:pPr>
            <a:r>
              <a:rPr lang="en-US" sz="1200" dirty="0">
                <a:solidFill>
                  <a:schemeClr val="tx1"/>
                </a:solidFill>
              </a:rPr>
              <a:t>UPDATE car</a:t>
            </a:r>
            <a:endParaRPr lang="en-US" sz="1200" dirty="0"/>
          </a:p>
        </p:txBody>
      </p:sp>
      <p:sp>
        <p:nvSpPr>
          <p:cNvPr id="13" name="Admin A step 5"/>
          <p:cNvSpPr/>
          <p:nvPr/>
        </p:nvSpPr>
        <p:spPr>
          <a:xfrm>
            <a:off x="8229600" y="1828800"/>
            <a:ext cx="1463040" cy="502920"/>
          </a:xfrm>
          <a:prstGeom prst="roundRect">
            <a:avLst>
              <a:gd name="adj" fmla="val 10909"/>
            </a:avLst>
          </a:prstGeom>
          <a:solidFill>
            <a:schemeClr val="accent4"/>
          </a:solidFill>
          <a:ln w="12700">
            <a:solidFill>
              <a:schemeClr val="accent4"/>
            </a:solidFill>
            <a:prstDash val="solid"/>
          </a:ln>
        </p:spPr>
      </p:sp>
      <p:sp>
        <p:nvSpPr>
          <p:cNvPr id="14" name="Text 12"/>
          <p:cNvSpPr txBox="1"/>
          <p:nvPr/>
        </p:nvSpPr>
        <p:spPr>
          <a:xfrm>
            <a:off x="8229600" y="1828800"/>
            <a:ext cx="1463040" cy="502920"/>
          </a:xfrm>
          <a:prstGeom prst="rect">
            <a:avLst/>
          </a:prstGeom>
          <a:noFill/>
          <a:ln/>
        </p:spPr>
        <p:txBody>
          <a:bodyPr wrap="square" lIns="0" tIns="0" rIns="0" bIns="0" rtlCol="0" anchor="ctr"/>
          <a:lstStyle/>
          <a:p>
            <a:pPr algn="ctr" indent="0" marL="0">
              <a:buNone/>
            </a:pPr>
            <a:r>
              <a:rPr lang="en-US" sz="1200" dirty="0">
                <a:solidFill>
                  <a:schemeClr val="bg1"/>
                </a:solidFill>
              </a:rPr>
              <a:t>COMMIT</a:t>
            </a:r>
            <a:endParaRPr lang="en-US" sz="1200" dirty="0"/>
          </a:p>
        </p:txBody>
      </p:sp>
      <p:sp>
        <p:nvSpPr>
          <p:cNvPr id="15" name="Text 13"/>
          <p:cNvSpPr txBox="1"/>
          <p:nvPr/>
        </p:nvSpPr>
        <p:spPr>
          <a:xfrm>
            <a:off x="548640" y="2514600"/>
            <a:ext cx="1280160" cy="502920"/>
          </a:xfrm>
          <a:prstGeom prst="rect">
            <a:avLst/>
          </a:prstGeom>
          <a:noFill/>
          <a:ln/>
        </p:spPr>
        <p:txBody>
          <a:bodyPr wrap="square" lIns="0" tIns="0" rIns="0" bIns="0" rtlCol="0" anchor="ctr"/>
          <a:lstStyle/>
          <a:p>
            <a:pPr indent="0" marL="0">
              <a:buNone/>
            </a:pPr>
            <a:r>
              <a:rPr lang="en-US" sz="1500" b="1" dirty="0">
                <a:solidFill>
                  <a:schemeClr val="accent3"/>
                </a:solidFill>
              </a:rPr>
              <a:t>Admin B</a:t>
            </a:r>
            <a:endParaRPr lang="en-US" sz="1500" dirty="0"/>
          </a:p>
        </p:txBody>
      </p:sp>
      <p:sp>
        <p:nvSpPr>
          <p:cNvPr id="16" name="Admin B step 1"/>
          <p:cNvSpPr/>
          <p:nvPr/>
        </p:nvSpPr>
        <p:spPr>
          <a:xfrm>
            <a:off x="1828800" y="2514600"/>
            <a:ext cx="1463040" cy="502920"/>
          </a:xfrm>
          <a:prstGeom prst="roundRect">
            <a:avLst>
              <a:gd name="adj" fmla="val 10909"/>
            </a:avLst>
          </a:prstGeom>
          <a:solidFill>
            <a:schemeClr val="bg2"/>
          </a:solidFill>
          <a:ln w="12700">
            <a:solidFill>
              <a:schemeClr val="bg2"/>
            </a:solidFill>
            <a:prstDash val="solid"/>
          </a:ln>
        </p:spPr>
      </p:sp>
      <p:sp>
        <p:nvSpPr>
          <p:cNvPr id="17" name="Text 15"/>
          <p:cNvSpPr txBox="1"/>
          <p:nvPr/>
        </p:nvSpPr>
        <p:spPr>
          <a:xfrm>
            <a:off x="1828800" y="2514600"/>
            <a:ext cx="1463040" cy="502920"/>
          </a:xfrm>
          <a:prstGeom prst="rect">
            <a:avLst/>
          </a:prstGeom>
          <a:noFill/>
          <a:ln/>
        </p:spPr>
        <p:txBody>
          <a:bodyPr wrap="square" lIns="0" tIns="0" rIns="0" bIns="0" rtlCol="0" anchor="ctr"/>
          <a:lstStyle/>
          <a:p>
            <a:pPr algn="ctr" indent="0" marL="0">
              <a:buNone/>
            </a:pPr>
            <a:r>
              <a:rPr lang="en-US" sz="1200" dirty="0">
                <a:solidFill>
                  <a:schemeClr val="tx1"/>
                </a:solidFill>
              </a:rPr>
              <a:t>BEGIN</a:t>
            </a:r>
            <a:endParaRPr lang="en-US" sz="1200" dirty="0"/>
          </a:p>
        </p:txBody>
      </p:sp>
      <p:sp>
        <p:nvSpPr>
          <p:cNvPr id="18" name="Admin B step 2"/>
          <p:cNvSpPr/>
          <p:nvPr/>
        </p:nvSpPr>
        <p:spPr>
          <a:xfrm>
            <a:off x="3429000" y="2514600"/>
            <a:ext cx="1463040" cy="502920"/>
          </a:xfrm>
          <a:prstGeom prst="roundRect">
            <a:avLst>
              <a:gd name="adj" fmla="val 10909"/>
            </a:avLst>
          </a:prstGeom>
          <a:solidFill>
            <a:schemeClr val="bg2"/>
          </a:solidFill>
          <a:ln w="12700">
            <a:solidFill>
              <a:schemeClr val="bg2"/>
            </a:solidFill>
            <a:prstDash val="solid"/>
          </a:ln>
        </p:spPr>
      </p:sp>
      <p:sp>
        <p:nvSpPr>
          <p:cNvPr id="19" name="Text 17"/>
          <p:cNvSpPr txBox="1"/>
          <p:nvPr/>
        </p:nvSpPr>
        <p:spPr>
          <a:xfrm>
            <a:off x="3429000" y="2514600"/>
            <a:ext cx="1463040" cy="502920"/>
          </a:xfrm>
          <a:prstGeom prst="rect">
            <a:avLst/>
          </a:prstGeom>
          <a:noFill/>
          <a:ln/>
        </p:spPr>
        <p:txBody>
          <a:bodyPr wrap="square" lIns="0" tIns="0" rIns="0" bIns="0" rtlCol="0" anchor="ctr"/>
          <a:lstStyle/>
          <a:p>
            <a:pPr algn="ctr" indent="0" marL="0">
              <a:buNone/>
            </a:pPr>
            <a:r>
              <a:rPr lang="en-US" sz="1200" dirty="0">
                <a:solidFill>
                  <a:schemeClr val="accent6"/>
                </a:solidFill>
              </a:rPr>
              <a:t>waits for lock</a:t>
            </a:r>
            <a:endParaRPr lang="en-US" sz="1200" dirty="0"/>
          </a:p>
        </p:txBody>
      </p:sp>
      <p:sp>
        <p:nvSpPr>
          <p:cNvPr id="20" name="Admin B step 3"/>
          <p:cNvSpPr/>
          <p:nvPr/>
        </p:nvSpPr>
        <p:spPr>
          <a:xfrm>
            <a:off x="5029200" y="2514600"/>
            <a:ext cx="1463040" cy="502920"/>
          </a:xfrm>
          <a:prstGeom prst="roundRect">
            <a:avLst>
              <a:gd name="adj" fmla="val 10909"/>
            </a:avLst>
          </a:prstGeom>
          <a:solidFill>
            <a:schemeClr val="accent3"/>
          </a:solidFill>
          <a:ln w="12700">
            <a:solidFill>
              <a:schemeClr val="accent3"/>
            </a:solidFill>
            <a:prstDash val="solid"/>
          </a:ln>
        </p:spPr>
      </p:sp>
      <p:sp>
        <p:nvSpPr>
          <p:cNvPr id="21" name="Text 19"/>
          <p:cNvSpPr txBox="1"/>
          <p:nvPr/>
        </p:nvSpPr>
        <p:spPr>
          <a:xfrm>
            <a:off x="5029200" y="2514600"/>
            <a:ext cx="1463040" cy="502920"/>
          </a:xfrm>
          <a:prstGeom prst="rect">
            <a:avLst/>
          </a:prstGeom>
          <a:noFill/>
          <a:ln/>
        </p:spPr>
        <p:txBody>
          <a:bodyPr wrap="square" lIns="0" tIns="0" rIns="0" bIns="0" rtlCol="0" anchor="ctr"/>
          <a:lstStyle/>
          <a:p>
            <a:pPr algn="ctr" indent="0" marL="0">
              <a:buNone/>
            </a:pPr>
            <a:r>
              <a:rPr lang="en-US" sz="1200" dirty="0">
                <a:solidFill>
                  <a:schemeClr val="bg1"/>
                </a:solidFill>
              </a:rPr>
              <a:t>0 rows ✗</a:t>
            </a:r>
            <a:endParaRPr lang="en-US" sz="1200" dirty="0"/>
          </a:p>
        </p:txBody>
      </p:sp>
      <p:sp>
        <p:nvSpPr>
          <p:cNvPr id="22" name="Admin B step 4"/>
          <p:cNvSpPr/>
          <p:nvPr/>
        </p:nvSpPr>
        <p:spPr>
          <a:xfrm>
            <a:off x="6629400" y="2514600"/>
            <a:ext cx="1463040" cy="502920"/>
          </a:xfrm>
          <a:prstGeom prst="roundRect">
            <a:avLst>
              <a:gd name="adj" fmla="val 10909"/>
            </a:avLst>
          </a:prstGeom>
          <a:solidFill>
            <a:schemeClr val="accent3"/>
          </a:solidFill>
          <a:ln w="12700">
            <a:solidFill>
              <a:schemeClr val="accent3"/>
            </a:solidFill>
            <a:prstDash val="solid"/>
          </a:ln>
        </p:spPr>
      </p:sp>
      <p:sp>
        <p:nvSpPr>
          <p:cNvPr id="23" name="Text 21"/>
          <p:cNvSpPr txBox="1"/>
          <p:nvPr/>
        </p:nvSpPr>
        <p:spPr>
          <a:xfrm>
            <a:off x="6629400" y="2514600"/>
            <a:ext cx="1463040" cy="502920"/>
          </a:xfrm>
          <a:prstGeom prst="rect">
            <a:avLst/>
          </a:prstGeom>
          <a:noFill/>
          <a:ln/>
        </p:spPr>
        <p:txBody>
          <a:bodyPr wrap="square" lIns="0" tIns="0" rIns="0" bIns="0" rtlCol="0" anchor="ctr"/>
          <a:lstStyle/>
          <a:p>
            <a:pPr algn="ctr" indent="0" marL="0">
              <a:buNone/>
            </a:pPr>
            <a:r>
              <a:rPr lang="en-US" sz="1200" dirty="0">
                <a:solidFill>
                  <a:schemeClr val="bg1"/>
                </a:solidFill>
              </a:rPr>
              <a:t>ROLLBACK</a:t>
            </a:r>
            <a:endParaRPr lang="en-US" sz="1200" dirty="0"/>
          </a:p>
        </p:txBody>
      </p:sp>
      <p:sp>
        <p:nvSpPr>
          <p:cNvPr id="24" name="Admin B step 5"/>
          <p:cNvSpPr/>
          <p:nvPr/>
        </p:nvSpPr>
        <p:spPr>
          <a:xfrm>
            <a:off x="8229600" y="2514600"/>
            <a:ext cx="1463040" cy="502920"/>
          </a:xfrm>
          <a:prstGeom prst="roundRect">
            <a:avLst>
              <a:gd name="adj" fmla="val 10909"/>
            </a:avLst>
          </a:prstGeom>
          <a:solidFill>
            <a:schemeClr val="bg2"/>
          </a:solidFill>
          <a:ln w="12700">
            <a:solidFill>
              <a:schemeClr val="bg2"/>
            </a:solidFill>
            <a:prstDash val="solid"/>
          </a:ln>
        </p:spPr>
      </p:sp>
      <p:sp>
        <p:nvSpPr>
          <p:cNvPr id="25" name="Text 23"/>
          <p:cNvSpPr txBox="1"/>
          <p:nvPr/>
        </p:nvSpPr>
        <p:spPr>
          <a:xfrm>
            <a:off x="8229600" y="2514600"/>
            <a:ext cx="1463040" cy="502920"/>
          </a:xfrm>
          <a:prstGeom prst="rect">
            <a:avLst/>
          </a:prstGeom>
          <a:noFill/>
          <a:ln/>
        </p:spPr>
        <p:txBody>
          <a:bodyPr wrap="square" lIns="0" tIns="0" rIns="0" bIns="0" rtlCol="0" anchor="ctr"/>
          <a:lstStyle/>
          <a:p>
            <a:pPr algn="ctr" indent="0" marL="0">
              <a:buNone/>
            </a:pPr>
            <a:r>
              <a:rPr lang="en-US" sz="1200" dirty="0">
                <a:solidFill>
                  <a:schemeClr val="accent3"/>
                </a:solidFill>
              </a:rPr>
              <a:t>409 Conflict</a:t>
            </a:r>
            <a:endParaRPr lang="en-US" sz="1200" dirty="0"/>
          </a:p>
        </p:txBody>
      </p:sp>
      <p:sp>
        <p:nvSpPr>
          <p:cNvPr id="26" name="Allocation transaction background"/>
          <p:cNvSpPr/>
          <p:nvPr/>
        </p:nvSpPr>
        <p:spPr>
          <a:xfrm>
            <a:off x="548640" y="3291840"/>
            <a:ext cx="5760720" cy="2926080"/>
          </a:xfrm>
          <a:prstGeom prst="roundRect">
            <a:avLst>
              <a:gd name="adj" fmla="val 1875"/>
            </a:avLst>
          </a:prstGeom>
          <a:solidFill>
            <a:schemeClr val="tx1"/>
          </a:solidFill>
          <a:ln w="12700">
            <a:solidFill>
              <a:schemeClr val="tx1"/>
            </a:solidFill>
            <a:prstDash val="solid"/>
          </a:ln>
        </p:spPr>
      </p:sp>
      <p:sp>
        <p:nvSpPr>
          <p:cNvPr id="27" name="Allocation transaction"/>
          <p:cNvSpPr txBox="1"/>
          <p:nvPr/>
        </p:nvSpPr>
        <p:spPr>
          <a:xfrm>
            <a:off x="731520" y="3401568"/>
            <a:ext cx="5394960" cy="270662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START TRANSACTION;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UPDATE ParkingSpace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SET status = 'ALLOCATED', apartment_id = 3</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WHERE parking_id = 11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AND status = 'AVAILABLE';   -- guard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affected rows must be 1, else ROLLBACK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UPDATE Vehicle SET parking_id = 11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WHERE vehicle_id = 7;</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COMMIT;</a:t>
            </a:r>
            <a:endParaRPr lang="en-US" sz="1200" dirty="0"/>
          </a:p>
        </p:txBody>
      </p:sp>
      <p:sp>
        <p:nvSpPr>
          <p:cNvPr id="28" name="Text 26"/>
          <p:cNvSpPr txBox="1"/>
          <p:nvPr/>
        </p:nvSpPr>
        <p:spPr>
          <a:xfrm>
            <a:off x="6583680" y="3291840"/>
            <a:ext cx="1600200" cy="640080"/>
          </a:xfrm>
          <a:prstGeom prst="rect">
            <a:avLst/>
          </a:prstGeom>
          <a:noFill/>
          <a:ln/>
        </p:spPr>
        <p:txBody>
          <a:bodyPr wrap="square" lIns="0" tIns="0" rIns="0" bIns="0" rtlCol="0" anchor="ctr"/>
          <a:lstStyle/>
          <a:p>
            <a:pPr indent="0" marL="0">
              <a:buNone/>
            </a:pPr>
            <a:r>
              <a:rPr lang="en-US" sz="1500" b="1" dirty="0">
                <a:solidFill>
                  <a:schemeClr val="accent1"/>
                </a:solidFill>
              </a:rPr>
              <a:t>Atomicity</a:t>
            </a:r>
            <a:endParaRPr lang="en-US" sz="1500" dirty="0"/>
          </a:p>
        </p:txBody>
      </p:sp>
      <p:sp>
        <p:nvSpPr>
          <p:cNvPr id="29" name="Text 27"/>
          <p:cNvSpPr txBox="1"/>
          <p:nvPr/>
        </p:nvSpPr>
        <p:spPr>
          <a:xfrm>
            <a:off x="8183880" y="3291840"/>
            <a:ext cx="3429000" cy="640080"/>
          </a:xfrm>
          <a:prstGeom prst="rect">
            <a:avLst/>
          </a:prstGeom>
          <a:noFill/>
          <a:ln/>
        </p:spPr>
        <p:txBody>
          <a:bodyPr wrap="square" lIns="0" tIns="0" rIns="0" bIns="0" rtlCol="0" anchor="ctr"/>
          <a:lstStyle/>
          <a:p>
            <a:pPr indent="0" marL="0">
              <a:buNone/>
            </a:pPr>
            <a:r>
              <a:rPr lang="en-US" sz="1400" dirty="0">
                <a:solidFill>
                  <a:schemeClr val="tx1"/>
                </a:solidFill>
              </a:rPr>
              <a:t>Slot and car change together or not at all</a:t>
            </a:r>
            <a:endParaRPr lang="en-US" sz="1400" dirty="0"/>
          </a:p>
        </p:txBody>
      </p:sp>
      <p:sp>
        <p:nvSpPr>
          <p:cNvPr id="30" name="Text 28"/>
          <p:cNvSpPr txBox="1"/>
          <p:nvPr/>
        </p:nvSpPr>
        <p:spPr>
          <a:xfrm>
            <a:off x="6583680" y="4041648"/>
            <a:ext cx="1600200" cy="640080"/>
          </a:xfrm>
          <a:prstGeom prst="rect">
            <a:avLst/>
          </a:prstGeom>
          <a:noFill/>
          <a:ln/>
        </p:spPr>
        <p:txBody>
          <a:bodyPr wrap="square" lIns="0" tIns="0" rIns="0" bIns="0" rtlCol="0" anchor="ctr"/>
          <a:lstStyle/>
          <a:p>
            <a:pPr indent="0" marL="0">
              <a:buNone/>
            </a:pPr>
            <a:r>
              <a:rPr lang="en-US" sz="1500" b="1" dirty="0">
                <a:solidFill>
                  <a:schemeClr val="accent1"/>
                </a:solidFill>
              </a:rPr>
              <a:t>Consistency</a:t>
            </a:r>
            <a:endParaRPr lang="en-US" sz="1500" dirty="0"/>
          </a:p>
        </p:txBody>
      </p:sp>
      <p:sp>
        <p:nvSpPr>
          <p:cNvPr id="31" name="Text 29"/>
          <p:cNvSpPr txBox="1"/>
          <p:nvPr/>
        </p:nvSpPr>
        <p:spPr>
          <a:xfrm>
            <a:off x="8183880" y="4041648"/>
            <a:ext cx="3429000" cy="640080"/>
          </a:xfrm>
          <a:prstGeom prst="rect">
            <a:avLst/>
          </a:prstGeom>
          <a:noFill/>
          <a:ln/>
        </p:spPr>
        <p:txBody>
          <a:bodyPr wrap="square" lIns="0" tIns="0" rIns="0" bIns="0" rtlCol="0" anchor="ctr"/>
          <a:lstStyle/>
          <a:p>
            <a:pPr indent="0" marL="0">
              <a:buNone/>
            </a:pPr>
            <a:r>
              <a:rPr lang="en-US" sz="1400" dirty="0">
                <a:solidFill>
                  <a:schemeClr val="tx1"/>
                </a:solidFill>
              </a:rPr>
              <a:t>FK + UNIQUE(parking_id) as a safety net</a:t>
            </a:r>
            <a:endParaRPr lang="en-US" sz="1400" dirty="0"/>
          </a:p>
        </p:txBody>
      </p:sp>
      <p:sp>
        <p:nvSpPr>
          <p:cNvPr id="32" name="Text 30"/>
          <p:cNvSpPr txBox="1"/>
          <p:nvPr/>
        </p:nvSpPr>
        <p:spPr>
          <a:xfrm>
            <a:off x="6583680" y="4791456"/>
            <a:ext cx="1600200" cy="640080"/>
          </a:xfrm>
          <a:prstGeom prst="rect">
            <a:avLst/>
          </a:prstGeom>
          <a:noFill/>
          <a:ln/>
        </p:spPr>
        <p:txBody>
          <a:bodyPr wrap="square" lIns="0" tIns="0" rIns="0" bIns="0" rtlCol="0" anchor="ctr"/>
          <a:lstStyle/>
          <a:p>
            <a:pPr indent="0" marL="0">
              <a:buNone/>
            </a:pPr>
            <a:r>
              <a:rPr lang="en-US" sz="1500" b="1" dirty="0">
                <a:solidFill>
                  <a:schemeClr val="accent1"/>
                </a:solidFill>
              </a:rPr>
              <a:t>Isolation</a:t>
            </a:r>
            <a:endParaRPr lang="en-US" sz="1500" dirty="0"/>
          </a:p>
        </p:txBody>
      </p:sp>
      <p:sp>
        <p:nvSpPr>
          <p:cNvPr id="33" name="Text 31"/>
          <p:cNvSpPr txBox="1"/>
          <p:nvPr/>
        </p:nvSpPr>
        <p:spPr>
          <a:xfrm>
            <a:off x="8183880" y="4791456"/>
            <a:ext cx="3429000" cy="640080"/>
          </a:xfrm>
          <a:prstGeom prst="rect">
            <a:avLst/>
          </a:prstGeom>
          <a:noFill/>
          <a:ln/>
        </p:spPr>
        <p:txBody>
          <a:bodyPr wrap="square" lIns="0" tIns="0" rIns="0" bIns="0" rtlCol="0" anchor="ctr"/>
          <a:lstStyle/>
          <a:p>
            <a:pPr indent="0" marL="0">
              <a:buNone/>
            </a:pPr>
            <a:r>
              <a:rPr lang="en-US" sz="1400" dirty="0">
                <a:solidFill>
                  <a:schemeClr val="tx1"/>
                </a:solidFill>
              </a:rPr>
              <a:t>InnoDB row lock: B's UPDATE waits, then sees 'ALLOCATED'</a:t>
            </a:r>
            <a:endParaRPr lang="en-US" sz="1400" dirty="0"/>
          </a:p>
        </p:txBody>
      </p:sp>
      <p:sp>
        <p:nvSpPr>
          <p:cNvPr id="34" name="Text 32"/>
          <p:cNvSpPr txBox="1"/>
          <p:nvPr/>
        </p:nvSpPr>
        <p:spPr>
          <a:xfrm>
            <a:off x="6583680" y="5541264"/>
            <a:ext cx="1600200" cy="640080"/>
          </a:xfrm>
          <a:prstGeom prst="rect">
            <a:avLst/>
          </a:prstGeom>
          <a:noFill/>
          <a:ln/>
        </p:spPr>
        <p:txBody>
          <a:bodyPr wrap="square" lIns="0" tIns="0" rIns="0" bIns="0" rtlCol="0" anchor="ctr"/>
          <a:lstStyle/>
          <a:p>
            <a:pPr indent="0" marL="0">
              <a:buNone/>
            </a:pPr>
            <a:r>
              <a:rPr lang="en-US" sz="1500" b="1" dirty="0">
                <a:solidFill>
                  <a:schemeClr val="accent1"/>
                </a:solidFill>
              </a:rPr>
              <a:t>Durability</a:t>
            </a:r>
            <a:endParaRPr lang="en-US" sz="1500" dirty="0"/>
          </a:p>
        </p:txBody>
      </p:sp>
      <p:sp>
        <p:nvSpPr>
          <p:cNvPr id="35" name="Text 33"/>
          <p:cNvSpPr txBox="1"/>
          <p:nvPr/>
        </p:nvSpPr>
        <p:spPr>
          <a:xfrm>
            <a:off x="8183880" y="5541264"/>
            <a:ext cx="3429000" cy="640080"/>
          </a:xfrm>
          <a:prstGeom prst="rect">
            <a:avLst/>
          </a:prstGeom>
          <a:noFill/>
          <a:ln/>
        </p:spPr>
        <p:txBody>
          <a:bodyPr wrap="square" lIns="0" tIns="0" rIns="0" bIns="0" rtlCol="0" anchor="ctr"/>
          <a:lstStyle/>
          <a:p>
            <a:pPr indent="0" marL="0">
              <a:buNone/>
            </a:pPr>
            <a:r>
              <a:rPr lang="en-US" sz="1400" dirty="0">
                <a:solidFill>
                  <a:schemeClr val="tx1"/>
                </a:solidFill>
              </a:rPr>
              <a:t>Committed change survives a crash (redo log)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Indexes and the queries they serve</a:t>
            </a:r>
            <a:endParaRPr lang="en-US" sz="3200" dirty="0"/>
          </a:p>
        </p:txBody>
      </p:sp>
      <p:graphicFrame>
        <p:nvGraphicFramePr>
          <p:cNvPr id="14" name="Index table"/>
          <p:cNvGraphicFramePr>
            <a:graphicFrameLocks noGrp="1"/>
          </p:cNvGraphicFramePr>
          <p:nvPr>
            <p:extLst>
              <p:ext uri="{D42A27DB-BD31-4B8C-83A1-F6EECF244321}">
                <p14:modId xmlns:p14="http://schemas.microsoft.com/office/powerpoint/2010/main" val="1579011935"/>
              </p:ext>
            </p:extLst>
          </p:nvPr>
        </p:nvGraphicFramePr>
        <p:xfrm>
          <a:off x="548640" y="1280160"/>
          <a:ext cx="7863840" cy="914400"/>
        </p:xfrm>
        <a:graphic>
          <a:graphicData uri="http://schemas.openxmlformats.org/drawingml/2006/table">
            <a:tbl>
              <a:tblPr/>
              <a:tblGrid>
                <a:gridCol w="3566160"/>
                <a:gridCol w="1737360"/>
                <a:gridCol w="2560320"/>
              </a:tblGrid>
              <a:tr h="457200">
                <a:tc>
                  <a:txBody>
                    <a:bodyPr/>
                    <a:lstStyle/>
                    <a:p>
                      <a:pPr indent="0" marL="0">
                        <a:buNone/>
                      </a:pPr>
                      <a:r>
                        <a:rPr lang="en-US" sz="1300" b="1" dirty="0">
                          <a:solidFill>
                            <a:schemeClr val="bg1"/>
                          </a:solidFill>
                        </a:rPr>
                        <a:t>Index</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Kind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Used by</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r>
              <a:tr h="457200">
                <a:tc>
                  <a:txBody>
                    <a:bodyPr/>
                    <a:lstStyle/>
                    <a:p>
                      <a:pPr indent="0" marL="0">
                        <a:buNone/>
                      </a:pPr>
                      <a:r>
                        <a:rPr lang="en-US" sz="1300" dirty="0">
                          <a:solidFill>
                            <a:schemeClr val="tx1"/>
                          </a:solidFill>
                        </a:rPr>
                        <a:t>PRIMARY KEY on every table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Clustered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Lookups by id, every join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Apartment (block, flat_no)</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Unique, composite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 duplicate flats; search by flat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MaintenancePayment (apartment_id, payment_month)</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Unique, composite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Duplicate-bill guard; a flat's bills</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Resident (account_id, apartment_id)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Unique, composite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One row per login per flat; login → flats</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Vehicle (parking_id)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Unique</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One car per slot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FK columns: resident, vehicle, complaint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Secondary</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Joins from parent to child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status on payment, parking, complaint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Secondary</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Dashboards: pending, free slots, open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visitors { apartmentId: 1, entryTime: -1 }</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MongoDB compound</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 flat's visitor history, newest first</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bl>
          </a:graphicData>
        </a:graphic>
      </p:graphicFrame>
      <p:sp>
        <p:nvSpPr>
          <p:cNvPr id="4" name="Stat MySQL indexes, including primary keys"/>
          <p:cNvSpPr txBox="1"/>
          <p:nvPr/>
        </p:nvSpPr>
        <p:spPr>
          <a:xfrm>
            <a:off x="8869680" y="1325880"/>
            <a:ext cx="274320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35</a:t>
            </a:r>
            <a:endParaRPr lang="en-US" sz="4800" dirty="0"/>
          </a:p>
        </p:txBody>
      </p:sp>
      <p:sp>
        <p:nvSpPr>
          <p:cNvPr id="5" name="Stat label MySQL indexes, including primary keys"/>
          <p:cNvSpPr txBox="1"/>
          <p:nvPr/>
        </p:nvSpPr>
        <p:spPr>
          <a:xfrm>
            <a:off x="8869680" y="2148840"/>
            <a:ext cx="2743200" cy="548640"/>
          </a:xfrm>
          <a:prstGeom prst="rect">
            <a:avLst/>
          </a:prstGeom>
          <a:noFill/>
          <a:ln/>
        </p:spPr>
        <p:txBody>
          <a:bodyPr wrap="square" lIns="0" tIns="0" rIns="0" bIns="0" rtlCol="0" anchor="t"/>
          <a:lstStyle/>
          <a:p>
            <a:pPr indent="0" marL="0">
              <a:buNone/>
            </a:pPr>
            <a:r>
              <a:rPr lang="en-US" sz="1400" dirty="0">
                <a:solidFill>
                  <a:schemeClr val="accent6"/>
                </a:solidFill>
              </a:rPr>
              <a:t>MySQL indexes, including primary keys</a:t>
            </a:r>
            <a:endParaRPr lang="en-US" sz="1400" dirty="0"/>
          </a:p>
        </p:txBody>
      </p:sp>
      <p:sp>
        <p:nvSpPr>
          <p:cNvPr id="6" name="Stat foreign keys"/>
          <p:cNvSpPr txBox="1"/>
          <p:nvPr/>
        </p:nvSpPr>
        <p:spPr>
          <a:xfrm>
            <a:off x="8869680" y="2880360"/>
            <a:ext cx="2743200" cy="822960"/>
          </a:xfrm>
          <a:prstGeom prst="rect">
            <a:avLst/>
          </a:prstGeom>
          <a:noFill/>
          <a:ln/>
        </p:spPr>
        <p:txBody>
          <a:bodyPr wrap="square" lIns="0" tIns="0" rIns="0" bIns="0" rtlCol="0" anchor="ctr"/>
          <a:lstStyle/>
          <a:p>
            <a:pPr indent="0" marL="0">
              <a:buNone/>
            </a:pPr>
            <a:r>
              <a:rPr lang="en-US" sz="4800" b="1" dirty="0">
                <a:solidFill>
                  <a:schemeClr val="accent5"/>
                </a:solidFill>
                <a:latin typeface="Cambria" pitchFamily="34" charset="0"/>
                <a:ea typeface="Cambria" pitchFamily="34" charset="-122"/>
                <a:cs typeface="Cambria" pitchFamily="34" charset="-120"/>
              </a:rPr>
              <a:t>10</a:t>
            </a:r>
            <a:endParaRPr lang="en-US" sz="4800" dirty="0"/>
          </a:p>
        </p:txBody>
      </p:sp>
      <p:sp>
        <p:nvSpPr>
          <p:cNvPr id="7" name="Stat label foreign keys"/>
          <p:cNvSpPr txBox="1"/>
          <p:nvPr/>
        </p:nvSpPr>
        <p:spPr>
          <a:xfrm>
            <a:off x="8869680" y="3703320"/>
            <a:ext cx="2743200" cy="548640"/>
          </a:xfrm>
          <a:prstGeom prst="rect">
            <a:avLst/>
          </a:prstGeom>
          <a:noFill/>
          <a:ln/>
        </p:spPr>
        <p:txBody>
          <a:bodyPr wrap="square" lIns="0" tIns="0" rIns="0" bIns="0" rtlCol="0" anchor="t"/>
          <a:lstStyle/>
          <a:p>
            <a:pPr indent="0" marL="0">
              <a:buNone/>
            </a:pPr>
            <a:r>
              <a:rPr lang="en-US" sz="1400" dirty="0">
                <a:solidFill>
                  <a:schemeClr val="accent6"/>
                </a:solidFill>
              </a:rPr>
              <a:t>foreign keys</a:t>
            </a:r>
            <a:endParaRPr lang="en-US" sz="1400" dirty="0"/>
          </a:p>
        </p:txBody>
      </p:sp>
      <p:sp>
        <p:nvSpPr>
          <p:cNvPr id="8" name="Stat MongoDB secondary indexes"/>
          <p:cNvSpPr txBox="1"/>
          <p:nvPr/>
        </p:nvSpPr>
        <p:spPr>
          <a:xfrm>
            <a:off x="8869680" y="4434840"/>
            <a:ext cx="2743200" cy="82296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7</a:t>
            </a:r>
            <a:endParaRPr lang="en-US" sz="4800" dirty="0"/>
          </a:p>
        </p:txBody>
      </p:sp>
      <p:sp>
        <p:nvSpPr>
          <p:cNvPr id="9" name="Stat label MongoDB secondary indexes"/>
          <p:cNvSpPr txBox="1"/>
          <p:nvPr/>
        </p:nvSpPr>
        <p:spPr>
          <a:xfrm>
            <a:off x="8869680" y="5257800"/>
            <a:ext cx="2743200" cy="548640"/>
          </a:xfrm>
          <a:prstGeom prst="rect">
            <a:avLst/>
          </a:prstGeom>
          <a:noFill/>
          <a:ln/>
        </p:spPr>
        <p:txBody>
          <a:bodyPr wrap="square" lIns="0" tIns="0" rIns="0" bIns="0" rtlCol="0" anchor="t"/>
          <a:lstStyle/>
          <a:p>
            <a:pPr indent="0" marL="0">
              <a:buNone/>
            </a:pPr>
            <a:r>
              <a:rPr lang="en-US" sz="1400" dirty="0">
                <a:solidFill>
                  <a:schemeClr val="accent6"/>
                </a:solidFill>
              </a:rPr>
              <a:t>MongoDB secondary indexes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Schema evolution with migrations</a:t>
            </a:r>
            <a:endParaRPr lang="en-US" sz="3200" dirty="0"/>
          </a:p>
        </p:txBody>
      </p:sp>
      <p:sp>
        <p:nvSpPr>
          <p:cNvPr id="3" name="Timeline"/>
          <p:cNvSpPr/>
          <p:nvPr/>
        </p:nvSpPr>
        <p:spPr>
          <a:xfrm>
            <a:off x="1097280" y="1783080"/>
            <a:ext cx="9966960" cy="0"/>
          </a:xfrm>
          <a:prstGeom prst="line">
            <a:avLst/>
          </a:prstGeom>
          <a:noFill/>
          <a:ln w="25400">
            <a:solidFill>
              <a:schemeClr val="accent6"/>
            </a:solidFill>
            <a:prstDash val="solid"/>
          </a:ln>
        </p:spPr>
      </p:sp>
      <p:sp>
        <p:nvSpPr>
          <p:cNvPr id="4" name="Migration 1 dot"/>
          <p:cNvSpPr/>
          <p:nvPr/>
        </p:nvSpPr>
        <p:spPr>
          <a:xfrm>
            <a:off x="960120" y="1600200"/>
            <a:ext cx="365760" cy="365760"/>
          </a:xfrm>
          <a:prstGeom prst="ellipse">
            <a:avLst/>
          </a:prstGeom>
          <a:solidFill>
            <a:schemeClr val="accent1"/>
          </a:solidFill>
          <a:ln w="25400">
            <a:solidFill>
              <a:schemeClr val="bg1"/>
            </a:solidFill>
            <a:prstDash val="solid"/>
          </a:ln>
        </p:spPr>
      </p:sp>
      <p:sp>
        <p:nvSpPr>
          <p:cNvPr id="5" name="Text 3"/>
          <p:cNvSpPr txBox="1"/>
          <p:nvPr/>
        </p:nvSpPr>
        <p:spPr>
          <a:xfrm>
            <a:off x="548640" y="2057400"/>
            <a:ext cx="2148840" cy="365760"/>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init</a:t>
            </a:r>
            <a:endParaRPr lang="en-US" sz="1300" dirty="0"/>
          </a:p>
        </p:txBody>
      </p:sp>
      <p:sp>
        <p:nvSpPr>
          <p:cNvPr id="6" name="Text 4"/>
          <p:cNvSpPr txBox="1"/>
          <p:nvPr/>
        </p:nvSpPr>
        <p:spPr>
          <a:xfrm>
            <a:off x="548640" y="2423160"/>
            <a:ext cx="2148840" cy="640080"/>
          </a:xfrm>
          <a:prstGeom prst="rect">
            <a:avLst/>
          </a:prstGeom>
          <a:noFill/>
          <a:ln/>
        </p:spPr>
        <p:txBody>
          <a:bodyPr wrap="square" lIns="0" tIns="0" rIns="0" bIns="0" rtlCol="0" anchor="t"/>
          <a:lstStyle/>
          <a:p>
            <a:pPr indent="0" marL="0">
              <a:buNone/>
            </a:pPr>
            <a:r>
              <a:rPr lang="en-US" sz="1300" dirty="0">
                <a:solidFill>
                  <a:schemeClr val="tx1"/>
                </a:solidFill>
              </a:rPr>
              <a:t>10 tables from the</a:t>
            </a:r>
            <a:endParaRPr lang="en-US" sz="1300" dirty="0"/>
          </a:p>
          <a:p>
            <a:pPr indent="0" marL="0">
              <a:buNone/>
            </a:pPr>
            <a:r>
              <a:rPr lang="en-US" sz="1300" dirty="0">
                <a:solidFill>
                  <a:schemeClr val="tx1"/>
                </a:solidFill>
              </a:rPr>
              <a:t>lab baseline + accounts</a:t>
            </a:r>
            <a:endParaRPr lang="en-US" sz="1300" dirty="0"/>
          </a:p>
        </p:txBody>
      </p:sp>
      <p:sp>
        <p:nvSpPr>
          <p:cNvPr id="7" name="Migration 2 dot"/>
          <p:cNvSpPr/>
          <p:nvPr/>
        </p:nvSpPr>
        <p:spPr>
          <a:xfrm>
            <a:off x="3246120" y="1600200"/>
            <a:ext cx="365760" cy="365760"/>
          </a:xfrm>
          <a:prstGeom prst="ellipse">
            <a:avLst/>
          </a:prstGeom>
          <a:solidFill>
            <a:schemeClr val="accent1"/>
          </a:solidFill>
          <a:ln w="25400">
            <a:solidFill>
              <a:schemeClr val="bg1"/>
            </a:solidFill>
            <a:prstDash val="solid"/>
          </a:ln>
        </p:spPr>
      </p:sp>
      <p:sp>
        <p:nvSpPr>
          <p:cNvPr id="8" name="Text 6"/>
          <p:cNvSpPr txBox="1"/>
          <p:nvPr/>
        </p:nvSpPr>
        <p:spPr>
          <a:xfrm>
            <a:off x="2834640" y="2057400"/>
            <a:ext cx="2148840" cy="365760"/>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session_revocation</a:t>
            </a:r>
            <a:endParaRPr lang="en-US" sz="1300" dirty="0"/>
          </a:p>
        </p:txBody>
      </p:sp>
      <p:sp>
        <p:nvSpPr>
          <p:cNvPr id="9" name="Text 7"/>
          <p:cNvSpPr txBox="1"/>
          <p:nvPr/>
        </p:nvSpPr>
        <p:spPr>
          <a:xfrm>
            <a:off x="2834640" y="2423160"/>
            <a:ext cx="2148840" cy="640080"/>
          </a:xfrm>
          <a:prstGeom prst="rect">
            <a:avLst/>
          </a:prstGeom>
          <a:noFill/>
          <a:ln/>
        </p:spPr>
        <p:txBody>
          <a:bodyPr wrap="square" lIns="0" tIns="0" rIns="0" bIns="0" rtlCol="0" anchor="t"/>
          <a:lstStyle/>
          <a:p>
            <a:pPr indent="0" marL="0">
              <a:buNone/>
            </a:pPr>
            <a:r>
              <a:rPr lang="en-US" sz="1300" dirty="0">
                <a:solidFill>
                  <a:schemeClr val="tx1"/>
                </a:solidFill>
              </a:rPr>
              <a:t>sessions_valid_after</a:t>
            </a:r>
            <a:endParaRPr lang="en-US" sz="1300" dirty="0"/>
          </a:p>
          <a:p>
            <a:pPr indent="0" marL="0">
              <a:buNone/>
            </a:pPr>
            <a:r>
              <a:rPr lang="en-US" sz="1300" dirty="0">
                <a:solidFill>
                  <a:schemeClr val="tx1"/>
                </a:solidFill>
              </a:rPr>
              <a:t>column</a:t>
            </a:r>
            <a:endParaRPr lang="en-US" sz="1300" dirty="0"/>
          </a:p>
        </p:txBody>
      </p:sp>
      <p:sp>
        <p:nvSpPr>
          <p:cNvPr id="10" name="Migration 3 dot"/>
          <p:cNvSpPr/>
          <p:nvPr/>
        </p:nvSpPr>
        <p:spPr>
          <a:xfrm>
            <a:off x="5532120" y="1600200"/>
            <a:ext cx="365760" cy="365760"/>
          </a:xfrm>
          <a:prstGeom prst="ellipse">
            <a:avLst/>
          </a:prstGeom>
          <a:solidFill>
            <a:schemeClr val="accent1"/>
          </a:solidFill>
          <a:ln w="25400">
            <a:solidFill>
              <a:schemeClr val="bg1"/>
            </a:solidFill>
            <a:prstDash val="solid"/>
          </a:ln>
        </p:spPr>
      </p:sp>
      <p:sp>
        <p:nvSpPr>
          <p:cNvPr id="11" name="Text 9"/>
          <p:cNvSpPr txBox="1"/>
          <p:nvPr/>
        </p:nvSpPr>
        <p:spPr>
          <a:xfrm>
            <a:off x="5120640" y="2057400"/>
            <a:ext cx="2148840" cy="365760"/>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login_throttle</a:t>
            </a:r>
            <a:endParaRPr lang="en-US" sz="1300" dirty="0"/>
          </a:p>
        </p:txBody>
      </p:sp>
      <p:sp>
        <p:nvSpPr>
          <p:cNvPr id="12" name="Text 10"/>
          <p:cNvSpPr txBox="1"/>
          <p:nvPr/>
        </p:nvSpPr>
        <p:spPr>
          <a:xfrm>
            <a:off x="5120640" y="2423160"/>
            <a:ext cx="2148840" cy="640080"/>
          </a:xfrm>
          <a:prstGeom prst="rect">
            <a:avLst/>
          </a:prstGeom>
          <a:noFill/>
          <a:ln/>
        </p:spPr>
        <p:txBody>
          <a:bodyPr wrap="square" lIns="0" tIns="0" rIns="0" bIns="0" rtlCol="0" anchor="t"/>
          <a:lstStyle/>
          <a:p>
            <a:pPr indent="0" marL="0">
              <a:buNone/>
            </a:pPr>
            <a:r>
              <a:rPr lang="en-US" sz="1300" dirty="0">
                <a:solidFill>
                  <a:schemeClr val="tx1"/>
                </a:solidFill>
              </a:rPr>
              <a:t>LoginAttempt</a:t>
            </a:r>
            <a:endParaRPr lang="en-US" sz="1300" dirty="0"/>
          </a:p>
          <a:p>
            <a:pPr indent="0" marL="0">
              <a:buNone/>
            </a:pPr>
            <a:r>
              <a:rPr lang="en-US" sz="1300" dirty="0">
                <a:solidFill>
                  <a:schemeClr val="tx1"/>
                </a:solidFill>
              </a:rPr>
              <a:t>table</a:t>
            </a:r>
            <a:endParaRPr lang="en-US" sz="1300" dirty="0"/>
          </a:p>
        </p:txBody>
      </p:sp>
      <p:sp>
        <p:nvSpPr>
          <p:cNvPr id="13" name="Migration 4 dot"/>
          <p:cNvSpPr/>
          <p:nvPr/>
        </p:nvSpPr>
        <p:spPr>
          <a:xfrm>
            <a:off x="7818120" y="1600200"/>
            <a:ext cx="365760" cy="365760"/>
          </a:xfrm>
          <a:prstGeom prst="ellipse">
            <a:avLst/>
          </a:prstGeom>
          <a:solidFill>
            <a:schemeClr val="accent1"/>
          </a:solidFill>
          <a:ln w="25400">
            <a:solidFill>
              <a:schemeClr val="bg1"/>
            </a:solidFill>
            <a:prstDash val="solid"/>
          </a:ln>
        </p:spPr>
      </p:sp>
      <p:sp>
        <p:nvSpPr>
          <p:cNvPr id="14" name="Text 12"/>
          <p:cNvSpPr txBox="1"/>
          <p:nvPr/>
        </p:nvSpPr>
        <p:spPr>
          <a:xfrm>
            <a:off x="7406640" y="2057400"/>
            <a:ext cx="2148840" cy="365760"/>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account_requests</a:t>
            </a:r>
            <a:endParaRPr lang="en-US" sz="1300" dirty="0"/>
          </a:p>
        </p:txBody>
      </p:sp>
      <p:sp>
        <p:nvSpPr>
          <p:cNvPr id="15" name="Text 13"/>
          <p:cNvSpPr txBox="1"/>
          <p:nvPr/>
        </p:nvSpPr>
        <p:spPr>
          <a:xfrm>
            <a:off x="7406640" y="2423160"/>
            <a:ext cx="2148840" cy="640080"/>
          </a:xfrm>
          <a:prstGeom prst="rect">
            <a:avLst/>
          </a:prstGeom>
          <a:noFill/>
          <a:ln/>
        </p:spPr>
        <p:txBody>
          <a:bodyPr wrap="square" lIns="0" tIns="0" rIns="0" bIns="0" rtlCol="0" anchor="t"/>
          <a:lstStyle/>
          <a:p>
            <a:pPr indent="0" marL="0">
              <a:buNone/>
            </a:pPr>
            <a:r>
              <a:rPr lang="en-US" sz="1300" dirty="0">
                <a:solidFill>
                  <a:schemeClr val="tx1"/>
                </a:solidFill>
              </a:rPr>
              <a:t>AccountRequest</a:t>
            </a:r>
            <a:endParaRPr lang="en-US" sz="1300" dirty="0"/>
          </a:p>
          <a:p>
            <a:pPr indent="0" marL="0">
              <a:buNone/>
            </a:pPr>
            <a:r>
              <a:rPr lang="en-US" sz="1300" dirty="0">
                <a:solidFill>
                  <a:schemeClr val="tx1"/>
                </a:solidFill>
              </a:rPr>
              <a:t>table + FK</a:t>
            </a:r>
            <a:endParaRPr lang="en-US" sz="1300" dirty="0"/>
          </a:p>
        </p:txBody>
      </p:sp>
      <p:sp>
        <p:nvSpPr>
          <p:cNvPr id="16" name="Migration 5 dot"/>
          <p:cNvSpPr/>
          <p:nvPr/>
        </p:nvSpPr>
        <p:spPr>
          <a:xfrm>
            <a:off x="10104120" y="1600200"/>
            <a:ext cx="365760" cy="365760"/>
          </a:xfrm>
          <a:prstGeom prst="ellipse">
            <a:avLst/>
          </a:prstGeom>
          <a:solidFill>
            <a:schemeClr val="accent2"/>
          </a:solidFill>
          <a:ln w="25400">
            <a:solidFill>
              <a:schemeClr val="bg1"/>
            </a:solidFill>
            <a:prstDash val="solid"/>
          </a:ln>
        </p:spPr>
      </p:sp>
      <p:sp>
        <p:nvSpPr>
          <p:cNvPr id="17" name="Text 15"/>
          <p:cNvSpPr txBox="1"/>
          <p:nvPr/>
        </p:nvSpPr>
        <p:spPr>
          <a:xfrm>
            <a:off x="9692640" y="2057400"/>
            <a:ext cx="2148840" cy="365760"/>
          </a:xfrm>
          <a:prstGeom prst="rect">
            <a:avLst/>
          </a:prstGeom>
          <a:noFill/>
          <a:ln/>
        </p:spPr>
        <p:txBody>
          <a:bodyPr wrap="square" lIns="0" tIns="0" rIns="0" bIns="0" rtlCol="0" anchor="ctr"/>
          <a:lstStyle/>
          <a:p>
            <a:pPr indent="0" marL="0">
              <a:buNone/>
            </a:pPr>
            <a:r>
              <a:rPr lang="en-US" sz="1300" b="1" dirty="0">
                <a:solidFill>
                  <a:schemeClr val="accent2"/>
                </a:solidFill>
                <a:latin typeface="Courier New" pitchFamily="34" charset="0"/>
                <a:ea typeface="Courier New" pitchFamily="34" charset="-122"/>
                <a:cs typeface="Courier New" pitchFamily="34" charset="-120"/>
              </a:rPr>
              <a:t>multi_flat_residents</a:t>
            </a:r>
            <a:endParaRPr lang="en-US" sz="1300" dirty="0"/>
          </a:p>
        </p:txBody>
      </p:sp>
      <p:sp>
        <p:nvSpPr>
          <p:cNvPr id="18" name="Text 16"/>
          <p:cNvSpPr txBox="1"/>
          <p:nvPr/>
        </p:nvSpPr>
        <p:spPr>
          <a:xfrm>
            <a:off x="9692640" y="2423160"/>
            <a:ext cx="2148840" cy="640080"/>
          </a:xfrm>
          <a:prstGeom prst="rect">
            <a:avLst/>
          </a:prstGeom>
          <a:noFill/>
          <a:ln/>
        </p:spPr>
        <p:txBody>
          <a:bodyPr wrap="square" lIns="0" tIns="0" rIns="0" bIns="0" rtlCol="0" anchor="t"/>
          <a:lstStyle/>
          <a:p>
            <a:pPr indent="0" marL="0">
              <a:buNone/>
            </a:pPr>
            <a:r>
              <a:rPr lang="en-US" sz="1300" dirty="0">
                <a:solidFill>
                  <a:schemeClr val="tx1"/>
                </a:solidFill>
              </a:rPr>
              <a:t>login ↔ many flats,</a:t>
            </a:r>
            <a:endParaRPr lang="en-US" sz="1300" dirty="0"/>
          </a:p>
          <a:p>
            <a:pPr indent="0" marL="0">
              <a:buNone/>
            </a:pPr>
            <a:r>
              <a:rPr lang="en-US" sz="1300" dirty="0">
                <a:solidFill>
                  <a:schemeClr val="tx1"/>
                </a:solidFill>
              </a:rPr>
              <a:t>data preserved</a:t>
            </a:r>
            <a:endParaRPr lang="en-US" sz="1300" dirty="0"/>
          </a:p>
        </p:txBody>
      </p:sp>
      <p:sp>
        <p:nvSpPr>
          <p:cNvPr id="19" name="Data-preserving migration background"/>
          <p:cNvSpPr/>
          <p:nvPr/>
        </p:nvSpPr>
        <p:spPr>
          <a:xfrm>
            <a:off x="548640" y="3337560"/>
            <a:ext cx="7406640" cy="2880360"/>
          </a:xfrm>
          <a:prstGeom prst="roundRect">
            <a:avLst>
              <a:gd name="adj" fmla="val 1905"/>
            </a:avLst>
          </a:prstGeom>
          <a:solidFill>
            <a:schemeClr val="tx1"/>
          </a:solidFill>
          <a:ln w="12700">
            <a:solidFill>
              <a:schemeClr val="tx1"/>
            </a:solidFill>
            <a:prstDash val="solid"/>
          </a:ln>
        </p:spPr>
      </p:sp>
      <p:sp>
        <p:nvSpPr>
          <p:cNvPr id="20" name="Data-preserving migration"/>
          <p:cNvSpPr txBox="1"/>
          <p:nvPr/>
        </p:nvSpPr>
        <p:spPr>
          <a:xfrm>
            <a:off x="731520" y="3447288"/>
            <a:ext cx="7040880" cy="26609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Migration 5: move the login link without losing data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ALTER TABLE Resident ADD COLUMN account_id INT NULL;</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UPDATE Resident 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JOIN UserAccount u ON u.resident_id = r.resident_id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SET r.account_id = u.user_id;                -- copy links first</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ALTER TABLE UserAccount DROP COLUMN resident_id;   -- then drop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CREATE UNIQUE INDEX Resident_account_id_apartment_id_key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ON Resident (account_id, apartment_id);</a:t>
            </a:r>
            <a:endParaRPr lang="en-US" sz="1200" dirty="0"/>
          </a:p>
        </p:txBody>
      </p:sp>
      <p:sp>
        <p:nvSpPr>
          <p:cNvPr id="21" name="Migration takeaway card"/>
          <p:cNvSpPr/>
          <p:nvPr/>
        </p:nvSpPr>
        <p:spPr>
          <a:xfrm>
            <a:off x="8229600" y="3337560"/>
            <a:ext cx="3383280" cy="2880360"/>
          </a:xfrm>
          <a:prstGeom prst="roundRect">
            <a:avLst>
              <a:gd name="adj" fmla="val 2540"/>
            </a:avLst>
          </a:prstGeom>
          <a:solidFill>
            <a:schemeClr val="bg2"/>
          </a:solidFill>
          <a:ln w="12700">
            <a:solidFill>
              <a:schemeClr val="bg2"/>
            </a:solidFill>
            <a:prstDash val="solid"/>
          </a:ln>
        </p:spPr>
      </p:sp>
      <p:sp>
        <p:nvSpPr>
          <p:cNvPr id="22" name="Migration takeaway"/>
          <p:cNvSpPr txBox="1"/>
          <p:nvPr/>
        </p:nvSpPr>
        <p:spPr>
          <a:xfrm>
            <a:off x="8458200" y="3520440"/>
            <a:ext cx="2971800" cy="2560320"/>
          </a:xfrm>
          <a:prstGeom prst="rect">
            <a:avLst/>
          </a:prstGeom>
          <a:noFill/>
          <a:ln/>
        </p:spPr>
        <p:txBody>
          <a:bodyPr wrap="square" lIns="0" tIns="0" rIns="0" bIns="0" rtlCol="0" anchor="t"/>
          <a:lstStyle/>
          <a:p>
            <a:pPr indent="0" marL="0">
              <a:buNone/>
            </a:pPr>
            <a:r>
              <a:rPr lang="en-US" sz="1700" b="1" dirty="0">
                <a:solidFill>
                  <a:schemeClr val="tx2"/>
                </a:solidFill>
              </a:rPr>
              <a:t>Why it matters</a:t>
            </a:r>
            <a:endParaRPr lang="en-US" sz="1400" dirty="0"/>
          </a:p>
          <a:p>
            <a:pPr indent="0" marL="0">
              <a:buNone/>
            </a:pPr>
            <a:r>
              <a:rPr lang="en-US" sz="1400" dirty="0">
                <a:solidFill>
                  <a:schemeClr val="tx1"/>
                </a:solidFill>
              </a:rPr>
              <a:t>Changing 1 : 1 into 1 : N on a live database.</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An auto-generated script would drop the column first and lose every link. Copy, then drop.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The document side: MongoDB</a:t>
            </a:r>
            <a:endParaRPr lang="en-US" sz="3200" dirty="0"/>
          </a:p>
        </p:txBody>
      </p:sp>
      <p:sp>
        <p:nvSpPr>
          <p:cNvPr id="3" name="Append-only events circle"/>
          <p:cNvSpPr/>
          <p:nvPr/>
        </p:nvSpPr>
        <p:spPr>
          <a:xfrm>
            <a:off x="548640" y="1325880"/>
            <a:ext cx="548640" cy="548640"/>
          </a:xfrm>
          <a:prstGeom prst="ellipse">
            <a:avLst/>
          </a:prstGeom>
          <a:solidFill>
            <a:schemeClr val="accent2"/>
          </a:solidFill>
          <a:ln w="12700">
            <a:solidFill>
              <a:schemeClr val="accent2"/>
            </a:solidFill>
            <a:prstDash val="solid"/>
          </a:ln>
        </p:spPr>
      </p:sp>
      <p:pic>
        <p:nvPicPr>
          <p:cNvPr id="4" name="Append-only events" descr="preencoded.png">    </p:cNvPr>
          <p:cNvPicPr>
            <a:picLocks noChangeAspect="1"/>
          </p:cNvPicPr>
          <p:nvPr/>
        </p:nvPicPr>
        <p:blipFill>
          <a:blip r:embed="rId1"/>
          <a:stretch>
            <a:fillRect/>
          </a:stretch>
        </p:blipFill>
        <p:spPr>
          <a:xfrm>
            <a:off x="680314" y="1457554"/>
            <a:ext cx="285293" cy="285293"/>
          </a:xfrm>
          <a:prstGeom prst="rect">
            <a:avLst/>
          </a:prstGeom>
        </p:spPr>
      </p:pic>
      <p:sp>
        <p:nvSpPr>
          <p:cNvPr id="5" name="Text 2"/>
          <p:cNvSpPr txBox="1"/>
          <p:nvPr/>
        </p:nvSpPr>
        <p:spPr>
          <a:xfrm>
            <a:off x="1280160" y="1280160"/>
            <a:ext cx="3291840" cy="365760"/>
          </a:xfrm>
          <a:prstGeom prst="rect">
            <a:avLst/>
          </a:prstGeom>
          <a:noFill/>
          <a:ln/>
        </p:spPr>
        <p:txBody>
          <a:bodyPr wrap="square" lIns="0" tIns="0" rIns="0" bIns="0" rtlCol="0" anchor="ctr"/>
          <a:lstStyle/>
          <a:p>
            <a:pPr indent="0" marL="0">
              <a:buNone/>
            </a:pPr>
            <a:r>
              <a:rPr lang="en-US" sz="1600" b="1" dirty="0">
                <a:solidFill>
                  <a:schemeClr val="tx2"/>
                </a:solidFill>
              </a:rPr>
              <a:t>Append-only events</a:t>
            </a:r>
            <a:endParaRPr lang="en-US" sz="1600" dirty="0"/>
          </a:p>
        </p:txBody>
      </p:sp>
      <p:sp>
        <p:nvSpPr>
          <p:cNvPr id="6" name="Text 3"/>
          <p:cNvSpPr txBox="1"/>
          <p:nvPr/>
        </p:nvSpPr>
        <p:spPr>
          <a:xfrm>
            <a:off x="1280160" y="1645920"/>
            <a:ext cx="3291840" cy="548640"/>
          </a:xfrm>
          <a:prstGeom prst="rect">
            <a:avLst/>
          </a:prstGeom>
          <a:noFill/>
          <a:ln/>
        </p:spPr>
        <p:txBody>
          <a:bodyPr wrap="square" lIns="0" tIns="0" rIns="0" bIns="0" rtlCol="0" anchor="t"/>
          <a:lstStyle/>
          <a:p>
            <a:pPr indent="0" marL="0">
              <a:buNone/>
            </a:pPr>
            <a:r>
              <a:rPr lang="en-US" sz="1400" dirty="0">
                <a:solidFill>
                  <a:schemeClr val="tx1"/>
                </a:solidFill>
              </a:rPr>
              <a:t>Complaint timeline only ever grows; never updated</a:t>
            </a:r>
            <a:endParaRPr lang="en-US" sz="1400" dirty="0"/>
          </a:p>
        </p:txBody>
      </p:sp>
      <p:sp>
        <p:nvSpPr>
          <p:cNvPr id="7" name="Flexible shape circle"/>
          <p:cNvSpPr/>
          <p:nvPr/>
        </p:nvSpPr>
        <p:spPr>
          <a:xfrm>
            <a:off x="548640" y="2331720"/>
            <a:ext cx="548640" cy="548640"/>
          </a:xfrm>
          <a:prstGeom prst="ellipse">
            <a:avLst/>
          </a:prstGeom>
          <a:solidFill>
            <a:schemeClr val="accent2"/>
          </a:solidFill>
          <a:ln w="12700">
            <a:solidFill>
              <a:schemeClr val="accent2"/>
            </a:solidFill>
            <a:prstDash val="solid"/>
          </a:ln>
        </p:spPr>
      </p:sp>
      <p:pic>
        <p:nvPicPr>
          <p:cNvPr id="8" name="Flexible shape" descr="preencoded.png">    </p:cNvPr>
          <p:cNvPicPr>
            <a:picLocks noChangeAspect="1"/>
          </p:cNvPicPr>
          <p:nvPr/>
        </p:nvPicPr>
        <p:blipFill>
          <a:blip r:embed="rId2"/>
          <a:stretch>
            <a:fillRect/>
          </a:stretch>
        </p:blipFill>
        <p:spPr>
          <a:xfrm>
            <a:off x="680314" y="2463394"/>
            <a:ext cx="285293" cy="285293"/>
          </a:xfrm>
          <a:prstGeom prst="rect">
            <a:avLst/>
          </a:prstGeom>
        </p:spPr>
      </p:pic>
      <p:sp>
        <p:nvSpPr>
          <p:cNvPr id="9" name="Text 5"/>
          <p:cNvSpPr txBox="1"/>
          <p:nvPr/>
        </p:nvSpPr>
        <p:spPr>
          <a:xfrm>
            <a:off x="1280160" y="2286000"/>
            <a:ext cx="3291840" cy="365760"/>
          </a:xfrm>
          <a:prstGeom prst="rect">
            <a:avLst/>
          </a:prstGeom>
          <a:noFill/>
          <a:ln/>
        </p:spPr>
        <p:txBody>
          <a:bodyPr wrap="square" lIns="0" tIns="0" rIns="0" bIns="0" rtlCol="0" anchor="ctr"/>
          <a:lstStyle/>
          <a:p>
            <a:pPr indent="0" marL="0">
              <a:buNone/>
            </a:pPr>
            <a:r>
              <a:rPr lang="en-US" sz="1600" b="1" dirty="0">
                <a:solidFill>
                  <a:schemeClr val="tx2"/>
                </a:solidFill>
              </a:rPr>
              <a:t>Flexible shape</a:t>
            </a:r>
            <a:endParaRPr lang="en-US" sz="1600" dirty="0"/>
          </a:p>
        </p:txBody>
      </p:sp>
      <p:sp>
        <p:nvSpPr>
          <p:cNvPr id="10" name="Text 6"/>
          <p:cNvSpPr txBox="1"/>
          <p:nvPr/>
        </p:nvSpPr>
        <p:spPr>
          <a:xfrm>
            <a:off x="1280160" y="2651760"/>
            <a:ext cx="3291840" cy="548640"/>
          </a:xfrm>
          <a:prstGeom prst="rect">
            <a:avLst/>
          </a:prstGeom>
          <a:noFill/>
          <a:ln/>
        </p:spPr>
        <p:txBody>
          <a:bodyPr wrap="square" lIns="0" tIns="0" rIns="0" bIns="0" rtlCol="0" anchor="t"/>
          <a:lstStyle/>
          <a:p>
            <a:pPr indent="0" marL="0">
              <a:buNone/>
            </a:pPr>
            <a:r>
              <a:rPr lang="en-US" sz="1400" dirty="0">
                <a:solidFill>
                  <a:schemeClr val="tx1"/>
                </a:solidFill>
              </a:rPr>
              <a:t>Notices and visits carry optional fields</a:t>
            </a:r>
            <a:endParaRPr lang="en-US" sz="1400" dirty="0"/>
          </a:p>
        </p:txBody>
      </p:sp>
      <p:sp>
        <p:nvSpPr>
          <p:cNvPr id="11" name="High write volume circle"/>
          <p:cNvSpPr/>
          <p:nvPr/>
        </p:nvSpPr>
        <p:spPr>
          <a:xfrm>
            <a:off x="548640" y="3337560"/>
            <a:ext cx="548640" cy="548640"/>
          </a:xfrm>
          <a:prstGeom prst="ellipse">
            <a:avLst/>
          </a:prstGeom>
          <a:solidFill>
            <a:schemeClr val="accent2"/>
          </a:solidFill>
          <a:ln w="12700">
            <a:solidFill>
              <a:schemeClr val="accent2"/>
            </a:solidFill>
            <a:prstDash val="solid"/>
          </a:ln>
        </p:spPr>
      </p:sp>
      <p:pic>
        <p:nvPicPr>
          <p:cNvPr id="12" name="High write volume" descr="preencoded.png">    </p:cNvPr>
          <p:cNvPicPr>
            <a:picLocks noChangeAspect="1"/>
          </p:cNvPicPr>
          <p:nvPr/>
        </p:nvPicPr>
        <p:blipFill>
          <a:blip r:embed="rId3"/>
          <a:stretch>
            <a:fillRect/>
          </a:stretch>
        </p:blipFill>
        <p:spPr>
          <a:xfrm>
            <a:off x="680314" y="3469234"/>
            <a:ext cx="285293" cy="285293"/>
          </a:xfrm>
          <a:prstGeom prst="rect">
            <a:avLst/>
          </a:prstGeom>
        </p:spPr>
      </p:pic>
      <p:sp>
        <p:nvSpPr>
          <p:cNvPr id="13" name="Text 8"/>
          <p:cNvSpPr txBox="1"/>
          <p:nvPr/>
        </p:nvSpPr>
        <p:spPr>
          <a:xfrm>
            <a:off x="1280160" y="3291840"/>
            <a:ext cx="3291840" cy="365760"/>
          </a:xfrm>
          <a:prstGeom prst="rect">
            <a:avLst/>
          </a:prstGeom>
          <a:noFill/>
          <a:ln/>
        </p:spPr>
        <p:txBody>
          <a:bodyPr wrap="square" lIns="0" tIns="0" rIns="0" bIns="0" rtlCol="0" anchor="ctr"/>
          <a:lstStyle/>
          <a:p>
            <a:pPr indent="0" marL="0">
              <a:buNone/>
            </a:pPr>
            <a:r>
              <a:rPr lang="en-US" sz="1600" b="1" dirty="0">
                <a:solidFill>
                  <a:schemeClr val="tx2"/>
                </a:solidFill>
              </a:rPr>
              <a:t>High write volume</a:t>
            </a:r>
            <a:endParaRPr lang="en-US" sz="1600" dirty="0"/>
          </a:p>
        </p:txBody>
      </p:sp>
      <p:sp>
        <p:nvSpPr>
          <p:cNvPr id="14" name="Text 9"/>
          <p:cNvSpPr txBox="1"/>
          <p:nvPr/>
        </p:nvSpPr>
        <p:spPr>
          <a:xfrm>
            <a:off x="1280160" y="3657600"/>
            <a:ext cx="3291840" cy="548640"/>
          </a:xfrm>
          <a:prstGeom prst="rect">
            <a:avLst/>
          </a:prstGeom>
          <a:noFill/>
          <a:ln/>
        </p:spPr>
        <p:txBody>
          <a:bodyPr wrap="square" lIns="0" tIns="0" rIns="0" bIns="0" rtlCol="0" anchor="t"/>
          <a:lstStyle/>
          <a:p>
            <a:pPr indent="0" marL="0">
              <a:buNone/>
            </a:pPr>
            <a:r>
              <a:rPr lang="en-US" sz="1400" dirty="0">
                <a:solidFill>
                  <a:schemeClr val="tx1"/>
                </a:solidFill>
              </a:rPr>
              <a:t>Every gate entry is a write; no joins needed</a:t>
            </a:r>
            <a:endParaRPr lang="en-US" sz="1400" dirty="0"/>
          </a:p>
        </p:txBody>
      </p:sp>
      <p:graphicFrame>
        <p:nvGraphicFramePr>
          <p:cNvPr id="16" name="Collections table"/>
          <p:cNvGraphicFramePr>
            <a:graphicFrameLocks noGrp="1"/>
          </p:cNvGraphicFramePr>
          <p:nvPr>
            <p:extLst>
              <p:ext uri="{D42A27DB-BD31-4B8C-83A1-F6EECF244321}">
                <p14:modId xmlns:p14="http://schemas.microsoft.com/office/powerpoint/2010/main" val="1579011935"/>
              </p:ext>
            </p:extLst>
          </p:nvPr>
        </p:nvGraphicFramePr>
        <p:xfrm>
          <a:off x="548640" y="4526280"/>
          <a:ext cx="4023360" cy="914400"/>
        </p:xfrm>
        <a:graphic>
          <a:graphicData uri="http://schemas.openxmlformats.org/drawingml/2006/table">
            <a:tbl>
              <a:tblPr/>
              <a:tblGrid>
                <a:gridCol w="2926080"/>
                <a:gridCol w="1097280"/>
              </a:tblGrid>
              <a:tr h="329184">
                <a:tc>
                  <a:txBody>
                    <a:bodyPr/>
                    <a:lstStyle/>
                    <a:p>
                      <a:pPr indent="0" marL="0">
                        <a:buNone/>
                      </a:pPr>
                      <a:r>
                        <a:rPr lang="en-US" sz="1300" b="1" dirty="0">
                          <a:solidFill>
                            <a:schemeClr val="bg1"/>
                          </a:solidFill>
                        </a:rPr>
                        <a:t>Collection</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Docs</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tx2"/>
                    </a:solidFill>
                  </a:tcPr>
                </a:tc>
              </a:tr>
              <a:tr h="32918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visitors</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10</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32918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notices</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r h="32918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feedback</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10</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1"/>
                    </a:solidFill>
                  </a:tcPr>
                </a:tc>
              </a:tr>
              <a:tr h="32918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complaint_activity</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21</a:t>
                      </a:r>
                      <a:endParaRPr lang="en-US" sz="1300" dirty="0"/>
                    </a:p>
                  </a:txBody>
                  <a:tcPr marL="73152" marR="73152" marT="36576" marB="36576"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chemeClr val="bg2"/>
                    </a:solidFill>
                  </a:tcPr>
                </a:tc>
              </a:tr>
            </a:tbl>
          </a:graphicData>
        </a:graphic>
      </p:graphicFrame>
      <p:sp>
        <p:nvSpPr>
          <p:cNvPr id="16" name="Visitor document background"/>
          <p:cNvSpPr/>
          <p:nvPr/>
        </p:nvSpPr>
        <p:spPr>
          <a:xfrm>
            <a:off x="4937760" y="1280160"/>
            <a:ext cx="6675120" cy="3383280"/>
          </a:xfrm>
          <a:prstGeom prst="roundRect">
            <a:avLst>
              <a:gd name="adj" fmla="val 1622"/>
            </a:avLst>
          </a:prstGeom>
          <a:solidFill>
            <a:schemeClr val="tx1"/>
          </a:solidFill>
          <a:ln w="12700">
            <a:solidFill>
              <a:schemeClr val="tx1"/>
            </a:solidFill>
            <a:prstDash val="solid"/>
          </a:ln>
        </p:spPr>
      </p:sp>
      <p:sp>
        <p:nvSpPr>
          <p:cNvPr id="17" name="Visitor document"/>
          <p:cNvSpPr txBox="1"/>
          <p:nvPr/>
        </p:nvSpPr>
        <p:spPr>
          <a:xfrm>
            <a:off x="5120640" y="1389888"/>
            <a:ext cx="6309360" cy="316382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visitors (real document)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"visitorName": "Sana Khan",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"purpose": "Plumbing work",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"apartmentId": 8,        // → MySQL Apartment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"hostResidentId": 8,     // → MySQL Resident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"entryTime": "2026-10-27T11:00:00Z",</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"exitTime":  "2026-10-27T13:00:00Z",</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"recordedByUserId": 4,</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"status": "EXITED"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8" name="Consistency card"/>
          <p:cNvSpPr/>
          <p:nvPr/>
        </p:nvSpPr>
        <p:spPr>
          <a:xfrm>
            <a:off x="4937760" y="4846320"/>
            <a:ext cx="6675120" cy="1371600"/>
          </a:xfrm>
          <a:prstGeom prst="roundRect">
            <a:avLst>
              <a:gd name="adj" fmla="val 5333"/>
            </a:avLst>
          </a:prstGeom>
          <a:solidFill>
            <a:schemeClr val="bg2"/>
          </a:solidFill>
          <a:ln w="12700">
            <a:solidFill>
              <a:schemeClr val="bg2"/>
            </a:solidFill>
            <a:prstDash val="solid"/>
          </a:ln>
        </p:spPr>
      </p:sp>
      <p:sp>
        <p:nvSpPr>
          <p:cNvPr id="19" name="Consistency note"/>
          <p:cNvSpPr txBox="1"/>
          <p:nvPr/>
        </p:nvSpPr>
        <p:spPr>
          <a:xfrm>
            <a:off x="5120640" y="4937760"/>
            <a:ext cx="6309360" cy="1188720"/>
          </a:xfrm>
          <a:prstGeom prst="rect">
            <a:avLst/>
          </a:prstGeom>
          <a:noFill/>
          <a:ln/>
        </p:spPr>
        <p:txBody>
          <a:bodyPr wrap="square" lIns="0" tIns="0" rIns="0" bIns="0" rtlCol="0" anchor="ctr"/>
          <a:lstStyle/>
          <a:p>
            <a:pPr indent="0" marL="0">
              <a:buNone/>
            </a:pPr>
            <a:r>
              <a:rPr lang="en-US" sz="1400" b="1" dirty="0">
                <a:solidFill>
                  <a:schemeClr val="tx1"/>
                </a:solidFill>
              </a:rPr>
              <a:t>No transaction spans both databases. </a:t>
            </a:r>
            <a:pPr indent="0" marL="0">
              <a:buNone/>
            </a:pPr>
            <a:r>
              <a:rPr lang="en-US" sz="1400" dirty="0">
                <a:solidFill>
                  <a:schemeClr val="tx1"/>
                </a:solidFill>
              </a:rPr>
              <a:t>If MySQL commits but the MongoDB write fails, the MySQL change is kept and the user gets 207 Partial Success with a warning, never a false "all saved".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Security at the database level</a:t>
            </a:r>
            <a:endParaRPr lang="en-US" sz="3200" dirty="0"/>
          </a:p>
        </p:txBody>
      </p:sp>
      <p:sp>
        <p:nvSpPr>
          <p:cNvPr id="3" name="Passwords are never stored circle"/>
          <p:cNvSpPr/>
          <p:nvPr/>
        </p:nvSpPr>
        <p:spPr>
          <a:xfrm>
            <a:off x="548640" y="1325880"/>
            <a:ext cx="548640" cy="548640"/>
          </a:xfrm>
          <a:prstGeom prst="ellipse">
            <a:avLst/>
          </a:prstGeom>
          <a:solidFill>
            <a:schemeClr val="accent1"/>
          </a:solidFill>
          <a:ln w="12700">
            <a:solidFill>
              <a:schemeClr val="accent1"/>
            </a:solidFill>
            <a:prstDash val="solid"/>
          </a:ln>
        </p:spPr>
      </p:sp>
      <p:pic>
        <p:nvPicPr>
          <p:cNvPr id="4" name="Passwords are never stored" descr="preencoded.png">    </p:cNvPr>
          <p:cNvPicPr>
            <a:picLocks noChangeAspect="1"/>
          </p:cNvPicPr>
          <p:nvPr/>
        </p:nvPicPr>
        <p:blipFill>
          <a:blip r:embed="rId1"/>
          <a:stretch>
            <a:fillRect/>
          </a:stretch>
        </p:blipFill>
        <p:spPr>
          <a:xfrm>
            <a:off x="680314" y="1457554"/>
            <a:ext cx="285293" cy="285293"/>
          </a:xfrm>
          <a:prstGeom prst="rect">
            <a:avLst/>
          </a:prstGeom>
        </p:spPr>
      </p:pic>
      <p:sp>
        <p:nvSpPr>
          <p:cNvPr id="5" name="Text 2"/>
          <p:cNvSpPr txBox="1"/>
          <p:nvPr/>
        </p:nvSpPr>
        <p:spPr>
          <a:xfrm>
            <a:off x="1325880" y="1280160"/>
            <a:ext cx="10241280" cy="365760"/>
          </a:xfrm>
          <a:prstGeom prst="rect">
            <a:avLst/>
          </a:prstGeom>
          <a:noFill/>
          <a:ln/>
        </p:spPr>
        <p:txBody>
          <a:bodyPr wrap="square" lIns="0" tIns="0" rIns="0" bIns="0" rtlCol="0" anchor="ctr"/>
          <a:lstStyle/>
          <a:p>
            <a:pPr indent="0" marL="0">
              <a:buNone/>
            </a:pPr>
            <a:r>
              <a:rPr lang="en-US" sz="1700" b="1" dirty="0">
                <a:solidFill>
                  <a:schemeClr val="tx2"/>
                </a:solidFill>
              </a:rPr>
              <a:t>Passwords are never stored</a:t>
            </a:r>
            <a:endParaRPr lang="en-US" sz="1700" dirty="0"/>
          </a:p>
        </p:txBody>
      </p:sp>
      <p:sp>
        <p:nvSpPr>
          <p:cNvPr id="6" name="Text 3"/>
          <p:cNvSpPr txBox="1"/>
          <p:nvPr/>
        </p:nvSpPr>
        <p:spPr>
          <a:xfrm>
            <a:off x="1325880" y="1645920"/>
            <a:ext cx="10241280" cy="365760"/>
          </a:xfrm>
          <a:prstGeom prst="rect">
            <a:avLst/>
          </a:prstGeom>
          <a:noFill/>
          <a:ln/>
        </p:spPr>
        <p:txBody>
          <a:bodyPr wrap="square" lIns="0" tIns="0" rIns="0" bIns="0" rtlCol="0" anchor="ctr"/>
          <a:lstStyle/>
          <a:p>
            <a:pPr indent="0" marL="0">
              <a:buNone/>
            </a:pPr>
            <a:r>
              <a:rPr lang="en-US" sz="1400" dirty="0">
                <a:solidFill>
                  <a:schemeClr val="tx1"/>
                </a:solidFill>
              </a:rPr>
              <a:t>Only bcrypt hashes (cost 12, random 16-byte salt) in password_hash, 60 characters:</a:t>
            </a:r>
            <a:endParaRPr lang="en-US" sz="1400" dirty="0"/>
          </a:p>
        </p:txBody>
      </p:sp>
      <p:sp>
        <p:nvSpPr>
          <p:cNvPr id="7" name="Example hash"/>
          <p:cNvSpPr txBox="1"/>
          <p:nvPr/>
        </p:nvSpPr>
        <p:spPr>
          <a:xfrm>
            <a:off x="1325880" y="1993392"/>
            <a:ext cx="10241280" cy="320040"/>
          </a:xfrm>
          <a:prstGeom prst="rect">
            <a:avLst/>
          </a:prstGeom>
          <a:noFill/>
          <a:ln/>
        </p:spPr>
        <p:txBody>
          <a:bodyPr wrap="square" lIns="0" tIns="0" rIns="0" bIns="0" rtlCol="0" anchor="ctr"/>
          <a:lstStyle/>
          <a:p>
            <a:pPr indent="0" marL="0">
              <a:buNone/>
            </a:pPr>
            <a:r>
              <a:rPr lang="en-US" sz="1300" dirty="0">
                <a:solidFill>
                  <a:schemeClr val="accent5"/>
                </a:solidFill>
                <a:latin typeface="Courier New" pitchFamily="34" charset="0"/>
                <a:ea typeface="Courier New" pitchFamily="34" charset="-122"/>
                <a:cs typeface="Courier New" pitchFamily="34" charset="-120"/>
              </a:rPr>
              <a:t>$2b$12$/onRGqooCQCHezi19iRTLehEg6vdMK62UluoVnYXWpt6CvcizMskO</a:t>
            </a:r>
            <a:endParaRPr lang="en-US" sz="1300" dirty="0"/>
          </a:p>
        </p:txBody>
      </p:sp>
      <p:sp>
        <p:nvSpPr>
          <p:cNvPr id="8" name="No SQL injection circle"/>
          <p:cNvSpPr/>
          <p:nvPr/>
        </p:nvSpPr>
        <p:spPr>
          <a:xfrm>
            <a:off x="548640" y="2532888"/>
            <a:ext cx="548640" cy="548640"/>
          </a:xfrm>
          <a:prstGeom prst="ellipse">
            <a:avLst/>
          </a:prstGeom>
          <a:solidFill>
            <a:schemeClr val="accent1"/>
          </a:solidFill>
          <a:ln w="12700">
            <a:solidFill>
              <a:schemeClr val="accent1"/>
            </a:solidFill>
            <a:prstDash val="solid"/>
          </a:ln>
        </p:spPr>
      </p:sp>
      <p:pic>
        <p:nvPicPr>
          <p:cNvPr id="9" name="No SQL injection" descr="preencoded.png">    </p:cNvPr>
          <p:cNvPicPr>
            <a:picLocks noChangeAspect="1"/>
          </p:cNvPicPr>
          <p:nvPr/>
        </p:nvPicPr>
        <p:blipFill>
          <a:blip r:embed="rId2"/>
          <a:stretch>
            <a:fillRect/>
          </a:stretch>
        </p:blipFill>
        <p:spPr>
          <a:xfrm>
            <a:off x="680314" y="2664562"/>
            <a:ext cx="285293" cy="285293"/>
          </a:xfrm>
          <a:prstGeom prst="rect">
            <a:avLst/>
          </a:prstGeom>
        </p:spPr>
      </p:pic>
      <p:sp>
        <p:nvSpPr>
          <p:cNvPr id="10" name="Text 6"/>
          <p:cNvSpPr txBox="1"/>
          <p:nvPr/>
        </p:nvSpPr>
        <p:spPr>
          <a:xfrm>
            <a:off x="1325880" y="2487168"/>
            <a:ext cx="10241280" cy="365760"/>
          </a:xfrm>
          <a:prstGeom prst="rect">
            <a:avLst/>
          </a:prstGeom>
          <a:noFill/>
          <a:ln/>
        </p:spPr>
        <p:txBody>
          <a:bodyPr wrap="square" lIns="0" tIns="0" rIns="0" bIns="0" rtlCol="0" anchor="ctr"/>
          <a:lstStyle/>
          <a:p>
            <a:pPr indent="0" marL="0">
              <a:buNone/>
            </a:pPr>
            <a:r>
              <a:rPr lang="en-US" sz="1700" b="1" dirty="0">
                <a:solidFill>
                  <a:schemeClr val="tx2"/>
                </a:solidFill>
              </a:rPr>
              <a:t>No SQL injection</a:t>
            </a:r>
            <a:endParaRPr lang="en-US" sz="1700" dirty="0"/>
          </a:p>
        </p:txBody>
      </p:sp>
      <p:sp>
        <p:nvSpPr>
          <p:cNvPr id="11" name="Text 7"/>
          <p:cNvSpPr txBox="1"/>
          <p:nvPr/>
        </p:nvSpPr>
        <p:spPr>
          <a:xfrm>
            <a:off x="1325880" y="2852928"/>
            <a:ext cx="10241280" cy="365760"/>
          </a:xfrm>
          <a:prstGeom prst="rect">
            <a:avLst/>
          </a:prstGeom>
          <a:noFill/>
          <a:ln/>
        </p:spPr>
        <p:txBody>
          <a:bodyPr wrap="square" lIns="0" tIns="0" rIns="0" bIns="0" rtlCol="0" anchor="ctr"/>
          <a:lstStyle/>
          <a:p>
            <a:pPr indent="0" marL="0">
              <a:buNone/>
            </a:pPr>
            <a:r>
              <a:rPr lang="en-US" sz="1400" dirty="0">
                <a:solidFill>
                  <a:schemeClr val="tx1"/>
                </a:solidFill>
              </a:rPr>
              <a:t>Every query is parameterized: values are sent separately from the SQL text.</a:t>
            </a:r>
            <a:endParaRPr lang="en-US" sz="1400" dirty="0"/>
          </a:p>
        </p:txBody>
      </p:sp>
      <p:sp>
        <p:nvSpPr>
          <p:cNvPr id="12" name="Row-level scoping circle"/>
          <p:cNvSpPr/>
          <p:nvPr/>
        </p:nvSpPr>
        <p:spPr>
          <a:xfrm>
            <a:off x="548640" y="3739896"/>
            <a:ext cx="548640" cy="548640"/>
          </a:xfrm>
          <a:prstGeom prst="ellipse">
            <a:avLst/>
          </a:prstGeom>
          <a:solidFill>
            <a:schemeClr val="accent1"/>
          </a:solidFill>
          <a:ln w="12700">
            <a:solidFill>
              <a:schemeClr val="accent1"/>
            </a:solidFill>
            <a:prstDash val="solid"/>
          </a:ln>
        </p:spPr>
      </p:sp>
      <p:pic>
        <p:nvPicPr>
          <p:cNvPr id="13" name="Row-level scoping" descr="preencoded.png">    </p:cNvPr>
          <p:cNvPicPr>
            <a:picLocks noChangeAspect="1"/>
          </p:cNvPicPr>
          <p:nvPr/>
        </p:nvPicPr>
        <p:blipFill>
          <a:blip r:embed="rId3"/>
          <a:stretch>
            <a:fillRect/>
          </a:stretch>
        </p:blipFill>
        <p:spPr>
          <a:xfrm>
            <a:off x="680314" y="3871570"/>
            <a:ext cx="285293" cy="285293"/>
          </a:xfrm>
          <a:prstGeom prst="rect">
            <a:avLst/>
          </a:prstGeom>
        </p:spPr>
      </p:pic>
      <p:sp>
        <p:nvSpPr>
          <p:cNvPr id="14" name="Text 9"/>
          <p:cNvSpPr txBox="1"/>
          <p:nvPr/>
        </p:nvSpPr>
        <p:spPr>
          <a:xfrm>
            <a:off x="1325880" y="3694176"/>
            <a:ext cx="10241280" cy="365760"/>
          </a:xfrm>
          <a:prstGeom prst="rect">
            <a:avLst/>
          </a:prstGeom>
          <a:noFill/>
          <a:ln/>
        </p:spPr>
        <p:txBody>
          <a:bodyPr wrap="square" lIns="0" tIns="0" rIns="0" bIns="0" rtlCol="0" anchor="ctr"/>
          <a:lstStyle/>
          <a:p>
            <a:pPr indent="0" marL="0">
              <a:buNone/>
            </a:pPr>
            <a:r>
              <a:rPr lang="en-US" sz="1700" b="1" dirty="0">
                <a:solidFill>
                  <a:schemeClr val="tx2"/>
                </a:solidFill>
              </a:rPr>
              <a:t>Row-level scoping</a:t>
            </a:r>
            <a:endParaRPr lang="en-US" sz="1700" dirty="0"/>
          </a:p>
        </p:txBody>
      </p:sp>
      <p:sp>
        <p:nvSpPr>
          <p:cNvPr id="15" name="Text 10"/>
          <p:cNvSpPr txBox="1"/>
          <p:nvPr/>
        </p:nvSpPr>
        <p:spPr>
          <a:xfrm>
            <a:off x="1325880" y="4059936"/>
            <a:ext cx="10241280" cy="365760"/>
          </a:xfrm>
          <a:prstGeom prst="rect">
            <a:avLst/>
          </a:prstGeom>
          <a:noFill/>
          <a:ln/>
        </p:spPr>
        <p:txBody>
          <a:bodyPr wrap="square" lIns="0" tIns="0" rIns="0" bIns="0" rtlCol="0" anchor="ctr"/>
          <a:lstStyle/>
          <a:p>
            <a:pPr indent="0" marL="0">
              <a:buNone/>
            </a:pPr>
            <a:r>
              <a:rPr lang="en-US" sz="1400" dirty="0">
                <a:solidFill>
                  <a:schemeClr val="tx1"/>
                </a:solidFill>
              </a:rPr>
              <a:t>Every query is filtered to the user's own flats, e.g. WHERE apartment_id IN (owned flats).</a:t>
            </a:r>
            <a:endParaRPr lang="en-US" sz="1400" dirty="0"/>
          </a:p>
        </p:txBody>
      </p:sp>
      <p:sp>
        <p:nvSpPr>
          <p:cNvPr id="16" name="Revocable sessions circle"/>
          <p:cNvSpPr/>
          <p:nvPr/>
        </p:nvSpPr>
        <p:spPr>
          <a:xfrm>
            <a:off x="548640" y="4946904"/>
            <a:ext cx="548640" cy="548640"/>
          </a:xfrm>
          <a:prstGeom prst="ellipse">
            <a:avLst/>
          </a:prstGeom>
          <a:solidFill>
            <a:schemeClr val="accent1"/>
          </a:solidFill>
          <a:ln w="12700">
            <a:solidFill>
              <a:schemeClr val="accent1"/>
            </a:solidFill>
            <a:prstDash val="solid"/>
          </a:ln>
        </p:spPr>
      </p:sp>
      <p:pic>
        <p:nvPicPr>
          <p:cNvPr id="17" name="Revocable sessions" descr="preencoded.png">    </p:cNvPr>
          <p:cNvPicPr>
            <a:picLocks noChangeAspect="1"/>
          </p:cNvPicPr>
          <p:nvPr/>
        </p:nvPicPr>
        <p:blipFill>
          <a:blip r:embed="rId4"/>
          <a:stretch>
            <a:fillRect/>
          </a:stretch>
        </p:blipFill>
        <p:spPr>
          <a:xfrm>
            <a:off x="680314" y="5078578"/>
            <a:ext cx="285293" cy="285293"/>
          </a:xfrm>
          <a:prstGeom prst="rect">
            <a:avLst/>
          </a:prstGeom>
        </p:spPr>
      </p:pic>
      <p:sp>
        <p:nvSpPr>
          <p:cNvPr id="18" name="Text 12"/>
          <p:cNvSpPr txBox="1"/>
          <p:nvPr/>
        </p:nvSpPr>
        <p:spPr>
          <a:xfrm>
            <a:off x="1325880" y="4901184"/>
            <a:ext cx="10241280" cy="365760"/>
          </a:xfrm>
          <a:prstGeom prst="rect">
            <a:avLst/>
          </a:prstGeom>
          <a:noFill/>
          <a:ln/>
        </p:spPr>
        <p:txBody>
          <a:bodyPr wrap="square" lIns="0" tIns="0" rIns="0" bIns="0" rtlCol="0" anchor="ctr"/>
          <a:lstStyle/>
          <a:p>
            <a:pPr indent="0" marL="0">
              <a:buNone/>
            </a:pPr>
            <a:r>
              <a:rPr lang="en-US" sz="1700" b="1" dirty="0">
                <a:solidFill>
                  <a:schemeClr val="tx2"/>
                </a:solidFill>
              </a:rPr>
              <a:t>Revocable sessions</a:t>
            </a:r>
            <a:endParaRPr lang="en-US" sz="1700" dirty="0"/>
          </a:p>
        </p:txBody>
      </p:sp>
      <p:sp>
        <p:nvSpPr>
          <p:cNvPr id="19" name="Text 13"/>
          <p:cNvSpPr txBox="1"/>
          <p:nvPr/>
        </p:nvSpPr>
        <p:spPr>
          <a:xfrm>
            <a:off x="1325880" y="5266944"/>
            <a:ext cx="10241280" cy="365760"/>
          </a:xfrm>
          <a:prstGeom prst="rect">
            <a:avLst/>
          </a:prstGeom>
          <a:noFill/>
          <a:ln/>
        </p:spPr>
        <p:txBody>
          <a:bodyPr wrap="square" lIns="0" tIns="0" rIns="0" bIns="0" rtlCol="0" anchor="ctr"/>
          <a:lstStyle/>
          <a:p>
            <a:pPr indent="0" marL="0">
              <a:buNone/>
            </a:pPr>
            <a:r>
              <a:rPr lang="en-US" sz="1400" dirty="0">
                <a:solidFill>
                  <a:schemeClr val="tx1"/>
                </a:solidFill>
              </a:rPr>
              <a:t>UserAccount.sessions_valid_after: logout or password reset invalidates older tokens.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The application on top</a:t>
            </a:r>
            <a:endParaRPr lang="en-US" sz="3200" dirty="0"/>
          </a:p>
        </p:txBody>
      </p:sp>
      <p:pic>
        <p:nvPicPr>
          <p:cNvPr id="3" name="Admin dashboard: live counts and the aggregation chart from slide 11" descr="/private/tmp/claude-501/-Users-adyanthmallur-Library-Application-Support-Claude-scratch-workspaces-7b027be3-c58a-4981-acaf-30eed232ad43-30fbb678-4c3d-4324-b51d-a2e463ace7a8-scratch-2026-10-30-ec99ac/4b47a1ff-7a80-4469-85aa-fae8a4ccc4f2/scratchpad/deck/admin_dashboard.jpg">    </p:cNvPr>
          <p:cNvPicPr>
            <a:picLocks noChangeAspect="1"/>
          </p:cNvPicPr>
          <p:nvPr/>
        </p:nvPicPr>
        <p:blipFill>
          <a:blip r:embed="rId1"/>
          <a:stretch>
            <a:fillRect/>
          </a:stretch>
        </p:blipFill>
        <p:spPr>
          <a:xfrm>
            <a:off x="548640" y="1280160"/>
            <a:ext cx="5440680" cy="3482035"/>
          </a:xfrm>
          <a:prstGeom prst="rect">
            <a:avLst/>
          </a:prstGeom>
        </p:spPr>
      </p:pic>
      <p:sp>
        <p:nvSpPr>
          <p:cNvPr id="4" name="Screenshot frame 1"/>
          <p:cNvSpPr/>
          <p:nvPr/>
        </p:nvSpPr>
        <p:spPr>
          <a:xfrm>
            <a:off x="548640" y="1280160"/>
            <a:ext cx="5440680" cy="3482035"/>
          </a:xfrm>
          <a:prstGeom prst="rect">
            <a:avLst/>
          </a:prstGeom>
          <a:ln w="9525">
            <a:solidFill>
              <a:srgbClr val="D5DEE2"/>
            </a:solidFill>
            <a:prstDash val="solid"/>
          </a:ln>
        </p:spPr>
      </p:sp>
      <p:sp>
        <p:nvSpPr>
          <p:cNvPr id="5" name="Text 2"/>
          <p:cNvSpPr txBox="1"/>
          <p:nvPr/>
        </p:nvSpPr>
        <p:spPr>
          <a:xfrm>
            <a:off x="548640" y="4871923"/>
            <a:ext cx="5440680" cy="548640"/>
          </a:xfrm>
          <a:prstGeom prst="rect">
            <a:avLst/>
          </a:prstGeom>
          <a:noFill/>
          <a:ln/>
        </p:spPr>
        <p:txBody>
          <a:bodyPr wrap="square" lIns="0" tIns="0" rIns="0" bIns="0" rtlCol="0" anchor="t"/>
          <a:lstStyle/>
          <a:p>
            <a:pPr indent="0" marL="0">
              <a:buNone/>
            </a:pPr>
            <a:r>
              <a:rPr lang="en-US" sz="1300" dirty="0">
                <a:solidFill>
                  <a:schemeClr val="accent6"/>
                </a:solidFill>
              </a:rPr>
              <a:t>Admin dashboard: live counts and the aggregation chart from slide 11</a:t>
            </a:r>
            <a:endParaRPr lang="en-US" sz="1300" dirty="0"/>
          </a:p>
        </p:txBody>
      </p:sp>
      <p:pic>
        <p:nvPicPr>
          <p:cNvPr id="6" name="An owner of two flats: bills scoped to the flats they own" descr="/private/tmp/claude-501/-Users-adyanthmallur-Library-Application-Support-Claude-scratch-workspaces-7b027be3-c58a-4981-acaf-30eed232ad43-30fbb678-4c3d-4324-b51d-a2e463ace7a8-scratch-2026-10-30-ec99ac/4b47a1ff-7a80-4469-85aa-fae8a4ccc4f2/scratchpad/deck/owner_payments.jpg">    </p:cNvPr>
          <p:cNvPicPr>
            <a:picLocks noChangeAspect="1"/>
          </p:cNvPicPr>
          <p:nvPr/>
        </p:nvPicPr>
        <p:blipFill>
          <a:blip r:embed="rId2"/>
          <a:stretch>
            <a:fillRect/>
          </a:stretch>
        </p:blipFill>
        <p:spPr>
          <a:xfrm>
            <a:off x="6172200" y="1280160"/>
            <a:ext cx="5440680" cy="3482035"/>
          </a:xfrm>
          <a:prstGeom prst="rect">
            <a:avLst/>
          </a:prstGeom>
        </p:spPr>
      </p:pic>
      <p:sp>
        <p:nvSpPr>
          <p:cNvPr id="7" name="Screenshot frame 2"/>
          <p:cNvSpPr/>
          <p:nvPr/>
        </p:nvSpPr>
        <p:spPr>
          <a:xfrm>
            <a:off x="6172200" y="1280160"/>
            <a:ext cx="5440680" cy="3482035"/>
          </a:xfrm>
          <a:prstGeom prst="rect">
            <a:avLst/>
          </a:prstGeom>
          <a:ln w="9525">
            <a:solidFill>
              <a:srgbClr val="D5DEE2"/>
            </a:solidFill>
            <a:prstDash val="solid"/>
          </a:ln>
        </p:spPr>
      </p:sp>
      <p:sp>
        <p:nvSpPr>
          <p:cNvPr id="8" name="Text 4"/>
          <p:cNvSpPr txBox="1"/>
          <p:nvPr/>
        </p:nvSpPr>
        <p:spPr>
          <a:xfrm>
            <a:off x="6172200" y="4871923"/>
            <a:ext cx="5440680" cy="548640"/>
          </a:xfrm>
          <a:prstGeom prst="rect">
            <a:avLst/>
          </a:prstGeom>
          <a:noFill/>
          <a:ln/>
        </p:spPr>
        <p:txBody>
          <a:bodyPr wrap="square" lIns="0" tIns="0" rIns="0" bIns="0" rtlCol="0" anchor="t"/>
          <a:lstStyle/>
          <a:p>
            <a:pPr indent="0" marL="0">
              <a:buNone/>
            </a:pPr>
            <a:r>
              <a:rPr lang="en-US" sz="1300" dirty="0">
                <a:solidFill>
                  <a:schemeClr val="accent6"/>
                </a:solidFill>
              </a:rPr>
              <a:t>An owner of two flats: bills scoped to the flats they own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Testing and results</a:t>
            </a:r>
            <a:endParaRPr lang="en-US" sz="3200" dirty="0"/>
          </a:p>
        </p:txBody>
      </p:sp>
      <p:sp>
        <p:nvSpPr>
          <p:cNvPr id="3" name="Stat integration tests run against live MySQL and MongoDB"/>
          <p:cNvSpPr txBox="1"/>
          <p:nvPr/>
        </p:nvSpPr>
        <p:spPr>
          <a:xfrm>
            <a:off x="548640" y="1371600"/>
            <a:ext cx="338328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18</a:t>
            </a:r>
            <a:endParaRPr lang="en-US" sz="4800" dirty="0"/>
          </a:p>
        </p:txBody>
      </p:sp>
      <p:sp>
        <p:nvSpPr>
          <p:cNvPr id="4" name="Stat label integration tests run against live MySQL and MongoDB"/>
          <p:cNvSpPr txBox="1"/>
          <p:nvPr/>
        </p:nvSpPr>
        <p:spPr>
          <a:xfrm>
            <a:off x="548640" y="2194560"/>
            <a:ext cx="3383280" cy="548640"/>
          </a:xfrm>
          <a:prstGeom prst="rect">
            <a:avLst/>
          </a:prstGeom>
          <a:noFill/>
          <a:ln/>
        </p:spPr>
        <p:txBody>
          <a:bodyPr wrap="square" lIns="0" tIns="0" rIns="0" bIns="0" rtlCol="0" anchor="t"/>
          <a:lstStyle/>
          <a:p>
            <a:pPr indent="0" marL="0">
              <a:buNone/>
            </a:pPr>
            <a:r>
              <a:rPr lang="en-US" sz="1400" dirty="0">
                <a:solidFill>
                  <a:schemeClr val="accent6"/>
                </a:solidFill>
              </a:rPr>
              <a:t>integration tests run against live MySQL and MongoDB</a:t>
            </a:r>
            <a:endParaRPr lang="en-US" sz="1400" dirty="0"/>
          </a:p>
        </p:txBody>
      </p:sp>
      <p:sp>
        <p:nvSpPr>
          <p:cNvPr id="5" name="Stat unit tests for rules and validation"/>
          <p:cNvSpPr txBox="1"/>
          <p:nvPr/>
        </p:nvSpPr>
        <p:spPr>
          <a:xfrm>
            <a:off x="4389120" y="1371600"/>
            <a:ext cx="3383280" cy="822960"/>
          </a:xfrm>
          <a:prstGeom prst="rect">
            <a:avLst/>
          </a:prstGeom>
          <a:noFill/>
          <a:ln/>
        </p:spPr>
        <p:txBody>
          <a:bodyPr wrap="square" lIns="0" tIns="0" rIns="0" bIns="0" rtlCol="0" anchor="ctr"/>
          <a:lstStyle/>
          <a:p>
            <a:pPr indent="0" marL="0">
              <a:buNone/>
            </a:pPr>
            <a:r>
              <a:rPr lang="en-US" sz="4800" b="1" dirty="0">
                <a:solidFill>
                  <a:schemeClr val="accent5"/>
                </a:solidFill>
                <a:latin typeface="Cambria" pitchFamily="34" charset="0"/>
                <a:ea typeface="Cambria" pitchFamily="34" charset="-122"/>
                <a:cs typeface="Cambria" pitchFamily="34" charset="-120"/>
              </a:rPr>
              <a:t>21</a:t>
            </a:r>
            <a:endParaRPr lang="en-US" sz="4800" dirty="0"/>
          </a:p>
        </p:txBody>
      </p:sp>
      <p:sp>
        <p:nvSpPr>
          <p:cNvPr id="6" name="Stat label unit tests for rules and validation"/>
          <p:cNvSpPr txBox="1"/>
          <p:nvPr/>
        </p:nvSpPr>
        <p:spPr>
          <a:xfrm>
            <a:off x="4389120" y="2194560"/>
            <a:ext cx="3383280" cy="548640"/>
          </a:xfrm>
          <a:prstGeom prst="rect">
            <a:avLst/>
          </a:prstGeom>
          <a:noFill/>
          <a:ln/>
        </p:spPr>
        <p:txBody>
          <a:bodyPr wrap="square" lIns="0" tIns="0" rIns="0" bIns="0" rtlCol="0" anchor="t"/>
          <a:lstStyle/>
          <a:p>
            <a:pPr indent="0" marL="0">
              <a:buNone/>
            </a:pPr>
            <a:r>
              <a:rPr lang="en-US" sz="1400" dirty="0">
                <a:solidFill>
                  <a:schemeClr val="accent6"/>
                </a:solidFill>
              </a:rPr>
              <a:t>unit tests for rules and validation</a:t>
            </a:r>
            <a:endParaRPr lang="en-US" sz="1400" dirty="0"/>
          </a:p>
        </p:txBody>
      </p:sp>
      <p:sp>
        <p:nvSpPr>
          <p:cNvPr id="7" name="Stat inconsistent rows found by integrity checks"/>
          <p:cNvSpPr txBox="1"/>
          <p:nvPr/>
        </p:nvSpPr>
        <p:spPr>
          <a:xfrm>
            <a:off x="8229600" y="1371600"/>
            <a:ext cx="3383280" cy="82296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0</a:t>
            </a:r>
            <a:endParaRPr lang="en-US" sz="4800" dirty="0"/>
          </a:p>
        </p:txBody>
      </p:sp>
      <p:sp>
        <p:nvSpPr>
          <p:cNvPr id="8" name="Stat label inconsistent rows found by integrity checks"/>
          <p:cNvSpPr txBox="1"/>
          <p:nvPr/>
        </p:nvSpPr>
        <p:spPr>
          <a:xfrm>
            <a:off x="8229600" y="2194560"/>
            <a:ext cx="3383280" cy="548640"/>
          </a:xfrm>
          <a:prstGeom prst="rect">
            <a:avLst/>
          </a:prstGeom>
          <a:noFill/>
          <a:ln/>
        </p:spPr>
        <p:txBody>
          <a:bodyPr wrap="square" lIns="0" tIns="0" rIns="0" bIns="0" rtlCol="0" anchor="t"/>
          <a:lstStyle/>
          <a:p>
            <a:pPr indent="0" marL="0">
              <a:buNone/>
            </a:pPr>
            <a:r>
              <a:rPr lang="en-US" sz="1400" dirty="0">
                <a:solidFill>
                  <a:schemeClr val="accent6"/>
                </a:solidFill>
              </a:rPr>
              <a:t>inconsistent rows found by integrity checks</a:t>
            </a:r>
            <a:endParaRPr lang="en-US" sz="1400" dirty="0"/>
          </a:p>
        </p:txBody>
      </p:sp>
      <p:sp>
        <p:nvSpPr>
          <p:cNvPr id="9" name="Tested behaviours card"/>
          <p:cNvSpPr/>
          <p:nvPr/>
        </p:nvSpPr>
        <p:spPr>
          <a:xfrm>
            <a:off x="548640" y="3291840"/>
            <a:ext cx="11064240" cy="2240280"/>
          </a:xfrm>
          <a:prstGeom prst="roundRect">
            <a:avLst>
              <a:gd name="adj" fmla="val 3265"/>
            </a:avLst>
          </a:prstGeom>
          <a:solidFill>
            <a:schemeClr val="bg2"/>
          </a:solidFill>
          <a:ln w="12700">
            <a:solidFill>
              <a:schemeClr val="bg2"/>
            </a:solidFill>
            <a:prstDash val="solid"/>
          </a:ln>
        </p:spPr>
      </p:sp>
      <p:sp>
        <p:nvSpPr>
          <p:cNvPr id="10" name="Text 8"/>
          <p:cNvSpPr txBox="1"/>
          <p:nvPr/>
        </p:nvSpPr>
        <p:spPr>
          <a:xfrm>
            <a:off x="777240" y="3429000"/>
            <a:ext cx="10607040" cy="411480"/>
          </a:xfrm>
          <a:prstGeom prst="rect">
            <a:avLst/>
          </a:prstGeom>
          <a:noFill/>
          <a:ln/>
        </p:spPr>
        <p:txBody>
          <a:bodyPr wrap="square" lIns="0" tIns="0" rIns="0" bIns="0" rtlCol="0" anchor="ctr"/>
          <a:lstStyle/>
          <a:p>
            <a:pPr indent="0" marL="0">
              <a:buNone/>
            </a:pPr>
            <a:r>
              <a:rPr lang="en-US" sz="1700" b="1" dirty="0">
                <a:solidFill>
                  <a:schemeClr val="tx2"/>
                </a:solidFill>
              </a:rPr>
              <a:t>What the database tests prove</a:t>
            </a:r>
            <a:endParaRPr lang="en-US" sz="1700" dirty="0"/>
          </a:p>
        </p:txBody>
      </p:sp>
      <p:sp>
        <p:nvSpPr>
          <p:cNvPr id="11" name="Tests column 1"/>
          <p:cNvSpPr txBox="1"/>
          <p:nvPr/>
        </p:nvSpPr>
        <p:spPr>
          <a:xfrm>
            <a:off x="777240" y="3931920"/>
            <a:ext cx="530352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Duplicate monthly bill rejected by the unique key (409)</a:t>
            </a:r>
            <a:endParaRPr lang="en-US" sz="1400" dirty="0"/>
          </a:p>
          <a:p>
            <a:pPr marL="342900" indent="-342900">
              <a:spcAft>
                <a:spcPts val="600"/>
              </a:spcAft>
              <a:buSzPct val="100000"/>
              <a:buChar char="•"/>
            </a:pPr>
            <a:r>
              <a:rPr lang="en-US" sz="1400" dirty="0">
                <a:solidFill>
                  <a:schemeClr val="tx1"/>
                </a:solidFill>
              </a:rPr>
              <a:t>Two simultaneous slot allocations: exactly one commits</a:t>
            </a:r>
            <a:endParaRPr lang="en-US" sz="1400" dirty="0"/>
          </a:p>
          <a:p>
            <a:pPr marL="342900" indent="-342900">
              <a:spcAft>
                <a:spcPts val="600"/>
              </a:spcAft>
              <a:buSzPct val="100000"/>
              <a:buChar char="•"/>
            </a:pPr>
            <a:r>
              <a:rPr lang="en-US" sz="1400" dirty="0">
                <a:solidFill>
                  <a:schemeClr val="tx1"/>
                </a:solidFill>
              </a:rPr>
              <a:t>Bike cannot take a car slot; a taken slot cannot be reused</a:t>
            </a:r>
            <a:endParaRPr lang="en-US" sz="1400" dirty="0"/>
          </a:p>
        </p:txBody>
      </p:sp>
      <p:sp>
        <p:nvSpPr>
          <p:cNvPr id="12" name="Tests column 2"/>
          <p:cNvSpPr txBox="1"/>
          <p:nvPr/>
        </p:nvSpPr>
        <p:spPr>
          <a:xfrm>
            <a:off x="6172200" y="3931920"/>
            <a:ext cx="530352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Deactivating a resident frees their slots in one transaction</a:t>
            </a:r>
            <a:endParaRPr lang="en-US" sz="1400" dirty="0"/>
          </a:p>
          <a:p>
            <a:pPr marL="342900" indent="-342900">
              <a:spcAft>
                <a:spcPts val="600"/>
              </a:spcAft>
              <a:buSzPct val="100000"/>
              <a:buChar char="•"/>
            </a:pPr>
            <a:r>
              <a:rPr lang="en-US" sz="1400" dirty="0">
                <a:solidFill>
                  <a:schemeClr val="tx1"/>
                </a:solidFill>
              </a:rPr>
              <a:t>One login with two flats sees bills only for flats it owns</a:t>
            </a:r>
            <a:endParaRPr lang="en-US" sz="1400" dirty="0"/>
          </a:p>
          <a:p>
            <a:pPr marL="342900" indent="-342900">
              <a:spcAft>
                <a:spcPts val="600"/>
              </a:spcAft>
              <a:buSzPct val="100000"/>
              <a:buChar char="•"/>
            </a:pPr>
            <a:r>
              <a:rPr lang="en-US" sz="1400" dirty="0">
                <a:solidFill>
                  <a:schemeClr val="tx1"/>
                </a:solidFill>
              </a:rPr>
              <a:t>All 5 migrations + seed apply cleanly on an empty database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Limitations and future work</a:t>
            </a:r>
            <a:endParaRPr lang="en-US" sz="3200" dirty="0"/>
          </a:p>
        </p:txBody>
      </p:sp>
      <p:sp>
        <p:nvSpPr>
          <p:cNvPr id="3" name="Reach BCNF for people card"/>
          <p:cNvSpPr/>
          <p:nvPr/>
        </p:nvSpPr>
        <p:spPr>
          <a:xfrm>
            <a:off x="548640" y="1325880"/>
            <a:ext cx="5440680" cy="2103120"/>
          </a:xfrm>
          <a:prstGeom prst="roundRect">
            <a:avLst>
              <a:gd name="adj" fmla="val 3478"/>
            </a:avLst>
          </a:prstGeom>
          <a:solidFill>
            <a:schemeClr val="bg2"/>
          </a:solidFill>
          <a:ln w="12700">
            <a:solidFill>
              <a:schemeClr val="bg2"/>
            </a:solidFill>
            <a:prstDash val="solid"/>
          </a:ln>
        </p:spPr>
      </p:sp>
      <p:sp>
        <p:nvSpPr>
          <p:cNvPr id="4" name="Reach BCNF for people circle"/>
          <p:cNvSpPr/>
          <p:nvPr/>
        </p:nvSpPr>
        <p:spPr>
          <a:xfrm>
            <a:off x="777240" y="1554480"/>
            <a:ext cx="548640" cy="548640"/>
          </a:xfrm>
          <a:prstGeom prst="ellipse">
            <a:avLst/>
          </a:prstGeom>
          <a:solidFill>
            <a:schemeClr val="accent5"/>
          </a:solidFill>
          <a:ln w="12700">
            <a:solidFill>
              <a:schemeClr val="accent5"/>
            </a:solidFill>
            <a:prstDash val="solid"/>
          </a:ln>
        </p:spPr>
      </p:sp>
      <p:pic>
        <p:nvPicPr>
          <p:cNvPr id="5" name="Reach BCNF for people" descr="preencoded.png">    </p:cNvPr>
          <p:cNvPicPr>
            <a:picLocks noChangeAspect="1"/>
          </p:cNvPicPr>
          <p:nvPr/>
        </p:nvPicPr>
        <p:blipFill>
          <a:blip r:embed="rId1"/>
          <a:stretch>
            <a:fillRect/>
          </a:stretch>
        </p:blipFill>
        <p:spPr>
          <a:xfrm>
            <a:off x="908914" y="1686154"/>
            <a:ext cx="285293" cy="285293"/>
          </a:xfrm>
          <a:prstGeom prst="rect">
            <a:avLst/>
          </a:prstGeom>
        </p:spPr>
      </p:pic>
      <p:sp>
        <p:nvSpPr>
          <p:cNvPr id="6" name="Text 3"/>
          <p:cNvSpPr txBox="1"/>
          <p:nvPr/>
        </p:nvSpPr>
        <p:spPr>
          <a:xfrm>
            <a:off x="1508760" y="155448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Reach BCNF for people</a:t>
            </a:r>
            <a:endParaRPr lang="en-US" sz="1800" dirty="0"/>
          </a:p>
        </p:txBody>
      </p:sp>
      <p:sp>
        <p:nvSpPr>
          <p:cNvPr id="7" name="Text 4"/>
          <p:cNvSpPr txBox="1"/>
          <p:nvPr/>
        </p:nvSpPr>
        <p:spPr>
          <a:xfrm>
            <a:off x="822960" y="2240280"/>
            <a:ext cx="4937760" cy="1051560"/>
          </a:xfrm>
          <a:prstGeom prst="rect">
            <a:avLst/>
          </a:prstGeom>
          <a:noFill/>
          <a:ln/>
        </p:spPr>
        <p:txBody>
          <a:bodyPr wrap="square" lIns="0" tIns="0" rIns="0" bIns="0" rtlCol="0" anchor="t"/>
          <a:lstStyle/>
          <a:p>
            <a:pPr indent="0" marL="0">
              <a:buNone/>
            </a:pPr>
            <a:r>
              <a:rPr lang="en-US" sz="1400" dirty="0">
                <a:solidFill>
                  <a:schemeClr val="tx1"/>
                </a:solidFill>
              </a:rPr>
              <a:t>Split Resident into Person + Residency so contact details are stored once</a:t>
            </a:r>
            <a:endParaRPr lang="en-US" sz="1400" dirty="0"/>
          </a:p>
        </p:txBody>
      </p:sp>
      <p:sp>
        <p:nvSpPr>
          <p:cNvPr id="8" name="Push rules into the database card"/>
          <p:cNvSpPr/>
          <p:nvPr/>
        </p:nvSpPr>
        <p:spPr>
          <a:xfrm>
            <a:off x="6172200" y="1325880"/>
            <a:ext cx="5440680" cy="2103120"/>
          </a:xfrm>
          <a:prstGeom prst="roundRect">
            <a:avLst>
              <a:gd name="adj" fmla="val 3478"/>
            </a:avLst>
          </a:prstGeom>
          <a:solidFill>
            <a:schemeClr val="bg2"/>
          </a:solidFill>
          <a:ln w="12700">
            <a:solidFill>
              <a:schemeClr val="bg2"/>
            </a:solidFill>
            <a:prstDash val="solid"/>
          </a:ln>
        </p:spPr>
      </p:sp>
      <p:sp>
        <p:nvSpPr>
          <p:cNvPr id="9" name="Push rules into the database circle"/>
          <p:cNvSpPr/>
          <p:nvPr/>
        </p:nvSpPr>
        <p:spPr>
          <a:xfrm>
            <a:off x="6400800" y="1554480"/>
            <a:ext cx="548640" cy="548640"/>
          </a:xfrm>
          <a:prstGeom prst="ellipse">
            <a:avLst/>
          </a:prstGeom>
          <a:solidFill>
            <a:schemeClr val="accent5"/>
          </a:solidFill>
          <a:ln w="12700">
            <a:solidFill>
              <a:schemeClr val="accent5"/>
            </a:solidFill>
            <a:prstDash val="solid"/>
          </a:ln>
        </p:spPr>
      </p:sp>
      <p:pic>
        <p:nvPicPr>
          <p:cNvPr id="10" name="Push rules into the database" descr="preencoded.png">    </p:cNvPr>
          <p:cNvPicPr>
            <a:picLocks noChangeAspect="1"/>
          </p:cNvPicPr>
          <p:nvPr/>
        </p:nvPicPr>
        <p:blipFill>
          <a:blip r:embed="rId2"/>
          <a:stretch>
            <a:fillRect/>
          </a:stretch>
        </p:blipFill>
        <p:spPr>
          <a:xfrm>
            <a:off x="6532474" y="1686154"/>
            <a:ext cx="285293" cy="285293"/>
          </a:xfrm>
          <a:prstGeom prst="rect">
            <a:avLst/>
          </a:prstGeom>
        </p:spPr>
      </p:pic>
      <p:sp>
        <p:nvSpPr>
          <p:cNvPr id="11" name="Text 7"/>
          <p:cNvSpPr txBox="1"/>
          <p:nvPr/>
        </p:nvSpPr>
        <p:spPr>
          <a:xfrm>
            <a:off x="7132320" y="155448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Push rules into the database</a:t>
            </a:r>
            <a:endParaRPr lang="en-US" sz="1800" dirty="0"/>
          </a:p>
        </p:txBody>
      </p:sp>
      <p:sp>
        <p:nvSpPr>
          <p:cNvPr id="12" name="Text 8"/>
          <p:cNvSpPr txBox="1"/>
          <p:nvPr/>
        </p:nvSpPr>
        <p:spPr>
          <a:xfrm>
            <a:off x="6446520" y="2240280"/>
            <a:ext cx="4937760" cy="1051560"/>
          </a:xfrm>
          <a:prstGeom prst="rect">
            <a:avLst/>
          </a:prstGeom>
          <a:noFill/>
          <a:ln/>
        </p:spPr>
        <p:txBody>
          <a:bodyPr wrap="square" lIns="0" tIns="0" rIns="0" bIns="0" rtlCol="0" anchor="t"/>
          <a:lstStyle/>
          <a:p>
            <a:pPr indent="0" marL="0">
              <a:buNone/>
            </a:pPr>
            <a:r>
              <a:rPr lang="en-US" sz="1400" dirty="0">
                <a:solidFill>
                  <a:schemeClr val="tx1"/>
                </a:solidFill>
              </a:rPr>
              <a:t>CHECK (status = 'PENDING' OR payment_date IS NOT NULL); triggers for complaint status transitions</a:t>
            </a:r>
            <a:endParaRPr lang="en-US" sz="1400" dirty="0"/>
          </a:p>
        </p:txBody>
      </p:sp>
      <p:sp>
        <p:nvSpPr>
          <p:cNvPr id="13" name="Views for reports card"/>
          <p:cNvSpPr/>
          <p:nvPr/>
        </p:nvSpPr>
        <p:spPr>
          <a:xfrm>
            <a:off x="548640" y="3703320"/>
            <a:ext cx="5440680" cy="2103120"/>
          </a:xfrm>
          <a:prstGeom prst="roundRect">
            <a:avLst>
              <a:gd name="adj" fmla="val 3478"/>
            </a:avLst>
          </a:prstGeom>
          <a:solidFill>
            <a:schemeClr val="bg2"/>
          </a:solidFill>
          <a:ln w="12700">
            <a:solidFill>
              <a:schemeClr val="bg2"/>
            </a:solidFill>
            <a:prstDash val="solid"/>
          </a:ln>
        </p:spPr>
      </p:sp>
      <p:sp>
        <p:nvSpPr>
          <p:cNvPr id="14" name="Views for reports circle"/>
          <p:cNvSpPr/>
          <p:nvPr/>
        </p:nvSpPr>
        <p:spPr>
          <a:xfrm>
            <a:off x="777240" y="3931920"/>
            <a:ext cx="548640" cy="548640"/>
          </a:xfrm>
          <a:prstGeom prst="ellipse">
            <a:avLst/>
          </a:prstGeom>
          <a:solidFill>
            <a:schemeClr val="accent5"/>
          </a:solidFill>
          <a:ln w="12700">
            <a:solidFill>
              <a:schemeClr val="accent5"/>
            </a:solidFill>
            <a:prstDash val="solid"/>
          </a:ln>
        </p:spPr>
      </p:sp>
      <p:pic>
        <p:nvPicPr>
          <p:cNvPr id="15" name="Views for reports" descr="preencoded.png">    </p:cNvPr>
          <p:cNvPicPr>
            <a:picLocks noChangeAspect="1"/>
          </p:cNvPicPr>
          <p:nvPr/>
        </p:nvPicPr>
        <p:blipFill>
          <a:blip r:embed="rId3"/>
          <a:stretch>
            <a:fillRect/>
          </a:stretch>
        </p:blipFill>
        <p:spPr>
          <a:xfrm>
            <a:off x="908914" y="4063594"/>
            <a:ext cx="285293" cy="285293"/>
          </a:xfrm>
          <a:prstGeom prst="rect">
            <a:avLst/>
          </a:prstGeom>
        </p:spPr>
      </p:pic>
      <p:sp>
        <p:nvSpPr>
          <p:cNvPr id="16" name="Text 11"/>
          <p:cNvSpPr txBox="1"/>
          <p:nvPr/>
        </p:nvSpPr>
        <p:spPr>
          <a:xfrm>
            <a:off x="1508760" y="393192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Views for reports</a:t>
            </a:r>
            <a:endParaRPr lang="en-US" sz="1800" dirty="0"/>
          </a:p>
        </p:txBody>
      </p:sp>
      <p:sp>
        <p:nvSpPr>
          <p:cNvPr id="17" name="Text 12"/>
          <p:cNvSpPr txBox="1"/>
          <p:nvPr/>
        </p:nvSpPr>
        <p:spPr>
          <a:xfrm>
            <a:off x="822960" y="4617720"/>
            <a:ext cx="4937760" cy="1051560"/>
          </a:xfrm>
          <a:prstGeom prst="rect">
            <a:avLst/>
          </a:prstGeom>
          <a:noFill/>
          <a:ln/>
        </p:spPr>
        <p:txBody>
          <a:bodyPr wrap="square" lIns="0" tIns="0" rIns="0" bIns="0" rtlCol="0" anchor="t"/>
          <a:lstStyle/>
          <a:p>
            <a:pPr indent="0" marL="0">
              <a:buNone/>
            </a:pPr>
            <a:r>
              <a:rPr lang="en-US" sz="1400" dirty="0">
                <a:solidFill>
                  <a:schemeClr val="tx1"/>
                </a:solidFill>
              </a:rPr>
              <a:t>CREATE VIEW for dues and staff workload, so reports share one definition</a:t>
            </a:r>
            <a:endParaRPr lang="en-US" sz="1400" dirty="0"/>
          </a:p>
        </p:txBody>
      </p:sp>
      <p:sp>
        <p:nvSpPr>
          <p:cNvPr id="18" name="Cross-database consistency card"/>
          <p:cNvSpPr/>
          <p:nvPr/>
        </p:nvSpPr>
        <p:spPr>
          <a:xfrm>
            <a:off x="6172200" y="3703320"/>
            <a:ext cx="5440680" cy="2103120"/>
          </a:xfrm>
          <a:prstGeom prst="roundRect">
            <a:avLst>
              <a:gd name="adj" fmla="val 3478"/>
            </a:avLst>
          </a:prstGeom>
          <a:solidFill>
            <a:schemeClr val="bg2"/>
          </a:solidFill>
          <a:ln w="12700">
            <a:solidFill>
              <a:schemeClr val="bg2"/>
            </a:solidFill>
            <a:prstDash val="solid"/>
          </a:ln>
        </p:spPr>
      </p:sp>
      <p:sp>
        <p:nvSpPr>
          <p:cNvPr id="19" name="Cross-database consistency circle"/>
          <p:cNvSpPr/>
          <p:nvPr/>
        </p:nvSpPr>
        <p:spPr>
          <a:xfrm>
            <a:off x="6400800" y="3931920"/>
            <a:ext cx="548640" cy="548640"/>
          </a:xfrm>
          <a:prstGeom prst="ellipse">
            <a:avLst/>
          </a:prstGeom>
          <a:solidFill>
            <a:schemeClr val="accent5"/>
          </a:solidFill>
          <a:ln w="12700">
            <a:solidFill>
              <a:schemeClr val="accent5"/>
            </a:solidFill>
            <a:prstDash val="solid"/>
          </a:ln>
        </p:spPr>
      </p:sp>
      <p:pic>
        <p:nvPicPr>
          <p:cNvPr id="20" name="Cross-database consistency" descr="preencoded.png">    </p:cNvPr>
          <p:cNvPicPr>
            <a:picLocks noChangeAspect="1"/>
          </p:cNvPicPr>
          <p:nvPr/>
        </p:nvPicPr>
        <p:blipFill>
          <a:blip r:embed="rId4"/>
          <a:stretch>
            <a:fillRect/>
          </a:stretch>
        </p:blipFill>
        <p:spPr>
          <a:xfrm>
            <a:off x="6532474" y="4063594"/>
            <a:ext cx="285293" cy="285293"/>
          </a:xfrm>
          <a:prstGeom prst="rect">
            <a:avLst/>
          </a:prstGeom>
        </p:spPr>
      </p:pic>
      <p:sp>
        <p:nvSpPr>
          <p:cNvPr id="21" name="Text 15"/>
          <p:cNvSpPr txBox="1"/>
          <p:nvPr/>
        </p:nvSpPr>
        <p:spPr>
          <a:xfrm>
            <a:off x="7132320" y="3931920"/>
            <a:ext cx="4297680" cy="548640"/>
          </a:xfrm>
          <a:prstGeom prst="rect">
            <a:avLst/>
          </a:prstGeom>
          <a:noFill/>
          <a:ln/>
        </p:spPr>
        <p:txBody>
          <a:bodyPr wrap="square" lIns="0" tIns="0" rIns="0" bIns="0" rtlCol="0" anchor="ctr"/>
          <a:lstStyle/>
          <a:p>
            <a:pPr indent="0" marL="0">
              <a:buNone/>
            </a:pPr>
            <a:r>
              <a:rPr lang="en-US" sz="1800" b="1" dirty="0">
                <a:solidFill>
                  <a:schemeClr val="tx2"/>
                </a:solidFill>
              </a:rPr>
              <a:t>Cross-database consistency</a:t>
            </a:r>
            <a:endParaRPr lang="en-US" sz="1800" dirty="0"/>
          </a:p>
        </p:txBody>
      </p:sp>
      <p:sp>
        <p:nvSpPr>
          <p:cNvPr id="22" name="Text 16"/>
          <p:cNvSpPr txBox="1"/>
          <p:nvPr/>
        </p:nvSpPr>
        <p:spPr>
          <a:xfrm>
            <a:off x="6446520" y="4617720"/>
            <a:ext cx="4937760" cy="1051560"/>
          </a:xfrm>
          <a:prstGeom prst="rect">
            <a:avLst/>
          </a:prstGeom>
          <a:noFill/>
          <a:ln/>
        </p:spPr>
        <p:txBody>
          <a:bodyPr wrap="square" lIns="0" tIns="0" rIns="0" bIns="0" rtlCol="0" anchor="t"/>
          <a:lstStyle/>
          <a:p>
            <a:pPr indent="0" marL="0">
              <a:buNone/>
            </a:pPr>
            <a:r>
              <a:rPr lang="en-US" sz="1400" dirty="0">
                <a:solidFill>
                  <a:schemeClr val="tx1"/>
                </a:solidFill>
              </a:rPr>
              <a:t>Outbox table in MySQL to guarantee the MongoDB write eventually happens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200" b="1" dirty="0">
                <a:solidFill>
                  <a:schemeClr val="bg1"/>
                </a:solidFill>
              </a:rPr>
              <a:t>Thank you</a:t>
            </a:r>
            <a:endParaRPr lang="en-US" sz="4200" dirty="0"/>
          </a:p>
        </p:txBody>
      </p:sp>
      <p:sp>
        <p:nvSpPr>
          <p:cNvPr id="3" name="Text 0"/>
          <p:cNvSpPr/>
          <p:nvPr>
            <p:ph idx="101" type="body" hasCustomPrompt="1"/>
          </p:nvPr>
        </p:nvSpPr>
        <p:spPr>
          <a:xfrm>
            <a:off x="731520" y="3657600"/>
            <a:ext cx="10698480" cy="1280160"/>
          </a:xfrm>
          <a:prstGeom prst="rect">
            <a:avLst/>
          </a:prstGeom>
          <a:noFill/>
          <a:ln/>
        </p:spPr>
        <p:txBody>
          <a:bodyPr wrap="square" lIns="0" tIns="0" rIns="0" bIns="0" rtlCol="0" anchor="t"/>
          <a:lstStyle/>
          <a:p>
            <a:pPr algn="l" indent="0" marL="0">
              <a:buNone/>
            </a:pPr>
            <a:r>
              <a:rPr lang="en-US" sz="2000" dirty="0">
                <a:solidFill>
                  <a:schemeClr val="bg2"/>
                </a:solidFill>
              </a:rPr>
              <a:t>Questions?</a:t>
            </a:r>
            <a:endParaRPr lang="en-US" sz="2000" dirty="0"/>
          </a:p>
          <a:p>
            <a:pPr algn="l" indent="0" marL="0">
              <a:buNone/>
            </a:pPr>
            <a:r>
              <a:rPr lang="en-US" sz="1600" dirty="0">
                <a:solidFill>
                  <a:schemeClr val="accent2"/>
                </a:solidFill>
              </a:rPr>
              <a:t>github.com/AhidwishJavali/Apartment-society-management</a:t>
            </a:r>
            <a:endParaRPr lang="en-US" sz="2000" dirty="0"/>
          </a:p>
        </p:txBody>
      </p:sp>
      <p:pic>
        <p:nvPicPr>
          <p:cNvPr id="4" name="Database icon" descr="preencoded.png">    </p:cNvPr>
          <p:cNvPicPr>
            <a:picLocks noChangeAspect="1"/>
          </p:cNvPicPr>
          <p:nvPr/>
        </p:nvPicPr>
        <p:blipFill>
          <a:blip r:embed="rId1"/>
          <a:stretch>
            <a:fillRect/>
          </a:stretch>
        </p:blipFill>
        <p:spPr>
          <a:xfrm>
            <a:off x="731520" y="914400"/>
            <a:ext cx="685800" cy="685800"/>
          </a:xfrm>
          <a:prstGeom prst="rect">
            <a:avLst/>
          </a:prstGeom>
        </p:spPr>
      </p:pic>
    </p:spTree>
  </p:cSld>
  <p:clrMapOvr>
    <a:masterClrMapping/>
  </p:clrMapOvr>
</p:sld>
</file>

<file path=ppt/theme/theme1.xml><?xml version="1.0" encoding="utf-8"?>
<a:theme xmlns:a="http://schemas.openxmlformats.org/drawingml/2006/main" name="Society DB">
  <a:themeElements>
    <a:clrScheme name="Society DB">
      <a:dk1>
        <a:srgbClr val="1B2A33"/>
      </a:dk1>
      <a:lt1>
        <a:srgbClr val="FFFFFF"/>
      </a:lt1>
      <a:dk2>
        <a:srgbClr val="0B3C49"/>
      </a:dk2>
      <a:lt2>
        <a:srgbClr val="EEF4F5"/>
      </a:lt2>
      <a:accent1>
        <a:srgbClr val="0B7A75"/>
      </a:accent1>
      <a:accent2>
        <a:srgbClr val="E8963C"/>
      </a:accent2>
      <a:accent3>
        <a:srgbClr val="C2453E"/>
      </a:accent3>
      <a:accent4>
        <a:srgbClr val="4E8F5F"/>
      </a:accent4>
      <a:accent5>
        <a:srgbClr val="3D5A80"/>
      </a:accent5>
      <a:accent6>
        <a:srgbClr val="6B7C85"/>
      </a:accent6>
      <a:hlink>
        <a:srgbClr val="0B7A75"/>
      </a:hlink>
      <a:folHlink>
        <a:srgbClr val="3D5A80"/>
      </a:folHlink>
    </a:clrScheme>
    <a:fontScheme name="Society D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Apartment Society Management System - DBMS Project</dc:title>
  <dc:subject>PptxGenJS Presentation</dc:subject>
  <dc:creator>Apartment Society Management project team</dc:creator>
  <cp:lastModifiedBy>Apartment Society Management project team</cp:lastModifiedBy>
  <cp:revision>1</cp:revision>
  <dcterms:created xsi:type="dcterms:W3CDTF">2026-10-31T07:16:29Z</dcterms:created>
  <dcterms:modified xsi:type="dcterms:W3CDTF">2026-10-31T07:16:29Z</dcterms:modified>
</cp:coreProperties>
</file>